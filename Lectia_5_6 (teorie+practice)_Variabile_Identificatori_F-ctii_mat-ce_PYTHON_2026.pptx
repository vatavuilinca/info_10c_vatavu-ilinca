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89" r:id="rId16"/>
    <p:sldId id="290" r:id="rId17"/>
    <p:sldId id="271" r:id="rId18"/>
    <p:sldId id="272" r:id="rId19"/>
    <p:sldId id="273" r:id="rId20"/>
    <p:sldId id="274" r:id="rId21"/>
    <p:sldId id="275" r:id="rId22"/>
    <p:sldId id="276" r:id="rId23"/>
    <p:sldId id="281" r:id="rId24"/>
    <p:sldId id="284" r:id="rId25"/>
    <p:sldId id="278" r:id="rId26"/>
    <p:sldId id="279" r:id="rId27"/>
    <p:sldId id="280" r:id="rId28"/>
    <p:sldId id="283" r:id="rId29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Durată sugerată: o lecție de teorie și două lecții practice. Întrebare de pornire: Ce se schimbă în memorie când executăm raza = 4.5?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 confirmați imediat răspunsul. Solicitați elevilor să deseneze două etichete și două valori. Răspuns: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Folosiți analogia etichetei numai cu precizarea că eticheta poate fi mutată către alt obiect.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Verificare rapidă: întrebați ce înseamnă a == 4 și de ce a = 4 nu este o întrebare.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Această explicație păstrează ideea din diapozitivul inițial, dar evită formularea că două variabile „conțin” aceeași valoare.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Cereți elevilor să urmărească programul într-un tabel cu coloanele: instrucțiune, a,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Răspuns: Valoarea este 10. Evidențiați diferența dintre identificator și literalul de tip str.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Corectare esențială a diapozitivului inițial. Menționați că obiectele fără referințe pot fi eliberate automat de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Activitate: elevii ridică un cartonaș verde/roșu pentru fiecare nume propus.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Păstrează conținutul inițial despre nume adecvate și îl transformă într-o comparație vizuală.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Corectare: bytes este o secvență de octeți, nu doar „binary”. În contexte numerice, bool se comportă ca 1/0, dar print(True) afișează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Demonstrație recomandată în consolă. Solicitați elevilor să compare 10 + 2 cu "10" + "2".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Corectare ortografică: „asignare augmentată”, nu „augumentată”.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În prezentarea inițială, funcțiile integrate și cele din modulul math apar în același tabel. Aici sunt separate pentru claritate.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În prezentarea inițială, funcțiile integrate și cele din modulul math apar în același tabel. Aici sunt separate pentru claritate.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86538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În prezentarea inițială, funcțiile integrate și cele din modulul math apar în același tabel. Aici sunt separate pentru claritate.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21427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Aceasta corectează informația eronată din prezentarea inițială. Pentru calcule financiare se poate discuta ulterior despre Decimal.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Corectare: domeniul pentru sqrt include 0. Funcțiile math trebuie apelate cu prefixul math. după import math.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Conectați cu fizica: componentele unui vector și modulul vectorului.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Discutați de ce este necesară conversia float și de ce parantezele apar în formula perimetrului.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Exemplul conectează informatica și fizica. Evidențiați rolul conversiei din radiani în 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Acest exemplu valorifică abs() și round() într-un context autentic de fizică.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Demonstrați intenționat câte un exemplu pentru fiecare eroare și citiți mesajul împreună cu elevii.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Sarcina 1: x = 13, y = 16. Sarcina 2: cost_total = 99.00 lei. Se recomandă 8 minute pentru fiecare sarcină și 4 minute pentru verificare în perechi.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Sarcina 3: exemple de corectare sunt numar_elevi, nota_medie, clasa_elevilor și varsta_medie. Sarcina 4: Ec = 45.00 J. Evaluați corectitudinea, claritatea identificatorilor și explicația elevului.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Diferențiere: elevii aleg nivelul sau primesc sarcina potrivită. Mini-proiectul poate fi realizat în perechi.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Soluțiile sunt orientative. Acceptați expresii echivalente și alte mesaje de validare corecte.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Criterii: corectitudinea formulelor 40%, cod funcțional 30%, nume clare 20%, testare 10%. Pentru provocare: unghiurile trebuie să aibă suma aproximativ 90°.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D4192151-B9E3-470E-B1D7-806FCFDB4FDF}"/>
              </a:ext>
            </a:extLst>
          </p:cNvPr>
          <p:cNvSpPr>
            <a:spLocks noGrp="1"/>
          </p:cNvSpPr>
          <p:nvPr/>
        </p:nvSpPr>
        <p:spPr>
          <a:xfrm>
            <a:off x="8096250" y="-1524000"/>
            <a:ext cx="5334000" cy="5334000"/>
          </a:xfrm>
          <a:prstGeom prst="ellipse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7056FAC-34E2-46EC-B44F-A2DD0DD514B5}"/>
              </a:ext>
            </a:extLst>
          </p:cNvPr>
          <p:cNvSpPr>
            <a:spLocks noGrp="1"/>
          </p:cNvSpPr>
          <p:nvPr/>
        </p:nvSpPr>
        <p:spPr>
          <a:xfrm>
            <a:off x="9715500" y="3905250"/>
            <a:ext cx="3143250" cy="314325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</p:sp>
      <p:sp>
        <p:nvSpPr>
          <p:cNvPr id="5" name="Dreptunghi 4">
            <a:extLst>
              <a:ext uri="{FF2B5EF4-FFF2-40B4-BE49-F238E27FC236}">
                <a16:creationId xmlns:a16="http://schemas.microsoft.com/office/drawing/2014/main" id="{45E06002-AE3B-4397-9F70-393512C1F6D0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7239000" cy="285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Variabile, valori,</a:t>
            </a:r>
          </a:p>
          <a:p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identificatori și</a:t>
            </a:r>
          </a:p>
          <a:p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funcții matematice</a:t>
            </a:r>
          </a:p>
        </p:txBody>
      </p:sp>
      <p:sp>
        <p:nvSpPr>
          <p:cNvPr id="6" name="Dreptunghi 5">
            <a:extLst>
              <a:ext uri="{FF2B5EF4-FFF2-40B4-BE49-F238E27FC236}">
                <a16:creationId xmlns:a16="http://schemas.microsoft.com/office/drawing/2014/main" id="{FEC62CF6-D02B-4424-850E-3D03A547110F}"/>
              </a:ext>
            </a:extLst>
          </p:cNvPr>
          <p:cNvSpPr>
            <a:spLocks noGrp="1"/>
          </p:cNvSpPr>
          <p:nvPr/>
        </p:nvSpPr>
        <p:spPr>
          <a:xfrm>
            <a:off x="647700" y="4457700"/>
            <a:ext cx="7239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C7D2E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7D2E4"/>
                </a:solidFill>
                <a:latin typeface="Arial"/>
                <a:ea typeface="Arial"/>
                <a:cs typeface="Arial"/>
              </a:rPr>
              <a:t>Teorie clarificată • exemple rezolvate • două lecții practice • temă</a:t>
            </a:r>
          </a:p>
        </p:txBody>
      </p:sp>
      <p:pic>
        <p:nvPicPr>
          <p:cNvPr id="18" name="Imagin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0" y="1169988"/>
            <a:ext cx="2381250" cy="2365375"/>
          </a:xfrm>
          <a:prstGeom prst="rect">
            <a:avLst/>
          </a:prstGeom>
        </p:spPr>
      </p:pic>
      <p:sp>
        <p:nvSpPr>
          <p:cNvPr id="8" name="Dreptunghi: colțuri rotunjite 7">
            <a:extLst>
              <a:ext uri="{FF2B5EF4-FFF2-40B4-BE49-F238E27FC236}">
                <a16:creationId xmlns:a16="http://schemas.microsoft.com/office/drawing/2014/main" id="{B9775E33-430A-4E5B-851C-BB7AD7FF3970}"/>
              </a:ext>
            </a:extLst>
          </p:cNvPr>
          <p:cNvSpPr>
            <a:spLocks noGrp="1"/>
          </p:cNvSpPr>
          <p:nvPr/>
        </p:nvSpPr>
        <p:spPr>
          <a:xfrm>
            <a:off x="6400800" y="5219700"/>
            <a:ext cx="4953000" cy="1200150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9" name="Dreptunghi: colțuri rotunjite 8">
            <a:extLst>
              <a:ext uri="{FF2B5EF4-FFF2-40B4-BE49-F238E27FC236}">
                <a16:creationId xmlns:a16="http://schemas.microsoft.com/office/drawing/2014/main" id="{DC5980CA-4E52-4B7A-9741-6CC9A84F23F8}"/>
              </a:ext>
            </a:extLst>
          </p:cNvPr>
          <p:cNvSpPr>
            <a:spLocks noGrp="1"/>
          </p:cNvSpPr>
          <p:nvPr/>
        </p:nvSpPr>
        <p:spPr>
          <a:xfrm>
            <a:off x="6553200" y="53530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</a:ln>
        </p:spPr>
      </p:sp>
      <p:sp>
        <p:nvSpPr>
          <p:cNvPr id="10" name="Dreptunghi 9">
            <a:extLst>
              <a:ext uri="{FF2B5EF4-FFF2-40B4-BE49-F238E27FC236}">
                <a16:creationId xmlns:a16="http://schemas.microsoft.com/office/drawing/2014/main" id="{218E7971-E2CB-4EEC-84A8-C85BF0957E49}"/>
              </a:ext>
            </a:extLst>
          </p:cNvPr>
          <p:cNvSpPr>
            <a:spLocks noGrp="1"/>
          </p:cNvSpPr>
          <p:nvPr/>
        </p:nvSpPr>
        <p:spPr>
          <a:xfrm>
            <a:off x="6562725" y="535305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EXEMPLU</a:t>
            </a:r>
          </a:p>
        </p:txBody>
      </p:sp>
      <p:sp>
        <p:nvSpPr>
          <p:cNvPr id="11" name="Dreptunghi 10">
            <a:extLst>
              <a:ext uri="{FF2B5EF4-FFF2-40B4-BE49-F238E27FC236}">
                <a16:creationId xmlns:a16="http://schemas.microsoft.com/office/drawing/2014/main" id="{F17F4114-C8C5-4E7B-9A52-0A09D9E210A0}"/>
              </a:ext>
            </a:extLst>
          </p:cNvPr>
          <p:cNvSpPr>
            <a:spLocks noGrp="1"/>
          </p:cNvSpPr>
          <p:nvPr/>
        </p:nvSpPr>
        <p:spPr>
          <a:xfrm>
            <a:off x="6572250" y="5676900"/>
            <a:ext cx="46101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8055" lnSpcReduction="10000"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raza = 4.5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aria = math.pi * raza ** 2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print(round(aria, 2))  # 63.62</a:t>
            </a:r>
          </a:p>
        </p:txBody>
      </p:sp>
    </p:spTree>
    <p:extLst>
      <p:ext uri="{BB962C8B-B14F-4D97-AF65-F5344CB8AC3E}">
        <p14:creationId xmlns:p14="http://schemas.microsoft.com/office/powerpoint/2010/main" val="1122135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reptunghi: colțuri rotunjite 24">
            <a:extLst>
              <a:ext uri="{FF2B5EF4-FFF2-40B4-BE49-F238E27FC236}">
                <a16:creationId xmlns:a16="http://schemas.microsoft.com/office/drawing/2014/main" id="{94302E7E-5AD8-4DEA-A1E4-9A751AEE55B0}"/>
              </a:ext>
            </a:extLst>
          </p:cNvPr>
          <p:cNvSpPr>
            <a:spLocks noGrp="1"/>
          </p:cNvSpPr>
          <p:nvPr/>
        </p:nvSpPr>
        <p:spPr>
          <a:xfrm>
            <a:off x="6229350" y="3981450"/>
            <a:ext cx="4762500" cy="76200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24" name="Dreptunghi 23">
            <a:extLst>
              <a:ext uri="{FF2B5EF4-FFF2-40B4-BE49-F238E27FC236}">
                <a16:creationId xmlns:a16="http://schemas.microsoft.com/office/drawing/2014/main" id="{EA4411AA-B56B-4F41-8E30-47EF1E41C1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AF348354-9D01-450D-B976-C0A5AAA15397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LECȚIA 5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F5F89981-C035-4FFF-AE2E-13770022BBD2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ro-RO"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Ce </a:t>
            </a: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afișează</a:t>
            </a:r>
            <a:r>
              <a:rPr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programul</a:t>
            </a:r>
            <a:r>
              <a:rPr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pic>
        <p:nvPicPr>
          <p:cNvPr id="27" name="Imagin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843A042B-6DAD-4801-8AC0-454AF80825CA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5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7568E62B-9D2B-41CA-B936-B2198361CEFF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4762500" cy="2876550"/>
          </a:xfrm>
          <a:prstGeom prst="roundRect">
            <a:avLst>
              <a:gd name="adj" fmla="val 5960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7" name="Dreptunghi: colțuri rotunjite 6">
            <a:extLst>
              <a:ext uri="{FF2B5EF4-FFF2-40B4-BE49-F238E27FC236}">
                <a16:creationId xmlns:a16="http://schemas.microsoft.com/office/drawing/2014/main" id="{AABB0DA2-D50A-457B-9C58-0C0ADB9A8E93}"/>
              </a:ext>
            </a:extLst>
          </p:cNvPr>
          <p:cNvSpPr>
            <a:spLocks noGrp="1"/>
          </p:cNvSpPr>
          <p:nvPr/>
        </p:nvSpPr>
        <p:spPr>
          <a:xfrm>
            <a:off x="819150" y="17335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7AD89660-50C7-43A7-AA4E-BFE059E957B9}"/>
              </a:ext>
            </a:extLst>
          </p:cNvPr>
          <p:cNvSpPr>
            <a:spLocks noGrp="1"/>
          </p:cNvSpPr>
          <p:nvPr/>
        </p:nvSpPr>
        <p:spPr>
          <a:xfrm>
            <a:off x="828675" y="173355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578434DD-8367-4537-8AF7-53741F4016FE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4419600" cy="2305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a = 10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b = a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a = 20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print(a, b)</a:t>
            </a:r>
          </a:p>
        </p:txBody>
      </p:sp>
      <p:sp>
        <p:nvSpPr>
          <p:cNvPr id="10" name="Dreptunghi 9">
            <a:extLst>
              <a:ext uri="{FF2B5EF4-FFF2-40B4-BE49-F238E27FC236}">
                <a16:creationId xmlns:a16="http://schemas.microsoft.com/office/drawing/2014/main" id="{1D542C3B-D496-43DB-91F0-9C47680DFE61}"/>
              </a:ext>
            </a:extLst>
          </p:cNvPr>
          <p:cNvSpPr>
            <a:spLocks noGrp="1"/>
          </p:cNvSpPr>
          <p:nvPr/>
        </p:nvSpPr>
        <p:spPr>
          <a:xfrm>
            <a:off x="6191250" y="1543050"/>
            <a:ext cx="4762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8765"/>
          </a:bodyPr>
          <a:lstStyle/>
          <a:p>
            <a:pPr algn="l">
              <a:defRPr sz="20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Alege răspunsul și justifică</a:t>
            </a:r>
          </a:p>
        </p:txBody>
      </p:sp>
      <p:sp>
        <p:nvSpPr>
          <p:cNvPr id="11" name="Dreptunghi: colțuri rotunjite 10">
            <a:extLst>
              <a:ext uri="{FF2B5EF4-FFF2-40B4-BE49-F238E27FC236}">
                <a16:creationId xmlns:a16="http://schemas.microsoft.com/office/drawing/2014/main" id="{A3DCA4A0-5778-4380-8F52-DD5B33656E19}"/>
              </a:ext>
            </a:extLst>
          </p:cNvPr>
          <p:cNvSpPr>
            <a:spLocks noGrp="1"/>
          </p:cNvSpPr>
          <p:nvPr/>
        </p:nvSpPr>
        <p:spPr>
          <a:xfrm>
            <a:off x="6191250" y="2133600"/>
            <a:ext cx="4762500" cy="76200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7BDDCE42-1907-499E-9244-33610E1CFCC4}"/>
              </a:ext>
            </a:extLst>
          </p:cNvPr>
          <p:cNvSpPr>
            <a:spLocks noGrp="1"/>
          </p:cNvSpPr>
          <p:nvPr/>
        </p:nvSpPr>
        <p:spPr>
          <a:xfrm>
            <a:off x="6191250" y="2133600"/>
            <a:ext cx="76200" cy="762000"/>
          </a:xfrm>
          <a:prstGeom prst="rect">
            <a:avLst/>
          </a:prstGeom>
          <a:solidFill>
            <a:srgbClr val="58657A"/>
          </a:solidFill>
          <a:ln w="0">
            <a:noFill/>
          </a:ln>
        </p:spPr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D9B17FC4-F3EC-4D9C-9F5E-F5D65AEEBB15}"/>
              </a:ext>
            </a:extLst>
          </p:cNvPr>
          <p:cNvSpPr>
            <a:spLocks noGrp="1"/>
          </p:cNvSpPr>
          <p:nvPr/>
        </p:nvSpPr>
        <p:spPr>
          <a:xfrm>
            <a:off x="6400800" y="2266950"/>
            <a:ext cx="4419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Dreptunghi 13">
            <a:extLst>
              <a:ext uri="{FF2B5EF4-FFF2-40B4-BE49-F238E27FC236}">
                <a16:creationId xmlns:a16="http://schemas.microsoft.com/office/drawing/2014/main" id="{207F9211-69A0-4B83-9FDD-356034FC5D4A}"/>
              </a:ext>
            </a:extLst>
          </p:cNvPr>
          <p:cNvSpPr>
            <a:spLocks noGrp="1"/>
          </p:cNvSpPr>
          <p:nvPr/>
        </p:nvSpPr>
        <p:spPr>
          <a:xfrm>
            <a:off x="6600825" y="2543175"/>
            <a:ext cx="4419600" cy="952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10  10</a:t>
            </a:r>
            <a:r>
              <a:rPr lang="ro-RO" sz="15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,</a:t>
            </a:r>
            <a:endParaRPr sz="1500" b="0" dirty="0">
              <a:solidFill>
                <a:srgbClr val="5865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Dreptunghi: colțuri rotunjite 14">
            <a:extLst>
              <a:ext uri="{FF2B5EF4-FFF2-40B4-BE49-F238E27FC236}">
                <a16:creationId xmlns:a16="http://schemas.microsoft.com/office/drawing/2014/main" id="{7E79EB35-7161-4A92-9A45-F493508A5428}"/>
              </a:ext>
            </a:extLst>
          </p:cNvPr>
          <p:cNvSpPr>
            <a:spLocks noGrp="1"/>
          </p:cNvSpPr>
          <p:nvPr/>
        </p:nvSpPr>
        <p:spPr>
          <a:xfrm>
            <a:off x="6191250" y="3067050"/>
            <a:ext cx="4762500" cy="76200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6" name="Dreptunghi 15">
            <a:extLst>
              <a:ext uri="{FF2B5EF4-FFF2-40B4-BE49-F238E27FC236}">
                <a16:creationId xmlns:a16="http://schemas.microsoft.com/office/drawing/2014/main" id="{A4F7DB46-04B0-464B-BEA3-EA8C27DF8501}"/>
              </a:ext>
            </a:extLst>
          </p:cNvPr>
          <p:cNvSpPr>
            <a:spLocks noGrp="1"/>
          </p:cNvSpPr>
          <p:nvPr/>
        </p:nvSpPr>
        <p:spPr>
          <a:xfrm>
            <a:off x="6191250" y="3067050"/>
            <a:ext cx="76200" cy="762000"/>
          </a:xfrm>
          <a:prstGeom prst="rect">
            <a:avLst/>
          </a:prstGeom>
          <a:solidFill>
            <a:srgbClr val="58657A"/>
          </a:solidFill>
          <a:ln w="0">
            <a:noFill/>
          </a:ln>
        </p:spPr>
      </p:sp>
      <p:sp>
        <p:nvSpPr>
          <p:cNvPr id="17" name="Dreptunghi 16">
            <a:extLst>
              <a:ext uri="{FF2B5EF4-FFF2-40B4-BE49-F238E27FC236}">
                <a16:creationId xmlns:a16="http://schemas.microsoft.com/office/drawing/2014/main" id="{97664142-6503-4E9F-A03A-215555138BFB}"/>
              </a:ext>
            </a:extLst>
          </p:cNvPr>
          <p:cNvSpPr>
            <a:spLocks noGrp="1"/>
          </p:cNvSpPr>
          <p:nvPr/>
        </p:nvSpPr>
        <p:spPr>
          <a:xfrm>
            <a:off x="6400800" y="3200400"/>
            <a:ext cx="4419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" name="Dreptunghi 17">
            <a:extLst>
              <a:ext uri="{FF2B5EF4-FFF2-40B4-BE49-F238E27FC236}">
                <a16:creationId xmlns:a16="http://schemas.microsoft.com/office/drawing/2014/main" id="{095ED317-F816-414F-885C-37A54C8359EE}"/>
              </a:ext>
            </a:extLst>
          </p:cNvPr>
          <p:cNvSpPr>
            <a:spLocks noGrp="1"/>
          </p:cNvSpPr>
          <p:nvPr/>
        </p:nvSpPr>
        <p:spPr>
          <a:xfrm>
            <a:off x="6686550" y="3485029"/>
            <a:ext cx="4419600" cy="952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20  20</a:t>
            </a:r>
          </a:p>
        </p:txBody>
      </p:sp>
      <p:sp>
        <p:nvSpPr>
          <p:cNvPr id="20" name="Dreptunghi 19">
            <a:extLst>
              <a:ext uri="{FF2B5EF4-FFF2-40B4-BE49-F238E27FC236}">
                <a16:creationId xmlns:a16="http://schemas.microsoft.com/office/drawing/2014/main" id="{1BB7B263-C46D-4A64-AEBA-E16DB923B634}"/>
              </a:ext>
            </a:extLst>
          </p:cNvPr>
          <p:cNvSpPr>
            <a:spLocks noGrp="1"/>
          </p:cNvSpPr>
          <p:nvPr/>
        </p:nvSpPr>
        <p:spPr>
          <a:xfrm>
            <a:off x="6191250" y="4000500"/>
            <a:ext cx="76200" cy="762000"/>
          </a:xfrm>
          <a:prstGeom prst="rect">
            <a:avLst/>
          </a:prstGeom>
          <a:solidFill>
            <a:srgbClr val="2DBE7F"/>
          </a:solidFill>
          <a:ln w="0">
            <a:noFill/>
          </a:ln>
        </p:spPr>
      </p:sp>
      <p:sp>
        <p:nvSpPr>
          <p:cNvPr id="21" name="Dreptunghi 20">
            <a:extLst>
              <a:ext uri="{FF2B5EF4-FFF2-40B4-BE49-F238E27FC236}">
                <a16:creationId xmlns:a16="http://schemas.microsoft.com/office/drawing/2014/main" id="{870225A5-13A7-491A-A083-13DB9CB01059}"/>
              </a:ext>
            </a:extLst>
          </p:cNvPr>
          <p:cNvSpPr>
            <a:spLocks noGrp="1"/>
          </p:cNvSpPr>
          <p:nvPr/>
        </p:nvSpPr>
        <p:spPr>
          <a:xfrm>
            <a:off x="6400800" y="4133850"/>
            <a:ext cx="4419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2" name="Dreptunghi 21">
            <a:extLst>
              <a:ext uri="{FF2B5EF4-FFF2-40B4-BE49-F238E27FC236}">
                <a16:creationId xmlns:a16="http://schemas.microsoft.com/office/drawing/2014/main" id="{89E8BAC4-C8B4-440D-9983-08F621F89CD2}"/>
              </a:ext>
            </a:extLst>
          </p:cNvPr>
          <p:cNvSpPr>
            <a:spLocks noGrp="1"/>
          </p:cNvSpPr>
          <p:nvPr/>
        </p:nvSpPr>
        <p:spPr>
          <a:xfrm>
            <a:off x="6600825" y="4448175"/>
            <a:ext cx="4419600" cy="952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20  10</a:t>
            </a:r>
          </a:p>
        </p:txBody>
      </p:sp>
      <p:sp>
        <p:nvSpPr>
          <p:cNvPr id="23" name="Dreptunghi 22">
            <a:extLst>
              <a:ext uri="{FF2B5EF4-FFF2-40B4-BE49-F238E27FC236}">
                <a16:creationId xmlns:a16="http://schemas.microsoft.com/office/drawing/2014/main" id="{BAC33EE7-37D2-4122-8330-5A9C5911355C}"/>
              </a:ext>
            </a:extLst>
          </p:cNvPr>
          <p:cNvSpPr>
            <a:spLocks noGrp="1"/>
          </p:cNvSpPr>
          <p:nvPr/>
        </p:nvSpPr>
        <p:spPr>
          <a:xfrm>
            <a:off x="666750" y="5162550"/>
            <a:ext cx="10287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ctr">
              <a:defRPr sz="17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Argumentul corect: asignarea ulterioară schimbă legătura numelui a, nu valoarea referită de b.</a:t>
            </a:r>
          </a:p>
        </p:txBody>
      </p:sp>
    </p:spTree>
    <p:extLst>
      <p:ext uri="{BB962C8B-B14F-4D97-AF65-F5344CB8AC3E}">
        <p14:creationId xmlns:p14="http://schemas.microsoft.com/office/powerpoint/2010/main" val="1004668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reptunghi 16">
            <a:extLst>
              <a:ext uri="{FF2B5EF4-FFF2-40B4-BE49-F238E27FC236}">
                <a16:creationId xmlns:a16="http://schemas.microsoft.com/office/drawing/2014/main" id="{19E0D83F-F3ED-4C10-A6CC-871E92BEA3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A8C1AC1E-540E-4821-B268-53EDFC767D05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LECȚIA 5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9B252350-60A3-4E7B-9932-68980E96432B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Variabila: un nume care referă un obiect</a:t>
            </a:r>
          </a:p>
        </p:txBody>
      </p:sp>
      <p:pic>
        <p:nvPicPr>
          <p:cNvPr id="20" name="Imagin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E827A61B-BC96-4A1E-BC2C-466E985F1882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5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Dreptunghi 5">
            <a:extLst>
              <a:ext uri="{FF2B5EF4-FFF2-40B4-BE49-F238E27FC236}">
                <a16:creationId xmlns:a16="http://schemas.microsoft.com/office/drawing/2014/main" id="{0B6CEF9B-0858-4FD3-B640-5E7C4FB1DEFA}"/>
              </a:ext>
            </a:extLst>
          </p:cNvPr>
          <p:cNvSpPr>
            <a:spLocks noGrp="1"/>
          </p:cNvSpPr>
          <p:nvPr/>
        </p:nvSpPr>
        <p:spPr>
          <a:xfrm>
            <a:off x="628650" y="1371600"/>
            <a:ext cx="10858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ctr">
              <a:defRPr sz="2025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În Python, asignarea leagă un identificator de un obiect din memorie.</a:t>
            </a:r>
          </a:p>
        </p:txBody>
      </p:sp>
      <p:sp>
        <p:nvSpPr>
          <p:cNvPr id="7" name="Dreptunghi: colțuri rotunjite 6">
            <a:extLst>
              <a:ext uri="{FF2B5EF4-FFF2-40B4-BE49-F238E27FC236}">
                <a16:creationId xmlns:a16="http://schemas.microsoft.com/office/drawing/2014/main" id="{982AFA7E-C065-4956-B1B8-D747E4B60D89}"/>
              </a:ext>
            </a:extLst>
          </p:cNvPr>
          <p:cNvSpPr>
            <a:spLocks noGrp="1"/>
          </p:cNvSpPr>
          <p:nvPr/>
        </p:nvSpPr>
        <p:spPr>
          <a:xfrm>
            <a:off x="1143000" y="2476500"/>
            <a:ext cx="2476500" cy="1104900"/>
          </a:xfrm>
          <a:prstGeom prst="roundRect">
            <a:avLst>
              <a:gd name="adj" fmla="val 15517"/>
            </a:avLst>
          </a:prstGeom>
          <a:solidFill>
            <a:srgbClr val="EAF3FC"/>
          </a:solidFill>
          <a:ln w="9525">
            <a:solidFill>
              <a:srgbClr val="3776AB"/>
            </a:solidFill>
            <a:prstDash val="solid"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DB15A208-127B-4FD8-87BE-AFBAA26B3436}"/>
              </a:ext>
            </a:extLst>
          </p:cNvPr>
          <p:cNvSpPr>
            <a:spLocks noGrp="1"/>
          </p:cNvSpPr>
          <p:nvPr/>
        </p:nvSpPr>
        <p:spPr>
          <a:xfrm>
            <a:off x="1143000" y="2581275"/>
            <a:ext cx="2476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210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nume</a:t>
            </a:r>
          </a:p>
          <a:p>
            <a:pPr algn="ctr">
              <a:defRPr sz="210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Săgeată: dreapta 8">
            <a:extLst>
              <a:ext uri="{FF2B5EF4-FFF2-40B4-BE49-F238E27FC236}">
                <a16:creationId xmlns:a16="http://schemas.microsoft.com/office/drawing/2014/main" id="{1E550920-4BFD-4F6E-BFF3-C586B46C0C98}"/>
              </a:ext>
            </a:extLst>
          </p:cNvPr>
          <p:cNvSpPr>
            <a:spLocks noGrp="1"/>
          </p:cNvSpPr>
          <p:nvPr/>
        </p:nvSpPr>
        <p:spPr>
          <a:xfrm>
            <a:off x="4095750" y="2724150"/>
            <a:ext cx="1809750" cy="609600"/>
          </a:xfrm>
          <a:prstGeom prst="rightArrow">
            <a:avLst/>
          </a:prstGeom>
          <a:solidFill>
            <a:srgbClr val="FFD43B"/>
          </a:solidFill>
          <a:ln w="0">
            <a:noFill/>
          </a:ln>
        </p:spPr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773AA57E-D95F-4A65-B7C8-FAE2F5D05577}"/>
              </a:ext>
            </a:extLst>
          </p:cNvPr>
          <p:cNvSpPr>
            <a:spLocks noGrp="1"/>
          </p:cNvSpPr>
          <p:nvPr/>
        </p:nvSpPr>
        <p:spPr>
          <a:xfrm>
            <a:off x="6572250" y="2190750"/>
            <a:ext cx="3714750" cy="1714500"/>
          </a:xfrm>
          <a:prstGeom prst="roundRect">
            <a:avLst>
              <a:gd name="adj" fmla="val 12222"/>
            </a:avLst>
          </a:prstGeom>
          <a:solidFill>
            <a:srgbClr val="151C32"/>
          </a:solidFill>
          <a:ln w="0">
            <a:noFill/>
          </a:ln>
        </p:spPr>
      </p:sp>
      <p:sp>
        <p:nvSpPr>
          <p:cNvPr id="11" name="Dreptunghi 10">
            <a:extLst>
              <a:ext uri="{FF2B5EF4-FFF2-40B4-BE49-F238E27FC236}">
                <a16:creationId xmlns:a16="http://schemas.microsoft.com/office/drawing/2014/main" id="{CD7FA159-9694-484E-8FA5-0B18BA2F984F}"/>
              </a:ext>
            </a:extLst>
          </p:cNvPr>
          <p:cNvSpPr>
            <a:spLocks noGrp="1"/>
          </p:cNvSpPr>
          <p:nvPr/>
        </p:nvSpPr>
        <p:spPr>
          <a:xfrm>
            <a:off x="6572250" y="2381250"/>
            <a:ext cx="371475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obiect int</a:t>
            </a:r>
          </a:p>
          <a:p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2" name="Dreptunghi: colțuri rotunjite 11">
            <a:extLst>
              <a:ext uri="{FF2B5EF4-FFF2-40B4-BE49-F238E27FC236}">
                <a16:creationId xmlns:a16="http://schemas.microsoft.com/office/drawing/2014/main" id="{DB130189-2854-48B7-AF34-33054D8D34B8}"/>
              </a:ext>
            </a:extLst>
          </p:cNvPr>
          <p:cNvSpPr>
            <a:spLocks noGrp="1"/>
          </p:cNvSpPr>
          <p:nvPr/>
        </p:nvSpPr>
        <p:spPr>
          <a:xfrm>
            <a:off x="3714750" y="4400550"/>
            <a:ext cx="4762500" cy="1000125"/>
          </a:xfrm>
          <a:prstGeom prst="roundRect">
            <a:avLst>
              <a:gd name="adj" fmla="val 17143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13" name="Dreptunghi: colțuri rotunjite 12">
            <a:extLst>
              <a:ext uri="{FF2B5EF4-FFF2-40B4-BE49-F238E27FC236}">
                <a16:creationId xmlns:a16="http://schemas.microsoft.com/office/drawing/2014/main" id="{4A20DA72-B9F3-483F-A270-B7FED622C6CA}"/>
              </a:ext>
            </a:extLst>
          </p:cNvPr>
          <p:cNvSpPr>
            <a:spLocks noGrp="1"/>
          </p:cNvSpPr>
          <p:nvPr/>
        </p:nvSpPr>
        <p:spPr>
          <a:xfrm>
            <a:off x="3867150" y="453390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</a:ln>
        </p:spPr>
      </p:sp>
      <p:sp>
        <p:nvSpPr>
          <p:cNvPr id="14" name="Dreptunghi 13">
            <a:extLst>
              <a:ext uri="{FF2B5EF4-FFF2-40B4-BE49-F238E27FC236}">
                <a16:creationId xmlns:a16="http://schemas.microsoft.com/office/drawing/2014/main" id="{DB241EAD-5CA6-41D8-BC6A-468858216A34}"/>
              </a:ext>
            </a:extLst>
          </p:cNvPr>
          <p:cNvSpPr>
            <a:spLocks noGrp="1"/>
          </p:cNvSpPr>
          <p:nvPr/>
        </p:nvSpPr>
        <p:spPr>
          <a:xfrm>
            <a:off x="3876675" y="453390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5" name="Dreptunghi 14">
            <a:extLst>
              <a:ext uri="{FF2B5EF4-FFF2-40B4-BE49-F238E27FC236}">
                <a16:creationId xmlns:a16="http://schemas.microsoft.com/office/drawing/2014/main" id="{86CAF141-13DD-42B8-864C-E1653E033849}"/>
              </a:ext>
            </a:extLst>
          </p:cNvPr>
          <p:cNvSpPr>
            <a:spLocks noGrp="1"/>
          </p:cNvSpPr>
          <p:nvPr/>
        </p:nvSpPr>
        <p:spPr>
          <a:xfrm>
            <a:off x="3886200" y="4857750"/>
            <a:ext cx="44196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a = 10</a:t>
            </a:r>
          </a:p>
        </p:txBody>
      </p:sp>
      <p:sp>
        <p:nvSpPr>
          <p:cNvPr id="16" name="Dreptunghi 15">
            <a:extLst>
              <a:ext uri="{FF2B5EF4-FFF2-40B4-BE49-F238E27FC236}">
                <a16:creationId xmlns:a16="http://schemas.microsoft.com/office/drawing/2014/main" id="{90F1D1F4-D041-459F-B6A0-DDDC3322315D}"/>
              </a:ext>
            </a:extLst>
          </p:cNvPr>
          <p:cNvSpPr>
            <a:spLocks noGrp="1"/>
          </p:cNvSpPr>
          <p:nvPr/>
        </p:nvSpPr>
        <p:spPr>
          <a:xfrm>
            <a:off x="1190625" y="5810250"/>
            <a:ext cx="9810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ctr">
              <a:defRPr sz="1500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Corectare față de formularea inițială: numele și valoarea nu formează un singur „recipient”.</a:t>
            </a:r>
          </a:p>
        </p:txBody>
      </p:sp>
    </p:spTree>
    <p:extLst>
      <p:ext uri="{BB962C8B-B14F-4D97-AF65-F5344CB8AC3E}">
        <p14:creationId xmlns:p14="http://schemas.microsoft.com/office/powerpoint/2010/main" val="1375859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reptunghi 22">
            <a:extLst>
              <a:ext uri="{FF2B5EF4-FFF2-40B4-BE49-F238E27FC236}">
                <a16:creationId xmlns:a16="http://schemas.microsoft.com/office/drawing/2014/main" id="{9B141CD8-1E69-43F1-97D1-401FD02D8B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85B3FB9F-A033-4754-AB96-D055BC64EFDB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LECȚIA 5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E7F3DB34-AC83-41EC-9834-2517567C702F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Asignarea se execută de la dreapta la stânga</a:t>
            </a:r>
          </a:p>
        </p:txBody>
      </p:sp>
      <p:pic>
        <p:nvPicPr>
          <p:cNvPr id="26" name="Imagin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3A1066F4-A1B2-4811-8FE3-44F7B033F431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5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AB73BAFE-62FB-4789-8AB2-E4ADB192D7DE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4381500" cy="142875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7" name="Dreptunghi: colțuri rotunjite 6">
            <a:extLst>
              <a:ext uri="{FF2B5EF4-FFF2-40B4-BE49-F238E27FC236}">
                <a16:creationId xmlns:a16="http://schemas.microsoft.com/office/drawing/2014/main" id="{08AF919E-BCDA-4BA6-BAEF-B6B58EDD791D}"/>
              </a:ext>
            </a:extLst>
          </p:cNvPr>
          <p:cNvSpPr>
            <a:spLocks noGrp="1"/>
          </p:cNvSpPr>
          <p:nvPr/>
        </p:nvSpPr>
        <p:spPr>
          <a:xfrm>
            <a:off x="819150" y="18478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86726F0C-C816-43B8-A4AD-884EE6771205}"/>
              </a:ext>
            </a:extLst>
          </p:cNvPr>
          <p:cNvSpPr>
            <a:spLocks noGrp="1"/>
          </p:cNvSpPr>
          <p:nvPr/>
        </p:nvSpPr>
        <p:spPr>
          <a:xfrm>
            <a:off x="828675" y="184785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E0F28093-AAF5-4F7E-8700-CE3B2AE7326B}"/>
              </a:ext>
            </a:extLst>
          </p:cNvPr>
          <p:cNvSpPr>
            <a:spLocks noGrp="1"/>
          </p:cNvSpPr>
          <p:nvPr/>
        </p:nvSpPr>
        <p:spPr>
          <a:xfrm>
            <a:off x="838200" y="2171700"/>
            <a:ext cx="40386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a = 2 + 2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AE3F5D23-4D1B-4CF3-B960-40E781B18C3D}"/>
              </a:ext>
            </a:extLst>
          </p:cNvPr>
          <p:cNvSpPr>
            <a:spLocks noGrp="1"/>
          </p:cNvSpPr>
          <p:nvPr/>
        </p:nvSpPr>
        <p:spPr>
          <a:xfrm>
            <a:off x="5810250" y="1428750"/>
            <a:ext cx="5334000" cy="11049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1" name="Dreptunghi 10">
            <a:extLst>
              <a:ext uri="{FF2B5EF4-FFF2-40B4-BE49-F238E27FC236}">
                <a16:creationId xmlns:a16="http://schemas.microsoft.com/office/drawing/2014/main" id="{6A86C7DF-0F69-4177-A8C9-D5416B8569EE}"/>
              </a:ext>
            </a:extLst>
          </p:cNvPr>
          <p:cNvSpPr>
            <a:spLocks noGrp="1"/>
          </p:cNvSpPr>
          <p:nvPr/>
        </p:nvSpPr>
        <p:spPr>
          <a:xfrm>
            <a:off x="5810250" y="1428750"/>
            <a:ext cx="76200" cy="11049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75782BCD-FB65-42B6-BA31-B52FA16EDC56}"/>
              </a:ext>
            </a:extLst>
          </p:cNvPr>
          <p:cNvSpPr>
            <a:spLocks noGrp="1"/>
          </p:cNvSpPr>
          <p:nvPr/>
        </p:nvSpPr>
        <p:spPr>
          <a:xfrm>
            <a:off x="6019800" y="1562100"/>
            <a:ext cx="4991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1. Evaluare</a:t>
            </a:r>
          </a:p>
        </p:txBody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0E3F4B20-B741-4067-BA1A-4E202BE18DF6}"/>
              </a:ext>
            </a:extLst>
          </p:cNvPr>
          <p:cNvSpPr>
            <a:spLocks noGrp="1"/>
          </p:cNvSpPr>
          <p:nvPr/>
        </p:nvSpPr>
        <p:spPr>
          <a:xfrm>
            <a:off x="6019800" y="1981200"/>
            <a:ext cx="49911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Python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calculează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expresia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2 + 2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și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obține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lang="ro-RO"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rezultatul =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4.</a:t>
            </a:r>
          </a:p>
        </p:txBody>
      </p:sp>
      <p:sp>
        <p:nvSpPr>
          <p:cNvPr id="14" name="Dreptunghi: colțuri rotunjite 13">
            <a:extLst>
              <a:ext uri="{FF2B5EF4-FFF2-40B4-BE49-F238E27FC236}">
                <a16:creationId xmlns:a16="http://schemas.microsoft.com/office/drawing/2014/main" id="{95EE090E-91B0-4BE4-8DFF-37585C217CC6}"/>
              </a:ext>
            </a:extLst>
          </p:cNvPr>
          <p:cNvSpPr>
            <a:spLocks noGrp="1"/>
          </p:cNvSpPr>
          <p:nvPr/>
        </p:nvSpPr>
        <p:spPr>
          <a:xfrm>
            <a:off x="5810250" y="2724150"/>
            <a:ext cx="5334000" cy="11049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5" name="Dreptunghi 14">
            <a:extLst>
              <a:ext uri="{FF2B5EF4-FFF2-40B4-BE49-F238E27FC236}">
                <a16:creationId xmlns:a16="http://schemas.microsoft.com/office/drawing/2014/main" id="{400F7B19-271E-4BB9-977A-CB604EA9AC4D}"/>
              </a:ext>
            </a:extLst>
          </p:cNvPr>
          <p:cNvSpPr>
            <a:spLocks noGrp="1"/>
          </p:cNvSpPr>
          <p:nvPr/>
        </p:nvSpPr>
        <p:spPr>
          <a:xfrm>
            <a:off x="5810250" y="2724150"/>
            <a:ext cx="76200" cy="1104900"/>
          </a:xfrm>
          <a:prstGeom prst="rect">
            <a:avLst/>
          </a:prstGeom>
          <a:solidFill>
            <a:srgbClr val="2DBE7F"/>
          </a:solidFill>
          <a:ln w="0">
            <a:noFill/>
          </a:ln>
        </p:spPr>
      </p:sp>
      <p:sp>
        <p:nvSpPr>
          <p:cNvPr id="16" name="Dreptunghi 15">
            <a:extLst>
              <a:ext uri="{FF2B5EF4-FFF2-40B4-BE49-F238E27FC236}">
                <a16:creationId xmlns:a16="http://schemas.microsoft.com/office/drawing/2014/main" id="{66B23553-847E-4092-A5A5-9BF1AA817492}"/>
              </a:ext>
            </a:extLst>
          </p:cNvPr>
          <p:cNvSpPr>
            <a:spLocks noGrp="1"/>
          </p:cNvSpPr>
          <p:nvPr/>
        </p:nvSpPr>
        <p:spPr>
          <a:xfrm>
            <a:off x="6019800" y="2857500"/>
            <a:ext cx="4991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2. Legare</a:t>
            </a:r>
          </a:p>
        </p:txBody>
      </p:sp>
      <p:sp>
        <p:nvSpPr>
          <p:cNvPr id="17" name="Dreptunghi 16">
            <a:extLst>
              <a:ext uri="{FF2B5EF4-FFF2-40B4-BE49-F238E27FC236}">
                <a16:creationId xmlns:a16="http://schemas.microsoft.com/office/drawing/2014/main" id="{85231C74-65A9-4FAC-824E-38F0B7410EC1}"/>
              </a:ext>
            </a:extLst>
          </p:cNvPr>
          <p:cNvSpPr>
            <a:spLocks noGrp="1"/>
          </p:cNvSpPr>
          <p:nvPr/>
        </p:nvSpPr>
        <p:spPr>
          <a:xfrm>
            <a:off x="6019800" y="3276600"/>
            <a:ext cx="49911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Numele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a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primește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referința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către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lang="ro-RO"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rezultatul =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4.</a:t>
            </a:r>
          </a:p>
        </p:txBody>
      </p:sp>
      <p:sp>
        <p:nvSpPr>
          <p:cNvPr id="18" name="Dreptunghi: colțuri rotunjite 17">
            <a:extLst>
              <a:ext uri="{FF2B5EF4-FFF2-40B4-BE49-F238E27FC236}">
                <a16:creationId xmlns:a16="http://schemas.microsoft.com/office/drawing/2014/main" id="{822DEFB1-0429-451D-BD33-5AB57185944D}"/>
              </a:ext>
            </a:extLst>
          </p:cNvPr>
          <p:cNvSpPr>
            <a:spLocks noGrp="1"/>
          </p:cNvSpPr>
          <p:nvPr/>
        </p:nvSpPr>
        <p:spPr>
          <a:xfrm>
            <a:off x="5810250" y="4019550"/>
            <a:ext cx="5334000" cy="11049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9" name="Dreptunghi 18">
            <a:extLst>
              <a:ext uri="{FF2B5EF4-FFF2-40B4-BE49-F238E27FC236}">
                <a16:creationId xmlns:a16="http://schemas.microsoft.com/office/drawing/2014/main" id="{3D61A42C-C799-4807-9176-27BD757E5853}"/>
              </a:ext>
            </a:extLst>
          </p:cNvPr>
          <p:cNvSpPr>
            <a:spLocks noGrp="1"/>
          </p:cNvSpPr>
          <p:nvPr/>
        </p:nvSpPr>
        <p:spPr>
          <a:xfrm>
            <a:off x="5810250" y="4019550"/>
            <a:ext cx="76200" cy="1104900"/>
          </a:xfrm>
          <a:prstGeom prst="rect">
            <a:avLst/>
          </a:prstGeom>
          <a:solidFill>
            <a:srgbClr val="8B7CFF"/>
          </a:solidFill>
          <a:ln w="0">
            <a:noFill/>
          </a:ln>
        </p:spPr>
      </p:sp>
      <p:sp>
        <p:nvSpPr>
          <p:cNvPr id="20" name="Dreptunghi 19">
            <a:extLst>
              <a:ext uri="{FF2B5EF4-FFF2-40B4-BE49-F238E27FC236}">
                <a16:creationId xmlns:a16="http://schemas.microsoft.com/office/drawing/2014/main" id="{40A5CAE9-BA48-45B3-935A-591A1E7FA26D}"/>
              </a:ext>
            </a:extLst>
          </p:cNvPr>
          <p:cNvSpPr>
            <a:spLocks noGrp="1"/>
          </p:cNvSpPr>
          <p:nvPr/>
        </p:nvSpPr>
        <p:spPr>
          <a:xfrm>
            <a:off x="6019800" y="4152900"/>
            <a:ext cx="4991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3. Utilizare</a:t>
            </a:r>
          </a:p>
        </p:txBody>
      </p:sp>
      <p:sp>
        <p:nvSpPr>
          <p:cNvPr id="21" name="Dreptunghi 20">
            <a:extLst>
              <a:ext uri="{FF2B5EF4-FFF2-40B4-BE49-F238E27FC236}">
                <a16:creationId xmlns:a16="http://schemas.microsoft.com/office/drawing/2014/main" id="{28199764-72E7-4607-AF59-0BED50AF5B63}"/>
              </a:ext>
            </a:extLst>
          </p:cNvPr>
          <p:cNvSpPr>
            <a:spLocks noGrp="1"/>
          </p:cNvSpPr>
          <p:nvPr/>
        </p:nvSpPr>
        <p:spPr>
          <a:xfrm>
            <a:off x="6019800" y="4572000"/>
            <a:ext cx="49911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Evaluarea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expresiei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>
                <a:latin typeface="Arial"/>
                <a:ea typeface="Arial"/>
                <a:cs typeface="Arial"/>
              </a:rPr>
              <a:t>a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produce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valoarea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4.</a:t>
            </a:r>
          </a:p>
        </p:txBody>
      </p:sp>
      <p:sp>
        <p:nvSpPr>
          <p:cNvPr id="22" name="Dreptunghi 21">
            <a:extLst>
              <a:ext uri="{FF2B5EF4-FFF2-40B4-BE49-F238E27FC236}">
                <a16:creationId xmlns:a16="http://schemas.microsoft.com/office/drawing/2014/main" id="{F04ED6F1-16E2-4B40-8E0D-E9A95F9DAC41}"/>
              </a:ext>
            </a:extLst>
          </p:cNvPr>
          <p:cNvSpPr>
            <a:spLocks noGrp="1"/>
          </p:cNvSpPr>
          <p:nvPr/>
        </p:nvSpPr>
        <p:spPr>
          <a:xfrm>
            <a:off x="762000" y="5410200"/>
            <a:ext cx="10191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ctr">
              <a:defRPr sz="1875" b="1">
                <a:solidFill>
                  <a:srgbClr val="FF6B7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B7A"/>
                </a:solidFill>
                <a:latin typeface="Arial"/>
                <a:ea typeface="Arial"/>
                <a:cs typeface="Arial"/>
              </a:rPr>
              <a:t>Semnul = realizează asignarea. Pentru comparație folosim ==.</a:t>
            </a:r>
          </a:p>
        </p:txBody>
      </p:sp>
    </p:spTree>
    <p:extLst>
      <p:ext uri="{BB962C8B-B14F-4D97-AF65-F5344CB8AC3E}">
        <p14:creationId xmlns:p14="http://schemas.microsoft.com/office/powerpoint/2010/main" val="209210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reptunghi 18">
            <a:extLst>
              <a:ext uri="{FF2B5EF4-FFF2-40B4-BE49-F238E27FC236}">
                <a16:creationId xmlns:a16="http://schemas.microsoft.com/office/drawing/2014/main" id="{8AA9109E-966C-4079-BEFF-F24730697A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B6F82BE4-CCF2-4996-AE0C-7CBE6890303E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LECȚIA 5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FF21F4D9-B5EF-4D9F-A658-7B24A3B37CDF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Două nume pot referi același obiect</a:t>
            </a:r>
          </a:p>
        </p:txBody>
      </p:sp>
      <p:pic>
        <p:nvPicPr>
          <p:cNvPr id="22" name="Imagin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47CDEB55-1F35-40B4-A656-DA342EA42BE5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5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8A04AA66-3EB6-4DA4-BFCA-93A6A7C4B465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3619500" cy="1476375"/>
          </a:xfrm>
          <a:prstGeom prst="roundRect">
            <a:avLst>
              <a:gd name="adj" fmla="val 11613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7" name="Dreptunghi: colțuri rotunjite 6">
            <a:extLst>
              <a:ext uri="{FF2B5EF4-FFF2-40B4-BE49-F238E27FC236}">
                <a16:creationId xmlns:a16="http://schemas.microsoft.com/office/drawing/2014/main" id="{71B4F852-FFB2-4564-856F-E13F029BCE92}"/>
              </a:ext>
            </a:extLst>
          </p:cNvPr>
          <p:cNvSpPr>
            <a:spLocks noGrp="1"/>
          </p:cNvSpPr>
          <p:nvPr/>
        </p:nvSpPr>
        <p:spPr>
          <a:xfrm>
            <a:off x="914400" y="16573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3F9F07B9-A6A7-4A04-AD59-FC25579ED82C}"/>
              </a:ext>
            </a:extLst>
          </p:cNvPr>
          <p:cNvSpPr>
            <a:spLocks noGrp="1"/>
          </p:cNvSpPr>
          <p:nvPr/>
        </p:nvSpPr>
        <p:spPr>
          <a:xfrm>
            <a:off x="923925" y="165735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23FA0BE3-DBE4-4430-9E59-3CDEA8010B57}"/>
              </a:ext>
            </a:extLst>
          </p:cNvPr>
          <p:cNvSpPr>
            <a:spLocks noGrp="1"/>
          </p:cNvSpPr>
          <p:nvPr/>
        </p:nvSpPr>
        <p:spPr>
          <a:xfrm>
            <a:off x="933450" y="1981200"/>
            <a:ext cx="32766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a = 10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b = a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F03908D4-BB2F-4D31-9BED-9E5BC6821C92}"/>
              </a:ext>
            </a:extLst>
          </p:cNvPr>
          <p:cNvSpPr>
            <a:spLocks noGrp="1"/>
          </p:cNvSpPr>
          <p:nvPr/>
        </p:nvSpPr>
        <p:spPr>
          <a:xfrm>
            <a:off x="5810250" y="1524000"/>
            <a:ext cx="1619250" cy="857250"/>
          </a:xfrm>
          <a:prstGeom prst="roundRect">
            <a:avLst>
              <a:gd name="adj" fmla="val 17778"/>
            </a:avLst>
          </a:prstGeom>
          <a:solidFill>
            <a:srgbClr val="EAF3FC"/>
          </a:solidFill>
          <a:ln w="9525">
            <a:solidFill>
              <a:srgbClr val="3776AB"/>
            </a:solidFill>
            <a:prstDash val="solid"/>
          </a:ln>
        </p:spPr>
      </p:sp>
      <p:sp>
        <p:nvSpPr>
          <p:cNvPr id="11" name="Dreptunghi 10">
            <a:extLst>
              <a:ext uri="{FF2B5EF4-FFF2-40B4-BE49-F238E27FC236}">
                <a16:creationId xmlns:a16="http://schemas.microsoft.com/office/drawing/2014/main" id="{6A9887FD-91F6-4655-92C6-BD84E9C3FF26}"/>
              </a:ext>
            </a:extLst>
          </p:cNvPr>
          <p:cNvSpPr>
            <a:spLocks noGrp="1"/>
          </p:cNvSpPr>
          <p:nvPr/>
        </p:nvSpPr>
        <p:spPr>
          <a:xfrm>
            <a:off x="5810250" y="1666875"/>
            <a:ext cx="161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25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" name="Dreptunghi: colțuri rotunjite 11">
            <a:extLst>
              <a:ext uri="{FF2B5EF4-FFF2-40B4-BE49-F238E27FC236}">
                <a16:creationId xmlns:a16="http://schemas.microsoft.com/office/drawing/2014/main" id="{8F963178-899D-4EB9-8C7C-F2917D85EE6E}"/>
              </a:ext>
            </a:extLst>
          </p:cNvPr>
          <p:cNvSpPr>
            <a:spLocks noGrp="1"/>
          </p:cNvSpPr>
          <p:nvPr/>
        </p:nvSpPr>
        <p:spPr>
          <a:xfrm>
            <a:off x="5810250" y="3143250"/>
            <a:ext cx="1619250" cy="857250"/>
          </a:xfrm>
          <a:prstGeom prst="roundRect">
            <a:avLst>
              <a:gd name="adj" fmla="val 17778"/>
            </a:avLst>
          </a:prstGeom>
          <a:solidFill>
            <a:srgbClr val="EAF3FC"/>
          </a:solidFill>
          <a:ln w="9525">
            <a:solidFill>
              <a:srgbClr val="3776AB"/>
            </a:solidFill>
            <a:prstDash val="solid"/>
          </a:ln>
        </p:spPr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B8C55A76-1CBC-4E9F-9DDD-78353806434E}"/>
              </a:ext>
            </a:extLst>
          </p:cNvPr>
          <p:cNvSpPr>
            <a:spLocks noGrp="1"/>
          </p:cNvSpPr>
          <p:nvPr/>
        </p:nvSpPr>
        <p:spPr>
          <a:xfrm>
            <a:off x="5810250" y="3286125"/>
            <a:ext cx="161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25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Săgeată: dreapta 13">
            <a:extLst>
              <a:ext uri="{FF2B5EF4-FFF2-40B4-BE49-F238E27FC236}">
                <a16:creationId xmlns:a16="http://schemas.microsoft.com/office/drawing/2014/main" id="{BC07652C-92E3-4166-8DC2-F956D382276F}"/>
              </a:ext>
            </a:extLst>
          </p:cNvPr>
          <p:cNvSpPr>
            <a:spLocks noGrp="1"/>
          </p:cNvSpPr>
          <p:nvPr/>
        </p:nvSpPr>
        <p:spPr>
          <a:xfrm>
            <a:off x="7620000" y="1752600"/>
            <a:ext cx="1619250" cy="419100"/>
          </a:xfrm>
          <a:prstGeom prst="rightArrow">
            <a:avLst/>
          </a:prstGeom>
          <a:solidFill>
            <a:srgbClr val="FFD43B"/>
          </a:solidFill>
          <a:ln w="0">
            <a:noFill/>
          </a:ln>
        </p:spPr>
      </p:sp>
      <p:sp>
        <p:nvSpPr>
          <p:cNvPr id="15" name="Săgeată: dreapta 14">
            <a:extLst>
              <a:ext uri="{FF2B5EF4-FFF2-40B4-BE49-F238E27FC236}">
                <a16:creationId xmlns:a16="http://schemas.microsoft.com/office/drawing/2014/main" id="{4BB1AB88-E878-4567-AB46-1CEDA1F0E654}"/>
              </a:ext>
            </a:extLst>
          </p:cNvPr>
          <p:cNvSpPr>
            <a:spLocks noGrp="1"/>
          </p:cNvSpPr>
          <p:nvPr/>
        </p:nvSpPr>
        <p:spPr>
          <a:xfrm>
            <a:off x="7620000" y="3371850"/>
            <a:ext cx="1619250" cy="419100"/>
          </a:xfrm>
          <a:prstGeom prst="rightArrow">
            <a:avLst/>
          </a:prstGeom>
          <a:solidFill>
            <a:srgbClr val="FFD43B"/>
          </a:solidFill>
          <a:ln w="0">
            <a:noFill/>
          </a:ln>
        </p:spPr>
      </p:sp>
      <p:sp>
        <p:nvSpPr>
          <p:cNvPr id="16" name="Dreptunghi: colțuri rotunjite 15">
            <a:extLst>
              <a:ext uri="{FF2B5EF4-FFF2-40B4-BE49-F238E27FC236}">
                <a16:creationId xmlns:a16="http://schemas.microsoft.com/office/drawing/2014/main" id="{A8A5CB21-6DDA-4D2C-AC45-BF4270AC2444}"/>
              </a:ext>
            </a:extLst>
          </p:cNvPr>
          <p:cNvSpPr>
            <a:spLocks noGrp="1"/>
          </p:cNvSpPr>
          <p:nvPr/>
        </p:nvSpPr>
        <p:spPr>
          <a:xfrm>
            <a:off x="9429750" y="2143125"/>
            <a:ext cx="1714500" cy="1257300"/>
          </a:xfrm>
          <a:prstGeom prst="roundRect">
            <a:avLst>
              <a:gd name="adj" fmla="val 15152"/>
            </a:avLst>
          </a:prstGeom>
          <a:solidFill>
            <a:srgbClr val="151C32"/>
          </a:solidFill>
          <a:ln w="0">
            <a:noFill/>
          </a:ln>
        </p:spPr>
      </p:sp>
      <p:sp>
        <p:nvSpPr>
          <p:cNvPr id="17" name="Dreptunghi 16">
            <a:extLst>
              <a:ext uri="{FF2B5EF4-FFF2-40B4-BE49-F238E27FC236}">
                <a16:creationId xmlns:a16="http://schemas.microsoft.com/office/drawing/2014/main" id="{966FD8F3-028B-4380-94EC-303D65E09303}"/>
              </a:ext>
            </a:extLst>
          </p:cNvPr>
          <p:cNvSpPr>
            <a:spLocks noGrp="1"/>
          </p:cNvSpPr>
          <p:nvPr/>
        </p:nvSpPr>
        <p:spPr>
          <a:xfrm>
            <a:off x="9429750" y="2333625"/>
            <a:ext cx="1714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8" name="Dreptunghi: colțuri rotunjite 17">
            <a:extLst>
              <a:ext uri="{FF2B5EF4-FFF2-40B4-BE49-F238E27FC236}">
                <a16:creationId xmlns:a16="http://schemas.microsoft.com/office/drawing/2014/main" id="{68267994-CF51-4F1C-AF01-1CF72171D052}"/>
              </a:ext>
            </a:extLst>
          </p:cNvPr>
          <p:cNvSpPr>
            <a:spLocks noGrp="1"/>
          </p:cNvSpPr>
          <p:nvPr/>
        </p:nvSpPr>
        <p:spPr>
          <a:xfrm>
            <a:off x="1047750" y="4762500"/>
            <a:ext cx="10096500" cy="819150"/>
          </a:xfrm>
          <a:prstGeom prst="roundRect">
            <a:avLst>
              <a:gd name="adj" fmla="val 20930"/>
            </a:avLst>
          </a:prstGeom>
          <a:solidFill>
            <a:srgbClr val="FFF6CC"/>
          </a:solidFill>
          <a:ln w="9525">
            <a:solidFill>
              <a:srgbClr val="FFD43B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8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ro-RO" sz="1875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R</a:t>
            </a:r>
            <a:r>
              <a:rPr sz="1875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easignarea</a:t>
            </a:r>
            <a:r>
              <a:rPr sz="1875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unuia</a:t>
            </a:r>
            <a:r>
              <a:rPr sz="1875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dintre</a:t>
            </a:r>
            <a:r>
              <a:rPr sz="1875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nume</a:t>
            </a:r>
            <a:r>
              <a:rPr sz="1875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nu </a:t>
            </a:r>
            <a:r>
              <a:rPr sz="1875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modifică</a:t>
            </a:r>
            <a:r>
              <a:rPr sz="1875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celălalt</a:t>
            </a:r>
            <a:r>
              <a:rPr sz="1875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nume</a:t>
            </a:r>
            <a:r>
              <a:rPr sz="1875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8133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reptunghi 18">
            <a:extLst>
              <a:ext uri="{FF2B5EF4-FFF2-40B4-BE49-F238E27FC236}">
                <a16:creationId xmlns:a16="http://schemas.microsoft.com/office/drawing/2014/main" id="{71D644E8-F7CB-4F22-B79C-1DD286C244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D6E82B8E-2E34-4586-93C2-B0330C5D98E0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LECȚIA 5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9861EB31-0FE9-49D5-9730-C1118C78B14E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Reasignarea schimbă legătura numelui</a:t>
            </a:r>
          </a:p>
        </p:txBody>
      </p:sp>
      <p:pic>
        <p:nvPicPr>
          <p:cNvPr id="22" name="Imagin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5EA264EE-83F4-48D6-BA08-FD98AB15D76E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5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427D3376-EEA8-40B7-BE68-3F6820A71C69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762500" cy="3333750"/>
          </a:xfrm>
          <a:prstGeom prst="roundRect">
            <a:avLst>
              <a:gd name="adj" fmla="val 5143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7" name="Dreptunghi: colțuri rotunjite 6">
            <a:extLst>
              <a:ext uri="{FF2B5EF4-FFF2-40B4-BE49-F238E27FC236}">
                <a16:creationId xmlns:a16="http://schemas.microsoft.com/office/drawing/2014/main" id="{37087435-9CF6-47E3-AC3E-5A500702F326}"/>
              </a:ext>
            </a:extLst>
          </p:cNvPr>
          <p:cNvSpPr>
            <a:spLocks noGrp="1"/>
          </p:cNvSpPr>
          <p:nvPr/>
        </p:nvSpPr>
        <p:spPr>
          <a:xfrm>
            <a:off x="819150" y="16573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A09843DA-E1D4-47EB-9EEB-E10CE1D447EA}"/>
              </a:ext>
            </a:extLst>
          </p:cNvPr>
          <p:cNvSpPr>
            <a:spLocks noGrp="1"/>
          </p:cNvSpPr>
          <p:nvPr/>
        </p:nvSpPr>
        <p:spPr>
          <a:xfrm>
            <a:off x="828675" y="165735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67AFDADF-98F7-4F17-BAFE-47430C324CEA}"/>
              </a:ext>
            </a:extLst>
          </p:cNvPr>
          <p:cNvSpPr>
            <a:spLocks noGrp="1"/>
          </p:cNvSpPr>
          <p:nvPr/>
        </p:nvSpPr>
        <p:spPr>
          <a:xfrm>
            <a:off x="838200" y="1981200"/>
            <a:ext cx="4419600" cy="2762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a = 10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b = a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b = 20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print(a)  # 10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print(b)  # 20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E700DCFB-3C16-4268-81A4-E65D4F49CDE2}"/>
              </a:ext>
            </a:extLst>
          </p:cNvPr>
          <p:cNvSpPr>
            <a:spLocks noGrp="1"/>
          </p:cNvSpPr>
          <p:nvPr/>
        </p:nvSpPr>
        <p:spPr>
          <a:xfrm>
            <a:off x="6096000" y="1619250"/>
            <a:ext cx="5048250" cy="1238250"/>
          </a:xfrm>
          <a:prstGeom prst="roundRect">
            <a:avLst>
              <a:gd name="adj" fmla="val 13846"/>
            </a:avLst>
          </a:prstGeom>
          <a:solidFill>
            <a:srgbClr val="EAF3F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1" name="Dreptunghi 10">
            <a:extLst>
              <a:ext uri="{FF2B5EF4-FFF2-40B4-BE49-F238E27FC236}">
                <a16:creationId xmlns:a16="http://schemas.microsoft.com/office/drawing/2014/main" id="{CAFEB390-D8F3-4B45-B52F-E8D4D256FB58}"/>
              </a:ext>
            </a:extLst>
          </p:cNvPr>
          <p:cNvSpPr>
            <a:spLocks noGrp="1"/>
          </p:cNvSpPr>
          <p:nvPr/>
        </p:nvSpPr>
        <p:spPr>
          <a:xfrm>
            <a:off x="6096000" y="1619250"/>
            <a:ext cx="76200" cy="123825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C35F621E-F4BF-47ED-A350-AE4A666C438E}"/>
              </a:ext>
            </a:extLst>
          </p:cNvPr>
          <p:cNvSpPr>
            <a:spLocks noGrp="1"/>
          </p:cNvSpPr>
          <p:nvPr/>
        </p:nvSpPr>
        <p:spPr>
          <a:xfrm>
            <a:off x="6305550" y="1752600"/>
            <a:ext cx="47053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Înainte de b = 20</a:t>
            </a:r>
          </a:p>
        </p:txBody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B98112C9-56E8-446F-8760-289CEE53644E}"/>
              </a:ext>
            </a:extLst>
          </p:cNvPr>
          <p:cNvSpPr>
            <a:spLocks noGrp="1"/>
          </p:cNvSpPr>
          <p:nvPr/>
        </p:nvSpPr>
        <p:spPr>
          <a:xfrm>
            <a:off x="6305550" y="2171700"/>
            <a:ext cx="47053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a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și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b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referă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lang="ro-RO"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valoarea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lang="ro-RO"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=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14" name="Dreptunghi: colțuri rotunjite 13">
            <a:extLst>
              <a:ext uri="{FF2B5EF4-FFF2-40B4-BE49-F238E27FC236}">
                <a16:creationId xmlns:a16="http://schemas.microsoft.com/office/drawing/2014/main" id="{ACA117DF-D1DE-4172-8099-AE3FA2531C7B}"/>
              </a:ext>
            </a:extLst>
          </p:cNvPr>
          <p:cNvSpPr>
            <a:spLocks noGrp="1"/>
          </p:cNvSpPr>
          <p:nvPr/>
        </p:nvSpPr>
        <p:spPr>
          <a:xfrm>
            <a:off x="6096000" y="3143250"/>
            <a:ext cx="5048250" cy="1238250"/>
          </a:xfrm>
          <a:prstGeom prst="roundRect">
            <a:avLst>
              <a:gd name="adj" fmla="val 13846"/>
            </a:avLst>
          </a:prstGeom>
          <a:solidFill>
            <a:srgbClr val="E7F8F1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5" name="Dreptunghi 14">
            <a:extLst>
              <a:ext uri="{FF2B5EF4-FFF2-40B4-BE49-F238E27FC236}">
                <a16:creationId xmlns:a16="http://schemas.microsoft.com/office/drawing/2014/main" id="{F04B3BB2-EEBB-4757-9699-F588E85EB89D}"/>
              </a:ext>
            </a:extLst>
          </p:cNvPr>
          <p:cNvSpPr>
            <a:spLocks noGrp="1"/>
          </p:cNvSpPr>
          <p:nvPr/>
        </p:nvSpPr>
        <p:spPr>
          <a:xfrm>
            <a:off x="6096000" y="3143250"/>
            <a:ext cx="76200" cy="1238250"/>
          </a:xfrm>
          <a:prstGeom prst="rect">
            <a:avLst/>
          </a:prstGeom>
          <a:solidFill>
            <a:srgbClr val="2DBE7F"/>
          </a:solidFill>
          <a:ln w="0">
            <a:noFill/>
          </a:ln>
        </p:spPr>
      </p:sp>
      <p:sp>
        <p:nvSpPr>
          <p:cNvPr id="16" name="Dreptunghi 15">
            <a:extLst>
              <a:ext uri="{FF2B5EF4-FFF2-40B4-BE49-F238E27FC236}">
                <a16:creationId xmlns:a16="http://schemas.microsoft.com/office/drawing/2014/main" id="{FADEF2BC-22C9-4D25-8C45-5FC1A73DAA31}"/>
              </a:ext>
            </a:extLst>
          </p:cNvPr>
          <p:cNvSpPr>
            <a:spLocks noGrp="1"/>
          </p:cNvSpPr>
          <p:nvPr/>
        </p:nvSpPr>
        <p:spPr>
          <a:xfrm>
            <a:off x="6305550" y="3276600"/>
            <a:ext cx="47053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După b = 20</a:t>
            </a:r>
          </a:p>
        </p:txBody>
      </p:sp>
      <p:sp>
        <p:nvSpPr>
          <p:cNvPr id="17" name="Dreptunghi 16">
            <a:extLst>
              <a:ext uri="{FF2B5EF4-FFF2-40B4-BE49-F238E27FC236}">
                <a16:creationId xmlns:a16="http://schemas.microsoft.com/office/drawing/2014/main" id="{6D60617D-231A-4C2D-AA90-E1EDB6432EA6}"/>
              </a:ext>
            </a:extLst>
          </p:cNvPr>
          <p:cNvSpPr>
            <a:spLocks noGrp="1"/>
          </p:cNvSpPr>
          <p:nvPr/>
        </p:nvSpPr>
        <p:spPr>
          <a:xfrm>
            <a:off x="6305550" y="3695700"/>
            <a:ext cx="47053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latin typeface="Arial"/>
                <a:ea typeface="Arial"/>
                <a:cs typeface="Arial"/>
              </a:rPr>
              <a:t>b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referă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lang="ro-RO"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valoarea =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20,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iar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>
                <a:latin typeface="Arial"/>
                <a:ea typeface="Arial"/>
                <a:cs typeface="Arial"/>
              </a:rPr>
              <a:t>a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rămâne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legat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de 10.</a:t>
            </a:r>
          </a:p>
        </p:txBody>
      </p:sp>
      <p:sp>
        <p:nvSpPr>
          <p:cNvPr id="18" name="Dreptunghi 17">
            <a:extLst>
              <a:ext uri="{FF2B5EF4-FFF2-40B4-BE49-F238E27FC236}">
                <a16:creationId xmlns:a16="http://schemas.microsoft.com/office/drawing/2014/main" id="{B906C6E2-200C-4032-BAF5-3B830ECBE70D}"/>
              </a:ext>
            </a:extLst>
          </p:cNvPr>
          <p:cNvSpPr>
            <a:spLocks noGrp="1"/>
          </p:cNvSpPr>
          <p:nvPr/>
        </p:nvSpPr>
        <p:spPr>
          <a:xfrm>
            <a:off x="1047750" y="533400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ctr">
              <a:defRPr sz="1725" b="1">
                <a:solidFill>
                  <a:srgbClr val="FF6B7A"/>
                </a:solidFill>
                <a:latin typeface="Arial"/>
                <a:ea typeface="Arial"/>
                <a:cs typeface="Arial"/>
              </a:defRPr>
            </a:pPr>
            <a:r>
              <a:rPr sz="1725" b="1" dirty="0" err="1">
                <a:solidFill>
                  <a:srgbClr val="FF6B7A"/>
                </a:solidFill>
                <a:latin typeface="Arial"/>
                <a:ea typeface="Arial"/>
                <a:cs typeface="Arial"/>
              </a:rPr>
              <a:t>Formulare</a:t>
            </a:r>
            <a:r>
              <a:rPr sz="1725" b="1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FF6B7A"/>
                </a:solidFill>
                <a:latin typeface="Arial"/>
                <a:ea typeface="Arial"/>
                <a:cs typeface="Arial"/>
              </a:rPr>
              <a:t>corectată</a:t>
            </a:r>
            <a:r>
              <a:rPr sz="1725" b="1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: nu „</a:t>
            </a:r>
            <a:r>
              <a:rPr sz="1725" b="1" dirty="0" err="1">
                <a:solidFill>
                  <a:srgbClr val="FF6B7A"/>
                </a:solidFill>
                <a:latin typeface="Arial"/>
                <a:ea typeface="Arial"/>
                <a:cs typeface="Arial"/>
              </a:rPr>
              <a:t>creăm</a:t>
            </a:r>
            <a:r>
              <a:rPr sz="1725" b="1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 o </a:t>
            </a:r>
            <a:r>
              <a:rPr sz="1725" b="1" dirty="0" err="1">
                <a:solidFill>
                  <a:srgbClr val="FF6B7A"/>
                </a:solidFill>
                <a:latin typeface="Arial"/>
                <a:ea typeface="Arial"/>
                <a:cs typeface="Arial"/>
              </a:rPr>
              <a:t>variabilă</a:t>
            </a:r>
            <a:r>
              <a:rPr sz="1725" b="1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FF6B7A"/>
                </a:solidFill>
                <a:latin typeface="Arial"/>
                <a:ea typeface="Arial"/>
                <a:cs typeface="Arial"/>
              </a:rPr>
              <a:t>nouă</a:t>
            </a:r>
            <a:r>
              <a:rPr sz="1725" b="1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”, ci </a:t>
            </a:r>
            <a:r>
              <a:rPr sz="1725" b="1" dirty="0" err="1">
                <a:solidFill>
                  <a:srgbClr val="FF6B7A"/>
                </a:solidFill>
                <a:latin typeface="Arial"/>
                <a:ea typeface="Arial"/>
                <a:cs typeface="Arial"/>
              </a:rPr>
              <a:t>reasignăm</a:t>
            </a:r>
            <a:r>
              <a:rPr sz="1725" b="1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 err="1">
                <a:solidFill>
                  <a:srgbClr val="FF6B7A"/>
                </a:solidFill>
                <a:latin typeface="Arial"/>
                <a:ea typeface="Arial"/>
                <a:cs typeface="Arial"/>
              </a:rPr>
              <a:t>numele</a:t>
            </a:r>
            <a:r>
              <a:rPr sz="1725" b="1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 b.</a:t>
            </a:r>
          </a:p>
        </p:txBody>
      </p:sp>
    </p:spTree>
    <p:extLst>
      <p:ext uri="{BB962C8B-B14F-4D97-AF65-F5344CB8AC3E}">
        <p14:creationId xmlns:p14="http://schemas.microsoft.com/office/powerpoint/2010/main" val="731633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reptunghi 18">
            <a:extLst>
              <a:ext uri="{FF2B5EF4-FFF2-40B4-BE49-F238E27FC236}">
                <a16:creationId xmlns:a16="http://schemas.microsoft.com/office/drawing/2014/main" id="{275D18AA-E49A-4037-AE1D-1DB5035CB3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3076BDF1-9F3B-47B4-9DA1-3BD04BA420A2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LECȚIA 5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A973E1E1-AD87-4297-9BBB-1A66CE27418F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Numele variabilei și valoarea ei</a:t>
            </a:r>
          </a:p>
        </p:txBody>
      </p:sp>
      <p:pic>
        <p:nvPicPr>
          <p:cNvPr id="22" name="Imagin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AA72C4D7-6045-4075-B0CB-BC3429DC189E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5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8227FE1A-A5EA-4DAF-96F0-CC390B1CAFD6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4953000" cy="2476500"/>
          </a:xfrm>
          <a:prstGeom prst="roundRect">
            <a:avLst>
              <a:gd name="adj" fmla="val 6923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7" name="Dreptunghi: colțuri rotunjite 6">
            <a:extLst>
              <a:ext uri="{FF2B5EF4-FFF2-40B4-BE49-F238E27FC236}">
                <a16:creationId xmlns:a16="http://schemas.microsoft.com/office/drawing/2014/main" id="{F45F111D-53DE-45F1-BFAD-98921D38DC1B}"/>
              </a:ext>
            </a:extLst>
          </p:cNvPr>
          <p:cNvSpPr>
            <a:spLocks noGrp="1"/>
          </p:cNvSpPr>
          <p:nvPr/>
        </p:nvSpPr>
        <p:spPr>
          <a:xfrm>
            <a:off x="819150" y="182880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C57ACF7D-81D5-4F30-9D04-7D78518E3916}"/>
              </a:ext>
            </a:extLst>
          </p:cNvPr>
          <p:cNvSpPr>
            <a:spLocks noGrp="1"/>
          </p:cNvSpPr>
          <p:nvPr/>
        </p:nvSpPr>
        <p:spPr>
          <a:xfrm>
            <a:off x="828675" y="182880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B748CC60-B63A-42A0-961F-97487D5B9E5D}"/>
              </a:ext>
            </a:extLst>
          </p:cNvPr>
          <p:cNvSpPr>
            <a:spLocks noGrp="1"/>
          </p:cNvSpPr>
          <p:nvPr/>
        </p:nvSpPr>
        <p:spPr>
          <a:xfrm>
            <a:off x="838200" y="2152650"/>
            <a:ext cx="4610100" cy="1905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a = 10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print(a)    # 10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print("a")  # a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CBD069DF-8805-4919-AD77-DFFB8857248B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4762500" cy="1238250"/>
          </a:xfrm>
          <a:prstGeom prst="roundRect">
            <a:avLst>
              <a:gd name="adj" fmla="val 13846"/>
            </a:avLst>
          </a:prstGeom>
          <a:solidFill>
            <a:srgbClr val="E7F8F1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1" name="Dreptunghi 10">
            <a:extLst>
              <a:ext uri="{FF2B5EF4-FFF2-40B4-BE49-F238E27FC236}">
                <a16:creationId xmlns:a16="http://schemas.microsoft.com/office/drawing/2014/main" id="{B01EE4D3-B133-4B90-823F-10F4C1333C88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76200" cy="1238250"/>
          </a:xfrm>
          <a:prstGeom prst="rect">
            <a:avLst/>
          </a:prstGeom>
          <a:solidFill>
            <a:srgbClr val="2DBE7F"/>
          </a:solidFill>
          <a:ln w="0">
            <a:noFill/>
          </a:ln>
        </p:spPr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733773B6-F374-4F4B-ABF9-76F395FD7FC8}"/>
              </a:ext>
            </a:extLst>
          </p:cNvPr>
          <p:cNvSpPr>
            <a:spLocks noGrp="1"/>
          </p:cNvSpPr>
          <p:nvPr/>
        </p:nvSpPr>
        <p:spPr>
          <a:xfrm>
            <a:off x="6400800" y="1752600"/>
            <a:ext cx="4419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print(a)</a:t>
            </a:r>
          </a:p>
        </p:txBody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BB485160-6567-4708-BE86-A8644341E3B2}"/>
              </a:ext>
            </a:extLst>
          </p:cNvPr>
          <p:cNvSpPr>
            <a:spLocks noGrp="1"/>
          </p:cNvSpPr>
          <p:nvPr/>
        </p:nvSpPr>
        <p:spPr>
          <a:xfrm>
            <a:off x="6400800" y="2171700"/>
            <a:ext cx="4419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Python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evaluează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identificatorul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și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afișează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valoarea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lang="ro-RO"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=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14" name="Dreptunghi: colțuri rotunjite 13">
            <a:extLst>
              <a:ext uri="{FF2B5EF4-FFF2-40B4-BE49-F238E27FC236}">
                <a16:creationId xmlns:a16="http://schemas.microsoft.com/office/drawing/2014/main" id="{F86977A9-545C-47AD-8668-00E84AC1989F}"/>
              </a:ext>
            </a:extLst>
          </p:cNvPr>
          <p:cNvSpPr>
            <a:spLocks noGrp="1"/>
          </p:cNvSpPr>
          <p:nvPr/>
        </p:nvSpPr>
        <p:spPr>
          <a:xfrm>
            <a:off x="6191250" y="3143250"/>
            <a:ext cx="4762500" cy="1238250"/>
          </a:xfrm>
          <a:prstGeom prst="roundRect">
            <a:avLst>
              <a:gd name="adj" fmla="val 13846"/>
            </a:avLst>
          </a:prstGeom>
          <a:solidFill>
            <a:srgbClr val="EAF3F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5" name="Dreptunghi 14">
            <a:extLst>
              <a:ext uri="{FF2B5EF4-FFF2-40B4-BE49-F238E27FC236}">
                <a16:creationId xmlns:a16="http://schemas.microsoft.com/office/drawing/2014/main" id="{E58CA838-D5DE-46B8-8A3D-3535EBC95CFE}"/>
              </a:ext>
            </a:extLst>
          </p:cNvPr>
          <p:cNvSpPr>
            <a:spLocks noGrp="1"/>
          </p:cNvSpPr>
          <p:nvPr/>
        </p:nvSpPr>
        <p:spPr>
          <a:xfrm>
            <a:off x="6191250" y="3143250"/>
            <a:ext cx="76200" cy="123825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16" name="Dreptunghi 15">
            <a:extLst>
              <a:ext uri="{FF2B5EF4-FFF2-40B4-BE49-F238E27FC236}">
                <a16:creationId xmlns:a16="http://schemas.microsoft.com/office/drawing/2014/main" id="{6358E64E-66F5-46F8-AD35-AD2408A314B6}"/>
              </a:ext>
            </a:extLst>
          </p:cNvPr>
          <p:cNvSpPr>
            <a:spLocks noGrp="1"/>
          </p:cNvSpPr>
          <p:nvPr/>
        </p:nvSpPr>
        <p:spPr>
          <a:xfrm>
            <a:off x="6400800" y="3276600"/>
            <a:ext cx="4419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print("a")</a:t>
            </a:r>
          </a:p>
        </p:txBody>
      </p:sp>
      <p:sp>
        <p:nvSpPr>
          <p:cNvPr id="17" name="Dreptunghi 16">
            <a:extLst>
              <a:ext uri="{FF2B5EF4-FFF2-40B4-BE49-F238E27FC236}">
                <a16:creationId xmlns:a16="http://schemas.microsoft.com/office/drawing/2014/main" id="{BE78ADB7-AAA4-4C05-A128-5D26082B6CAC}"/>
              </a:ext>
            </a:extLst>
          </p:cNvPr>
          <p:cNvSpPr>
            <a:spLocks noGrp="1"/>
          </p:cNvSpPr>
          <p:nvPr/>
        </p:nvSpPr>
        <p:spPr>
          <a:xfrm>
            <a:off x="6400800" y="3695700"/>
            <a:ext cx="4419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Ghilimelele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transformă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caracterul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>
                <a:latin typeface="Arial"/>
                <a:ea typeface="Arial"/>
                <a:cs typeface="Arial"/>
              </a:rPr>
              <a:t>a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într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-un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șir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de text.</a:t>
            </a:r>
          </a:p>
        </p:txBody>
      </p:sp>
      <p:sp>
        <p:nvSpPr>
          <p:cNvPr id="18" name="Dreptunghi: colțuri rotunjite 17">
            <a:extLst>
              <a:ext uri="{FF2B5EF4-FFF2-40B4-BE49-F238E27FC236}">
                <a16:creationId xmlns:a16="http://schemas.microsoft.com/office/drawing/2014/main" id="{8E793381-DED3-4E9C-B22B-C4791AE46778}"/>
              </a:ext>
            </a:extLst>
          </p:cNvPr>
          <p:cNvSpPr>
            <a:spLocks noGrp="1"/>
          </p:cNvSpPr>
          <p:nvPr/>
        </p:nvSpPr>
        <p:spPr>
          <a:xfrm>
            <a:off x="1219200" y="5095875"/>
            <a:ext cx="9715500" cy="647700"/>
          </a:xfrm>
          <a:prstGeom prst="roundRect">
            <a:avLst>
              <a:gd name="adj" fmla="val 26471"/>
            </a:avLst>
          </a:prstGeom>
          <a:solidFill>
            <a:srgbClr val="FFF6CC"/>
          </a:solidFill>
          <a:ln w="9525">
            <a:solidFill>
              <a:srgbClr val="FFD43B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20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Întrebare: ce afișează print("Valoarea este", a)?</a:t>
            </a:r>
          </a:p>
        </p:txBody>
      </p:sp>
    </p:spTree>
    <p:extLst>
      <p:ext uri="{BB962C8B-B14F-4D97-AF65-F5344CB8AC3E}">
        <p14:creationId xmlns:p14="http://schemas.microsoft.com/office/powerpoint/2010/main" val="1411073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reptunghi 21">
            <a:extLst>
              <a:ext uri="{FF2B5EF4-FFF2-40B4-BE49-F238E27FC236}">
                <a16:creationId xmlns:a16="http://schemas.microsoft.com/office/drawing/2014/main" id="{268E0B1C-6735-482A-89C5-95CDB5B82E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C681F0F2-DCC0-42D8-A165-650677DD5ACF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LECȚIA 5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E2EEE718-2FB4-4020-8043-D693ECA042AB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None și del au efecte diferite</a:t>
            </a:r>
          </a:p>
        </p:txBody>
      </p:sp>
      <p:pic>
        <p:nvPicPr>
          <p:cNvPr id="25" name="Imagin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206D82D6-25A2-40B6-AB02-8D59A94BF780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5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E30FE54D-CC14-4433-AF1D-3146D5830464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4667250" cy="2095500"/>
          </a:xfrm>
          <a:prstGeom prst="roundRect">
            <a:avLst>
              <a:gd name="adj" fmla="val 8182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7" name="Dreptunghi: colțuri rotunjite 6">
            <a:extLst>
              <a:ext uri="{FF2B5EF4-FFF2-40B4-BE49-F238E27FC236}">
                <a16:creationId xmlns:a16="http://schemas.microsoft.com/office/drawing/2014/main" id="{61BD904B-9535-4119-BB24-60C8DC20B6AC}"/>
              </a:ext>
            </a:extLst>
          </p:cNvPr>
          <p:cNvSpPr>
            <a:spLocks noGrp="1"/>
          </p:cNvSpPr>
          <p:nvPr/>
        </p:nvSpPr>
        <p:spPr>
          <a:xfrm>
            <a:off x="819150" y="175260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A6E0F871-2387-4C51-9746-B1734E8CB8FB}"/>
              </a:ext>
            </a:extLst>
          </p:cNvPr>
          <p:cNvSpPr>
            <a:spLocks noGrp="1"/>
          </p:cNvSpPr>
          <p:nvPr/>
        </p:nvSpPr>
        <p:spPr>
          <a:xfrm>
            <a:off x="828675" y="175260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84237" lnSpcReduction="20000"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NUMELE EXISTĂ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93880030-3C3C-4BEC-BE54-4E95D2352B50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432435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a = 10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a = None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print(a)  # None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8DA07809-5C6F-4442-9FA0-8955EC3235F0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4667250" cy="1809750"/>
          </a:xfrm>
          <a:prstGeom prst="roundRect">
            <a:avLst>
              <a:gd name="adj" fmla="val 9474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11" name="Dreptunghi: colțuri rotunjite 10">
            <a:extLst>
              <a:ext uri="{FF2B5EF4-FFF2-40B4-BE49-F238E27FC236}">
                <a16:creationId xmlns:a16="http://schemas.microsoft.com/office/drawing/2014/main" id="{082A4419-E3EC-4312-8709-106BC368E646}"/>
              </a:ext>
            </a:extLst>
          </p:cNvPr>
          <p:cNvSpPr>
            <a:spLocks noGrp="1"/>
          </p:cNvSpPr>
          <p:nvPr/>
        </p:nvSpPr>
        <p:spPr>
          <a:xfrm>
            <a:off x="819150" y="422910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FF6B7A"/>
          </a:solidFill>
          <a:ln w="0">
            <a:noFill/>
          </a:ln>
        </p:spPr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FE448C75-FD1D-4515-ABF3-8F5EE91309C0}"/>
              </a:ext>
            </a:extLst>
          </p:cNvPr>
          <p:cNvSpPr>
            <a:spLocks noGrp="1"/>
          </p:cNvSpPr>
          <p:nvPr/>
        </p:nvSpPr>
        <p:spPr>
          <a:xfrm>
            <a:off x="828675" y="422910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83889" lnSpcReduction="20000"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NUMELE ESTE ȘTERS</a:t>
            </a:r>
          </a:p>
        </p:txBody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00D3B9EE-CDEC-45EB-A637-55460D191217}"/>
              </a:ext>
            </a:extLst>
          </p:cNvPr>
          <p:cNvSpPr>
            <a:spLocks noGrp="1"/>
          </p:cNvSpPr>
          <p:nvPr/>
        </p:nvSpPr>
        <p:spPr>
          <a:xfrm>
            <a:off x="838200" y="4552950"/>
            <a:ext cx="43243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a = 10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del a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print(a)  # NameError</a:t>
            </a:r>
          </a:p>
        </p:txBody>
      </p:sp>
      <p:sp>
        <p:nvSpPr>
          <p:cNvPr id="14" name="Dreptunghi: colțuri rotunjite 13">
            <a:extLst>
              <a:ext uri="{FF2B5EF4-FFF2-40B4-BE49-F238E27FC236}">
                <a16:creationId xmlns:a16="http://schemas.microsoft.com/office/drawing/2014/main" id="{E4C4374C-EAAA-471B-A1C0-F6274E52C3A0}"/>
              </a:ext>
            </a:extLst>
          </p:cNvPr>
          <p:cNvSpPr>
            <a:spLocks noGrp="1"/>
          </p:cNvSpPr>
          <p:nvPr/>
        </p:nvSpPr>
        <p:spPr>
          <a:xfrm>
            <a:off x="6096000" y="1600200"/>
            <a:ext cx="5048250" cy="1809750"/>
          </a:xfrm>
          <a:prstGeom prst="roundRect">
            <a:avLst>
              <a:gd name="adj" fmla="val 9474"/>
            </a:avLst>
          </a:prstGeom>
          <a:solidFill>
            <a:srgbClr val="EAF3F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5" name="Dreptunghi 14">
            <a:extLst>
              <a:ext uri="{FF2B5EF4-FFF2-40B4-BE49-F238E27FC236}">
                <a16:creationId xmlns:a16="http://schemas.microsoft.com/office/drawing/2014/main" id="{CA373B5B-DB8F-4DB5-921B-460E6F52F3BA}"/>
              </a:ext>
            </a:extLst>
          </p:cNvPr>
          <p:cNvSpPr>
            <a:spLocks noGrp="1"/>
          </p:cNvSpPr>
          <p:nvPr/>
        </p:nvSpPr>
        <p:spPr>
          <a:xfrm>
            <a:off x="6096000" y="1600200"/>
            <a:ext cx="76200" cy="180975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16" name="Dreptunghi 15">
            <a:extLst>
              <a:ext uri="{FF2B5EF4-FFF2-40B4-BE49-F238E27FC236}">
                <a16:creationId xmlns:a16="http://schemas.microsoft.com/office/drawing/2014/main" id="{B46438F9-4ED9-4929-BDC4-14FAE2490DBA}"/>
              </a:ext>
            </a:extLst>
          </p:cNvPr>
          <p:cNvSpPr>
            <a:spLocks noGrp="1"/>
          </p:cNvSpPr>
          <p:nvPr/>
        </p:nvSpPr>
        <p:spPr>
          <a:xfrm>
            <a:off x="6305550" y="1733550"/>
            <a:ext cx="47053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 = None</a:t>
            </a:r>
          </a:p>
        </p:txBody>
      </p:sp>
      <p:sp>
        <p:nvSpPr>
          <p:cNvPr id="17" name="Dreptunghi 16">
            <a:extLst>
              <a:ext uri="{FF2B5EF4-FFF2-40B4-BE49-F238E27FC236}">
                <a16:creationId xmlns:a16="http://schemas.microsoft.com/office/drawing/2014/main" id="{BAF2F079-3C61-48C9-9B4D-8AAA4984CA24}"/>
              </a:ext>
            </a:extLst>
          </p:cNvPr>
          <p:cNvSpPr>
            <a:spLocks noGrp="1"/>
          </p:cNvSpPr>
          <p:nvPr/>
        </p:nvSpPr>
        <p:spPr>
          <a:xfrm>
            <a:off x="6305550" y="2152650"/>
            <a:ext cx="47053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lang="ro-RO"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Variabila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u="sng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a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rămâne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definit</a:t>
            </a:r>
            <a:r>
              <a:rPr lang="ro-RO"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și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referă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obiectul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special None,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folosit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pentru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absența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unei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valori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8" name="Dreptunghi: colțuri rotunjite 17">
            <a:extLst>
              <a:ext uri="{FF2B5EF4-FFF2-40B4-BE49-F238E27FC236}">
                <a16:creationId xmlns:a16="http://schemas.microsoft.com/office/drawing/2014/main" id="{6A4A617C-5EFD-4E60-9A2B-983539A82EFD}"/>
              </a:ext>
            </a:extLst>
          </p:cNvPr>
          <p:cNvSpPr>
            <a:spLocks noGrp="1"/>
          </p:cNvSpPr>
          <p:nvPr/>
        </p:nvSpPr>
        <p:spPr>
          <a:xfrm>
            <a:off x="6096000" y="3790950"/>
            <a:ext cx="5048250" cy="1809750"/>
          </a:xfrm>
          <a:prstGeom prst="roundRect">
            <a:avLst>
              <a:gd name="adj" fmla="val 9474"/>
            </a:avLst>
          </a:prstGeom>
          <a:solidFill>
            <a:srgbClr val="FFECE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9" name="Dreptunghi 18">
            <a:extLst>
              <a:ext uri="{FF2B5EF4-FFF2-40B4-BE49-F238E27FC236}">
                <a16:creationId xmlns:a16="http://schemas.microsoft.com/office/drawing/2014/main" id="{972F8BD2-47D7-4418-B29A-1768811688E3}"/>
              </a:ext>
            </a:extLst>
          </p:cNvPr>
          <p:cNvSpPr>
            <a:spLocks noGrp="1"/>
          </p:cNvSpPr>
          <p:nvPr/>
        </p:nvSpPr>
        <p:spPr>
          <a:xfrm>
            <a:off x="6096000" y="3790950"/>
            <a:ext cx="76200" cy="1809750"/>
          </a:xfrm>
          <a:prstGeom prst="rect">
            <a:avLst/>
          </a:prstGeom>
          <a:solidFill>
            <a:srgbClr val="FF6B7A"/>
          </a:solidFill>
          <a:ln w="0">
            <a:noFill/>
          </a:ln>
        </p:spPr>
      </p:sp>
      <p:sp>
        <p:nvSpPr>
          <p:cNvPr id="20" name="Dreptunghi 19">
            <a:extLst>
              <a:ext uri="{FF2B5EF4-FFF2-40B4-BE49-F238E27FC236}">
                <a16:creationId xmlns:a16="http://schemas.microsoft.com/office/drawing/2014/main" id="{B6B246FD-9F70-47E2-8DF4-91F07A4FB4B2}"/>
              </a:ext>
            </a:extLst>
          </p:cNvPr>
          <p:cNvSpPr>
            <a:spLocks noGrp="1"/>
          </p:cNvSpPr>
          <p:nvPr/>
        </p:nvSpPr>
        <p:spPr>
          <a:xfrm>
            <a:off x="6305550" y="3924300"/>
            <a:ext cx="47053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del a</a:t>
            </a:r>
          </a:p>
        </p:txBody>
      </p:sp>
      <p:sp>
        <p:nvSpPr>
          <p:cNvPr id="21" name="Dreptunghi 20">
            <a:extLst>
              <a:ext uri="{FF2B5EF4-FFF2-40B4-BE49-F238E27FC236}">
                <a16:creationId xmlns:a16="http://schemas.microsoft.com/office/drawing/2014/main" id="{4CAAA853-4998-44DC-93C6-DC54BD379F7A}"/>
              </a:ext>
            </a:extLst>
          </p:cNvPr>
          <p:cNvSpPr>
            <a:spLocks noGrp="1"/>
          </p:cNvSpPr>
          <p:nvPr/>
        </p:nvSpPr>
        <p:spPr>
          <a:xfrm>
            <a:off x="6305550" y="4343400"/>
            <a:ext cx="47053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Instrucțiunea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del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elimină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legarea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numelui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. </a:t>
            </a:r>
            <a:r>
              <a:rPr sz="1425" b="1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del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nu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este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o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funcție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și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nu se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scrie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del(a)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în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exemplele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introductive.</a:t>
            </a:r>
          </a:p>
        </p:txBody>
      </p:sp>
    </p:spTree>
    <p:extLst>
      <p:ext uri="{BB962C8B-B14F-4D97-AF65-F5344CB8AC3E}">
        <p14:creationId xmlns:p14="http://schemas.microsoft.com/office/powerpoint/2010/main" val="743253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reptunghi 19">
            <a:extLst>
              <a:ext uri="{FF2B5EF4-FFF2-40B4-BE49-F238E27FC236}">
                <a16:creationId xmlns:a16="http://schemas.microsoft.com/office/drawing/2014/main" id="{EC2B547F-5725-414C-8423-1595931F71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3496E6E7-012B-4EBB-B91B-EBD37A900920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LECȚIA 5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A07AA7B8-DC5E-4F84-B969-642B10BF7C7E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Regulile identificatorilor</a:t>
            </a:r>
          </a:p>
        </p:txBody>
      </p:sp>
      <p:pic>
        <p:nvPicPr>
          <p:cNvPr id="23" name="Imagin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F67C4CCB-1F56-423D-926B-FB78031DE878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5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8E3E1E2C-B33B-42DC-9251-8ADF8FE5153B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6191250" cy="4000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txBody>
          <a:bodyPr lIns="114300" tIns="95250" rIns="114300" bIns="76200" anchor="t">
            <a:normAutofit/>
          </a:bodyPr>
          <a:lstStyle/>
          <a:p>
            <a:pPr marL="254000" indent="-127000">
              <a:spcAft>
                <a:spcPts val="900"/>
              </a:spcAft>
              <a:buChar char="•"/>
              <a:defRPr sz="18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Începe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cu o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literă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sau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cu underscore (_).</a:t>
            </a:r>
          </a:p>
          <a:p>
            <a:pPr marL="254000" indent="-127000">
              <a:spcAft>
                <a:spcPts val="900"/>
              </a:spcAft>
              <a:buChar char="•"/>
              <a:defRPr sz="18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Continuă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cu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litere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,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cifre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sau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underscore.</a:t>
            </a:r>
          </a:p>
          <a:p>
            <a:pPr marL="254000" indent="-127000">
              <a:spcAft>
                <a:spcPts val="900"/>
              </a:spcAft>
              <a:buChar char="•"/>
              <a:defRPr sz="18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Nu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poate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coincide cu un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cuvânt-cheie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Python.</a:t>
            </a:r>
          </a:p>
          <a:p>
            <a:pPr marL="254000" indent="-127000">
              <a:spcAft>
                <a:spcPts val="900"/>
              </a:spcAft>
              <a:buChar char="•"/>
              <a:defRPr sz="18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Python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diferențiază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literele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mari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de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cele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mici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: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raza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≠ Raza.</a:t>
            </a:r>
          </a:p>
          <a:p>
            <a:pPr marL="254000" indent="-127000">
              <a:spcAft>
                <a:spcPts val="900"/>
              </a:spcAft>
              <a:buChar char="•"/>
              <a:defRPr sz="18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În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proiecte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școlare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, se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recomandă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nume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fără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diacritice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și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în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stil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snake_case</a:t>
            </a:r>
            <a:r>
              <a:rPr sz="180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7" name="Dreptunghi: colțuri rotunjite 6">
            <a:extLst>
              <a:ext uri="{FF2B5EF4-FFF2-40B4-BE49-F238E27FC236}">
                <a16:creationId xmlns:a16="http://schemas.microsoft.com/office/drawing/2014/main" id="{2B1C338D-D01D-4E7E-BC5B-59C256B99BD1}"/>
              </a:ext>
            </a:extLst>
          </p:cNvPr>
          <p:cNvSpPr>
            <a:spLocks noGrp="1"/>
          </p:cNvSpPr>
          <p:nvPr/>
        </p:nvSpPr>
        <p:spPr>
          <a:xfrm>
            <a:off x="7334250" y="1428750"/>
            <a:ext cx="4000500" cy="876300"/>
          </a:xfrm>
          <a:prstGeom prst="roundRect">
            <a:avLst>
              <a:gd name="adj" fmla="val 19565"/>
            </a:avLst>
          </a:prstGeom>
          <a:solidFill>
            <a:srgbClr val="E7F8F1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72A05EC7-E039-44E0-9C8E-261554378CC0}"/>
              </a:ext>
            </a:extLst>
          </p:cNvPr>
          <p:cNvSpPr>
            <a:spLocks noGrp="1"/>
          </p:cNvSpPr>
          <p:nvPr/>
        </p:nvSpPr>
        <p:spPr>
          <a:xfrm>
            <a:off x="7334250" y="1428750"/>
            <a:ext cx="76200" cy="876300"/>
          </a:xfrm>
          <a:prstGeom prst="rect">
            <a:avLst/>
          </a:prstGeom>
          <a:solidFill>
            <a:srgbClr val="2DBE7F"/>
          </a:solidFill>
          <a:ln w="0">
            <a:noFill/>
          </a:ln>
        </p:spPr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AA5985DB-5319-4894-94C8-FFD13BBDE348}"/>
              </a:ext>
            </a:extLst>
          </p:cNvPr>
          <p:cNvSpPr>
            <a:spLocks noGrp="1"/>
          </p:cNvSpPr>
          <p:nvPr/>
        </p:nvSpPr>
        <p:spPr>
          <a:xfrm>
            <a:off x="7543800" y="1562100"/>
            <a:ext cx="3657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Valide</a:t>
            </a:r>
          </a:p>
        </p:txBody>
      </p:sp>
      <p:sp>
        <p:nvSpPr>
          <p:cNvPr id="10" name="Dreptunghi 9">
            <a:extLst>
              <a:ext uri="{FF2B5EF4-FFF2-40B4-BE49-F238E27FC236}">
                <a16:creationId xmlns:a16="http://schemas.microsoft.com/office/drawing/2014/main" id="{B4A39642-61C0-41DA-B4D3-98839FE868D5}"/>
              </a:ext>
            </a:extLst>
          </p:cNvPr>
          <p:cNvSpPr>
            <a:spLocks noGrp="1"/>
          </p:cNvSpPr>
          <p:nvPr/>
        </p:nvSpPr>
        <p:spPr>
          <a:xfrm>
            <a:off x="7543800" y="1981200"/>
            <a:ext cx="365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raza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,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viteza_medie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, _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contor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, elev2</a:t>
            </a:r>
          </a:p>
        </p:txBody>
      </p:sp>
      <p:sp>
        <p:nvSpPr>
          <p:cNvPr id="11" name="Dreptunghi: colțuri rotunjite 10">
            <a:extLst>
              <a:ext uri="{FF2B5EF4-FFF2-40B4-BE49-F238E27FC236}">
                <a16:creationId xmlns:a16="http://schemas.microsoft.com/office/drawing/2014/main" id="{DD5A7A38-5241-4140-A3BB-DDC76005A617}"/>
              </a:ext>
            </a:extLst>
          </p:cNvPr>
          <p:cNvSpPr>
            <a:spLocks noGrp="1"/>
          </p:cNvSpPr>
          <p:nvPr/>
        </p:nvSpPr>
        <p:spPr>
          <a:xfrm>
            <a:off x="7334250" y="2533650"/>
            <a:ext cx="4000500" cy="876300"/>
          </a:xfrm>
          <a:prstGeom prst="roundRect">
            <a:avLst>
              <a:gd name="adj" fmla="val 19565"/>
            </a:avLst>
          </a:prstGeom>
          <a:solidFill>
            <a:srgbClr val="FFECE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CAB4D36F-21E4-4CC4-A081-1F158EBD368C}"/>
              </a:ext>
            </a:extLst>
          </p:cNvPr>
          <p:cNvSpPr>
            <a:spLocks noGrp="1"/>
          </p:cNvSpPr>
          <p:nvPr/>
        </p:nvSpPr>
        <p:spPr>
          <a:xfrm>
            <a:off x="7334250" y="2533650"/>
            <a:ext cx="76200" cy="876300"/>
          </a:xfrm>
          <a:prstGeom prst="rect">
            <a:avLst/>
          </a:prstGeom>
          <a:solidFill>
            <a:srgbClr val="FF6B7A"/>
          </a:solidFill>
          <a:ln w="0">
            <a:noFill/>
          </a:ln>
        </p:spPr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127FEF4F-13FF-4092-BEC2-C55570172AE5}"/>
              </a:ext>
            </a:extLst>
          </p:cNvPr>
          <p:cNvSpPr>
            <a:spLocks noGrp="1"/>
          </p:cNvSpPr>
          <p:nvPr/>
        </p:nvSpPr>
        <p:spPr>
          <a:xfrm>
            <a:off x="7543800" y="2667000"/>
            <a:ext cx="3657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Nevalide</a:t>
            </a:r>
          </a:p>
        </p:txBody>
      </p:sp>
      <p:sp>
        <p:nvSpPr>
          <p:cNvPr id="14" name="Dreptunghi 13">
            <a:extLst>
              <a:ext uri="{FF2B5EF4-FFF2-40B4-BE49-F238E27FC236}">
                <a16:creationId xmlns:a16="http://schemas.microsoft.com/office/drawing/2014/main" id="{4CA32F34-EC36-4826-AD74-3170712F6F91}"/>
              </a:ext>
            </a:extLst>
          </p:cNvPr>
          <p:cNvSpPr>
            <a:spLocks noGrp="1"/>
          </p:cNvSpPr>
          <p:nvPr/>
        </p:nvSpPr>
        <p:spPr>
          <a:xfrm>
            <a:off x="7543800" y="3086100"/>
            <a:ext cx="365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2elevi,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viteza-medie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,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clasa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a</a:t>
            </a:r>
          </a:p>
        </p:txBody>
      </p:sp>
      <p:sp>
        <p:nvSpPr>
          <p:cNvPr id="15" name="Dreptunghi: colțuri rotunjite 14">
            <a:extLst>
              <a:ext uri="{FF2B5EF4-FFF2-40B4-BE49-F238E27FC236}">
                <a16:creationId xmlns:a16="http://schemas.microsoft.com/office/drawing/2014/main" id="{3A19550B-104E-48B0-A889-251CD4F09304}"/>
              </a:ext>
            </a:extLst>
          </p:cNvPr>
          <p:cNvSpPr>
            <a:spLocks noGrp="1"/>
          </p:cNvSpPr>
          <p:nvPr/>
        </p:nvSpPr>
        <p:spPr>
          <a:xfrm>
            <a:off x="7334250" y="3638550"/>
            <a:ext cx="4000500" cy="876300"/>
          </a:xfrm>
          <a:prstGeom prst="roundRect">
            <a:avLst>
              <a:gd name="adj" fmla="val 19565"/>
            </a:avLst>
          </a:prstGeom>
          <a:solidFill>
            <a:srgbClr val="F0ED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6" name="Dreptunghi 15">
            <a:extLst>
              <a:ext uri="{FF2B5EF4-FFF2-40B4-BE49-F238E27FC236}">
                <a16:creationId xmlns:a16="http://schemas.microsoft.com/office/drawing/2014/main" id="{4A755FD4-029E-45FC-B8B3-05B6DDA6794E}"/>
              </a:ext>
            </a:extLst>
          </p:cNvPr>
          <p:cNvSpPr>
            <a:spLocks noGrp="1"/>
          </p:cNvSpPr>
          <p:nvPr/>
        </p:nvSpPr>
        <p:spPr>
          <a:xfrm>
            <a:off x="7334250" y="3638550"/>
            <a:ext cx="76200" cy="876300"/>
          </a:xfrm>
          <a:prstGeom prst="rect">
            <a:avLst/>
          </a:prstGeom>
          <a:solidFill>
            <a:srgbClr val="8B7CFF"/>
          </a:solidFill>
          <a:ln w="0">
            <a:noFill/>
          </a:ln>
        </p:spPr>
      </p:sp>
      <p:sp>
        <p:nvSpPr>
          <p:cNvPr id="17" name="Dreptunghi 16">
            <a:extLst>
              <a:ext uri="{FF2B5EF4-FFF2-40B4-BE49-F238E27FC236}">
                <a16:creationId xmlns:a16="http://schemas.microsoft.com/office/drawing/2014/main" id="{E0AEE6BC-C5C8-4FB8-BE56-4263CDA9193D}"/>
              </a:ext>
            </a:extLst>
          </p:cNvPr>
          <p:cNvSpPr>
            <a:spLocks noGrp="1"/>
          </p:cNvSpPr>
          <p:nvPr/>
        </p:nvSpPr>
        <p:spPr>
          <a:xfrm>
            <a:off x="7543800" y="3771900"/>
            <a:ext cx="3657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Cuvinte-cheie</a:t>
            </a:r>
          </a:p>
        </p:txBody>
      </p:sp>
      <p:sp>
        <p:nvSpPr>
          <p:cNvPr id="18" name="Dreptunghi 17">
            <a:extLst>
              <a:ext uri="{FF2B5EF4-FFF2-40B4-BE49-F238E27FC236}">
                <a16:creationId xmlns:a16="http://schemas.microsoft.com/office/drawing/2014/main" id="{ED06CCED-D2AB-48C0-A2EE-5F4DC1F020C3}"/>
              </a:ext>
            </a:extLst>
          </p:cNvPr>
          <p:cNvSpPr>
            <a:spLocks noGrp="1"/>
          </p:cNvSpPr>
          <p:nvPr/>
        </p:nvSpPr>
        <p:spPr>
          <a:xfrm>
            <a:off x="7543800" y="4191000"/>
            <a:ext cx="3657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if, for, class, True, None</a:t>
            </a:r>
          </a:p>
        </p:txBody>
      </p:sp>
      <p:sp>
        <p:nvSpPr>
          <p:cNvPr id="19" name="Dreptunghi 18">
            <a:extLst>
              <a:ext uri="{FF2B5EF4-FFF2-40B4-BE49-F238E27FC236}">
                <a16:creationId xmlns:a16="http://schemas.microsoft.com/office/drawing/2014/main" id="{692C99C7-CE2A-4D68-AC5A-8CACB2E43CCD}"/>
              </a:ext>
            </a:extLst>
          </p:cNvPr>
          <p:cNvSpPr>
            <a:spLocks noGrp="1"/>
          </p:cNvSpPr>
          <p:nvPr/>
        </p:nvSpPr>
        <p:spPr>
          <a:xfrm>
            <a:off x="7334250" y="4819650"/>
            <a:ext cx="4000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ctr">
            <a:normAutofit fontScale="94203"/>
          </a:bodyPr>
          <a:lstStyle/>
          <a:p>
            <a:pPr algn="ctr">
              <a:defRPr sz="1725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Un nume bun arată ce reprezintă valoarea.</a:t>
            </a:r>
          </a:p>
        </p:txBody>
      </p:sp>
    </p:spTree>
    <p:extLst>
      <p:ext uri="{BB962C8B-B14F-4D97-AF65-F5344CB8AC3E}">
        <p14:creationId xmlns:p14="http://schemas.microsoft.com/office/powerpoint/2010/main" val="772252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8D41E9FA-897E-4940-8E73-3D060C4415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1A531C29-1B8D-4326-8DC7-DA5BB711BED1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LECȚIA 5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322A7E28-20CD-4994-A4E9-466410F693DF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Nume expresive pentru programe ușor de citit</a:t>
            </a:r>
          </a:p>
        </p:txBody>
      </p:sp>
      <p:pic>
        <p:nvPicPr>
          <p:cNvPr id="18" name="Imagin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DC93BF8B-8B05-45B7-8A40-2E85324AB167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5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6FD4C2FD-6DBA-490B-A4E3-8D1929493202}"/>
              </a:ext>
            </a:extLst>
          </p:cNvPr>
          <p:cNvSpPr>
            <a:spLocks noGrp="1"/>
          </p:cNvSpPr>
          <p:nvPr/>
        </p:nvSpPr>
        <p:spPr>
          <a:xfrm>
            <a:off x="647700" y="1619250"/>
            <a:ext cx="4667250" cy="2667000"/>
          </a:xfrm>
          <a:prstGeom prst="roundRect">
            <a:avLst>
              <a:gd name="adj" fmla="val 6429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7" name="Dreptunghi: colțuri rotunjite 6">
            <a:extLst>
              <a:ext uri="{FF2B5EF4-FFF2-40B4-BE49-F238E27FC236}">
                <a16:creationId xmlns:a16="http://schemas.microsoft.com/office/drawing/2014/main" id="{5F69C08D-C2C2-4C42-917A-1B89B64FC2ED}"/>
              </a:ext>
            </a:extLst>
          </p:cNvPr>
          <p:cNvSpPr>
            <a:spLocks noGrp="1"/>
          </p:cNvSpPr>
          <p:nvPr/>
        </p:nvSpPr>
        <p:spPr>
          <a:xfrm>
            <a:off x="800100" y="175260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FF6B7A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29F36924-433B-4C4F-9F4C-1B2FBC43EFE0}"/>
              </a:ext>
            </a:extLst>
          </p:cNvPr>
          <p:cNvSpPr>
            <a:spLocks noGrp="1"/>
          </p:cNvSpPr>
          <p:nvPr/>
        </p:nvSpPr>
        <p:spPr>
          <a:xfrm>
            <a:off x="809625" y="175260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2712"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GREU DE CITIT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FFF6C134-0C09-41A2-B4F5-C139A0C53C60}"/>
              </a:ext>
            </a:extLst>
          </p:cNvPr>
          <p:cNvSpPr>
            <a:spLocks noGrp="1"/>
          </p:cNvSpPr>
          <p:nvPr/>
        </p:nvSpPr>
        <p:spPr>
          <a:xfrm>
            <a:off x="819150" y="2076450"/>
            <a:ext cx="4324350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r = 10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l = 20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x = 32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a = l * x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318A286E-6614-4FCD-A273-637656512E10}"/>
              </a:ext>
            </a:extLst>
          </p:cNvPr>
          <p:cNvSpPr>
            <a:spLocks noGrp="1"/>
          </p:cNvSpPr>
          <p:nvPr/>
        </p:nvSpPr>
        <p:spPr>
          <a:xfrm>
            <a:off x="6172200" y="1619250"/>
            <a:ext cx="5048250" cy="2667000"/>
          </a:xfrm>
          <a:prstGeom prst="roundRect">
            <a:avLst>
              <a:gd name="adj" fmla="val 6429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11" name="Dreptunghi: colțuri rotunjite 10">
            <a:extLst>
              <a:ext uri="{FF2B5EF4-FFF2-40B4-BE49-F238E27FC236}">
                <a16:creationId xmlns:a16="http://schemas.microsoft.com/office/drawing/2014/main" id="{1E0E2B27-21B5-4007-B12B-0B81768D3ADC}"/>
              </a:ext>
            </a:extLst>
          </p:cNvPr>
          <p:cNvSpPr>
            <a:spLocks noGrp="1"/>
          </p:cNvSpPr>
          <p:nvPr/>
        </p:nvSpPr>
        <p:spPr>
          <a:xfrm>
            <a:off x="6324600" y="175260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2DBE7F"/>
          </a:solidFill>
          <a:ln w="0">
            <a:noFill/>
          </a:ln>
        </p:spPr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E7B28E60-9CFC-47F2-999E-2AF0DC608EB4}"/>
              </a:ext>
            </a:extLst>
          </p:cNvPr>
          <p:cNvSpPr>
            <a:spLocks noGrp="1"/>
          </p:cNvSpPr>
          <p:nvPr/>
        </p:nvSpPr>
        <p:spPr>
          <a:xfrm>
            <a:off x="6334125" y="175260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CLAR</a:t>
            </a:r>
          </a:p>
        </p:txBody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87BA7242-0599-4A92-927B-2E581CB554D1}"/>
              </a:ext>
            </a:extLst>
          </p:cNvPr>
          <p:cNvSpPr>
            <a:spLocks noGrp="1"/>
          </p:cNvSpPr>
          <p:nvPr/>
        </p:nvSpPr>
        <p:spPr>
          <a:xfrm>
            <a:off x="6343650" y="2076450"/>
            <a:ext cx="4705350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raza = 10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lungime = 20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latime = 32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aria = lungime * latime</a:t>
            </a:r>
          </a:p>
        </p:txBody>
      </p:sp>
      <p:sp>
        <p:nvSpPr>
          <p:cNvPr id="14" name="Dreptunghi: colțuri rotunjite 13">
            <a:extLst>
              <a:ext uri="{FF2B5EF4-FFF2-40B4-BE49-F238E27FC236}">
                <a16:creationId xmlns:a16="http://schemas.microsoft.com/office/drawing/2014/main" id="{41DA9E69-8A5C-452E-9289-DF009A3BDCB9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10382250" cy="895350"/>
          </a:xfrm>
          <a:prstGeom prst="roundRect">
            <a:avLst>
              <a:gd name="adj" fmla="val 19149"/>
            </a:avLst>
          </a:prstGeom>
          <a:solidFill>
            <a:srgbClr val="EAF3FC"/>
          </a:solidFill>
          <a:ln w="9525">
            <a:solidFill>
              <a:srgbClr val="3776AB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8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Numele</a:t>
            </a:r>
            <a:r>
              <a:rPr sz="18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scurte</a:t>
            </a:r>
            <a:r>
              <a:rPr sz="18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sunt </a:t>
            </a:r>
            <a:r>
              <a:rPr sz="180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potrivite</a:t>
            </a:r>
            <a:r>
              <a:rPr sz="18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când</a:t>
            </a:r>
            <a:r>
              <a:rPr sz="18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au un </a:t>
            </a:r>
            <a:r>
              <a:rPr sz="180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sens</a:t>
            </a:r>
            <a:r>
              <a:rPr sz="18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consacrat</a:t>
            </a:r>
            <a:r>
              <a:rPr sz="18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: </a:t>
            </a:r>
            <a:r>
              <a:rPr sz="180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x</a:t>
            </a:r>
            <a:r>
              <a:rPr sz="18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, </a:t>
            </a:r>
            <a:r>
              <a:rPr sz="180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y</a:t>
            </a:r>
            <a:r>
              <a:rPr sz="18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pentru</a:t>
            </a:r>
            <a:r>
              <a:rPr sz="18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coordonate</a:t>
            </a:r>
            <a:r>
              <a:rPr sz="18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, </a:t>
            </a:r>
            <a:r>
              <a:rPr sz="1800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i</a:t>
            </a:r>
            <a:r>
              <a:rPr sz="18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pentru</a:t>
            </a:r>
            <a:r>
              <a:rPr sz="18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un </a:t>
            </a:r>
            <a:r>
              <a:rPr sz="180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indice</a:t>
            </a:r>
            <a:r>
              <a:rPr sz="18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, </a:t>
            </a:r>
            <a:r>
              <a:rPr sz="180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n</a:t>
            </a:r>
            <a:r>
              <a:rPr sz="18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pentru</a:t>
            </a:r>
            <a:r>
              <a:rPr sz="18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un </a:t>
            </a:r>
            <a:r>
              <a:rPr sz="180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număr</a:t>
            </a:r>
            <a:r>
              <a:rPr sz="18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de </a:t>
            </a:r>
            <a:r>
              <a:rPr sz="180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elemente</a:t>
            </a:r>
            <a:r>
              <a:rPr sz="180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6333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reptunghi 33">
            <a:extLst>
              <a:ext uri="{FF2B5EF4-FFF2-40B4-BE49-F238E27FC236}">
                <a16:creationId xmlns:a16="http://schemas.microsoft.com/office/drawing/2014/main" id="{EF4ACD6F-52D9-4A4F-B2AF-EA7DA46A77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0B6808A4-115B-4123-A193-3BBD5871D5C4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LECȚIA 5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69B412F0-7A66-4CA3-B076-9989A2C4AFAA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Tipuri de bază în Python</a:t>
            </a:r>
          </a:p>
        </p:txBody>
      </p:sp>
      <p:pic>
        <p:nvPicPr>
          <p:cNvPr id="37" name="Imagine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1FD5743B-23E2-47B9-B8C5-9AA684C669E4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5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E1B3B1AC-C99D-4DF4-9689-E2592FC53D60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2571750" cy="1619250"/>
          </a:xfrm>
          <a:prstGeom prst="roundRect">
            <a:avLst>
              <a:gd name="adj" fmla="val 10588"/>
            </a:avLst>
          </a:prstGeom>
          <a:solidFill>
            <a:srgbClr val="EAF3F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24BAB838-D840-4A0C-B356-42C05672FA16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76200" cy="161925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23D8101C-0020-44F9-8BDF-AFBF360ADB3A}"/>
              </a:ext>
            </a:extLst>
          </p:cNvPr>
          <p:cNvSpPr>
            <a:spLocks noGrp="1"/>
          </p:cNvSpPr>
          <p:nvPr/>
        </p:nvSpPr>
        <p:spPr>
          <a:xfrm>
            <a:off x="762000" y="1543050"/>
            <a:ext cx="2228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11424B13-6CCF-40EA-807B-43D11A6606D4}"/>
              </a:ext>
            </a:extLst>
          </p:cNvPr>
          <p:cNvSpPr>
            <a:spLocks noGrp="1"/>
          </p:cNvSpPr>
          <p:nvPr/>
        </p:nvSpPr>
        <p:spPr>
          <a:xfrm>
            <a:off x="762000" y="1962150"/>
            <a:ext cx="22288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Numere întregi</a:t>
            </a:r>
          </a:p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Ex.: -3, 0, 125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33ACEE0B-5A4F-473F-B29C-1387D0828572}"/>
              </a:ext>
            </a:extLst>
          </p:cNvPr>
          <p:cNvSpPr>
            <a:spLocks noGrp="1"/>
          </p:cNvSpPr>
          <p:nvPr/>
        </p:nvSpPr>
        <p:spPr>
          <a:xfrm>
            <a:off x="3333750" y="1409700"/>
            <a:ext cx="2571750" cy="1619250"/>
          </a:xfrm>
          <a:prstGeom prst="roundRect">
            <a:avLst>
              <a:gd name="adj" fmla="val 10588"/>
            </a:avLst>
          </a:prstGeom>
          <a:solidFill>
            <a:srgbClr val="E7F8F1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1" name="Dreptunghi 10">
            <a:extLst>
              <a:ext uri="{FF2B5EF4-FFF2-40B4-BE49-F238E27FC236}">
                <a16:creationId xmlns:a16="http://schemas.microsoft.com/office/drawing/2014/main" id="{9B44ADC3-4B70-4C97-B074-88E89B533EA7}"/>
              </a:ext>
            </a:extLst>
          </p:cNvPr>
          <p:cNvSpPr>
            <a:spLocks noGrp="1"/>
          </p:cNvSpPr>
          <p:nvPr/>
        </p:nvSpPr>
        <p:spPr>
          <a:xfrm>
            <a:off x="3333750" y="1409700"/>
            <a:ext cx="76200" cy="1619250"/>
          </a:xfrm>
          <a:prstGeom prst="rect">
            <a:avLst/>
          </a:prstGeom>
          <a:solidFill>
            <a:srgbClr val="2DBE7F"/>
          </a:solidFill>
          <a:ln w="0">
            <a:noFill/>
          </a:ln>
        </p:spPr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5383419A-E3F9-4E07-8208-9388FA46E8D4}"/>
              </a:ext>
            </a:extLst>
          </p:cNvPr>
          <p:cNvSpPr>
            <a:spLocks noGrp="1"/>
          </p:cNvSpPr>
          <p:nvPr/>
        </p:nvSpPr>
        <p:spPr>
          <a:xfrm>
            <a:off x="3543300" y="1543050"/>
            <a:ext cx="2228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float</a:t>
            </a:r>
          </a:p>
        </p:txBody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737BF394-C823-4E83-A48D-134E4E34F9BF}"/>
              </a:ext>
            </a:extLst>
          </p:cNvPr>
          <p:cNvSpPr>
            <a:spLocks noGrp="1"/>
          </p:cNvSpPr>
          <p:nvPr/>
        </p:nvSpPr>
        <p:spPr>
          <a:xfrm>
            <a:off x="3543300" y="1962150"/>
            <a:ext cx="22288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Numere reale în virgulă mobilă</a:t>
            </a:r>
          </a:p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Ex.: 3.14, -0.5</a:t>
            </a:r>
          </a:p>
        </p:txBody>
      </p:sp>
      <p:sp>
        <p:nvSpPr>
          <p:cNvPr id="14" name="Dreptunghi: colțuri rotunjite 13">
            <a:extLst>
              <a:ext uri="{FF2B5EF4-FFF2-40B4-BE49-F238E27FC236}">
                <a16:creationId xmlns:a16="http://schemas.microsoft.com/office/drawing/2014/main" id="{FCEE595E-2073-44EF-BADC-79499199BF7C}"/>
              </a:ext>
            </a:extLst>
          </p:cNvPr>
          <p:cNvSpPr>
            <a:spLocks noGrp="1"/>
          </p:cNvSpPr>
          <p:nvPr/>
        </p:nvSpPr>
        <p:spPr>
          <a:xfrm>
            <a:off x="6115050" y="1409700"/>
            <a:ext cx="2571750" cy="1619250"/>
          </a:xfrm>
          <a:prstGeom prst="roundRect">
            <a:avLst>
              <a:gd name="adj" fmla="val 10588"/>
            </a:avLst>
          </a:prstGeom>
          <a:solidFill>
            <a:srgbClr val="F0ED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5" name="Dreptunghi 14">
            <a:extLst>
              <a:ext uri="{FF2B5EF4-FFF2-40B4-BE49-F238E27FC236}">
                <a16:creationId xmlns:a16="http://schemas.microsoft.com/office/drawing/2014/main" id="{CA4CD3C4-7C3F-43F4-8A88-2B2F59C499FF}"/>
              </a:ext>
            </a:extLst>
          </p:cNvPr>
          <p:cNvSpPr>
            <a:spLocks noGrp="1"/>
          </p:cNvSpPr>
          <p:nvPr/>
        </p:nvSpPr>
        <p:spPr>
          <a:xfrm>
            <a:off x="6115050" y="1409700"/>
            <a:ext cx="76200" cy="1619250"/>
          </a:xfrm>
          <a:prstGeom prst="rect">
            <a:avLst/>
          </a:prstGeom>
          <a:solidFill>
            <a:srgbClr val="8B7CFF"/>
          </a:solidFill>
          <a:ln w="0">
            <a:noFill/>
          </a:ln>
        </p:spPr>
      </p:sp>
      <p:sp>
        <p:nvSpPr>
          <p:cNvPr id="16" name="Dreptunghi 15">
            <a:extLst>
              <a:ext uri="{FF2B5EF4-FFF2-40B4-BE49-F238E27FC236}">
                <a16:creationId xmlns:a16="http://schemas.microsoft.com/office/drawing/2014/main" id="{8A681D5E-1A5F-4708-8C2C-EEE785CA9E7B}"/>
              </a:ext>
            </a:extLst>
          </p:cNvPr>
          <p:cNvSpPr>
            <a:spLocks noGrp="1"/>
          </p:cNvSpPr>
          <p:nvPr/>
        </p:nvSpPr>
        <p:spPr>
          <a:xfrm>
            <a:off x="6324600" y="1543050"/>
            <a:ext cx="2228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bool</a:t>
            </a:r>
          </a:p>
        </p:txBody>
      </p:sp>
      <p:sp>
        <p:nvSpPr>
          <p:cNvPr id="17" name="Dreptunghi 16">
            <a:extLst>
              <a:ext uri="{FF2B5EF4-FFF2-40B4-BE49-F238E27FC236}">
                <a16:creationId xmlns:a16="http://schemas.microsoft.com/office/drawing/2014/main" id="{A6DEF066-C167-48C0-9875-756A94731AE4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22288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Valori logice</a:t>
            </a:r>
          </a:p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True, False</a:t>
            </a:r>
          </a:p>
        </p:txBody>
      </p:sp>
      <p:sp>
        <p:nvSpPr>
          <p:cNvPr id="18" name="Dreptunghi: colțuri rotunjite 17">
            <a:extLst>
              <a:ext uri="{FF2B5EF4-FFF2-40B4-BE49-F238E27FC236}">
                <a16:creationId xmlns:a16="http://schemas.microsoft.com/office/drawing/2014/main" id="{2A3451AA-5F39-4B26-B9A0-DA2569F61690}"/>
              </a:ext>
            </a:extLst>
          </p:cNvPr>
          <p:cNvSpPr>
            <a:spLocks noGrp="1"/>
          </p:cNvSpPr>
          <p:nvPr/>
        </p:nvSpPr>
        <p:spPr>
          <a:xfrm>
            <a:off x="8896350" y="1409700"/>
            <a:ext cx="2571750" cy="1619250"/>
          </a:xfrm>
          <a:prstGeom prst="roundRect">
            <a:avLst>
              <a:gd name="adj" fmla="val 10588"/>
            </a:avLst>
          </a:prstGeom>
          <a:solidFill>
            <a:srgbClr val="FFECE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9" name="Dreptunghi 18">
            <a:extLst>
              <a:ext uri="{FF2B5EF4-FFF2-40B4-BE49-F238E27FC236}">
                <a16:creationId xmlns:a16="http://schemas.microsoft.com/office/drawing/2014/main" id="{8521F74C-6F45-4995-888F-B85A42845FDE}"/>
              </a:ext>
            </a:extLst>
          </p:cNvPr>
          <p:cNvSpPr>
            <a:spLocks noGrp="1"/>
          </p:cNvSpPr>
          <p:nvPr/>
        </p:nvSpPr>
        <p:spPr>
          <a:xfrm>
            <a:off x="8896350" y="1409700"/>
            <a:ext cx="76200" cy="1619250"/>
          </a:xfrm>
          <a:prstGeom prst="rect">
            <a:avLst/>
          </a:prstGeom>
          <a:solidFill>
            <a:srgbClr val="FF6B7A"/>
          </a:solidFill>
          <a:ln w="0">
            <a:noFill/>
          </a:ln>
        </p:spPr>
      </p:sp>
      <p:sp>
        <p:nvSpPr>
          <p:cNvPr id="20" name="Dreptunghi 19">
            <a:extLst>
              <a:ext uri="{FF2B5EF4-FFF2-40B4-BE49-F238E27FC236}">
                <a16:creationId xmlns:a16="http://schemas.microsoft.com/office/drawing/2014/main" id="{16D7DCCF-39D6-4A21-A130-1AF3B283A3AD}"/>
              </a:ext>
            </a:extLst>
          </p:cNvPr>
          <p:cNvSpPr>
            <a:spLocks noGrp="1"/>
          </p:cNvSpPr>
          <p:nvPr/>
        </p:nvSpPr>
        <p:spPr>
          <a:xfrm>
            <a:off x="9105900" y="1543050"/>
            <a:ext cx="2228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str</a:t>
            </a:r>
          </a:p>
        </p:txBody>
      </p:sp>
      <p:sp>
        <p:nvSpPr>
          <p:cNvPr id="21" name="Dreptunghi 20">
            <a:extLst>
              <a:ext uri="{FF2B5EF4-FFF2-40B4-BE49-F238E27FC236}">
                <a16:creationId xmlns:a16="http://schemas.microsoft.com/office/drawing/2014/main" id="{36B1A54C-3269-414D-BFF6-357079A782D9}"/>
              </a:ext>
            </a:extLst>
          </p:cNvPr>
          <p:cNvSpPr>
            <a:spLocks noGrp="1"/>
          </p:cNvSpPr>
          <p:nvPr/>
        </p:nvSpPr>
        <p:spPr>
          <a:xfrm>
            <a:off x="9105900" y="1962150"/>
            <a:ext cx="22288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Șiruri de caractere</a:t>
            </a:r>
          </a:p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Ex.: "Python"</a:t>
            </a:r>
          </a:p>
        </p:txBody>
      </p:sp>
      <p:sp>
        <p:nvSpPr>
          <p:cNvPr id="22" name="Dreptunghi: colțuri rotunjite 21">
            <a:extLst>
              <a:ext uri="{FF2B5EF4-FFF2-40B4-BE49-F238E27FC236}">
                <a16:creationId xmlns:a16="http://schemas.microsoft.com/office/drawing/2014/main" id="{5E4E85C8-87A8-4C40-93EB-CC0444BA28D9}"/>
              </a:ext>
            </a:extLst>
          </p:cNvPr>
          <p:cNvSpPr>
            <a:spLocks noGrp="1"/>
          </p:cNvSpPr>
          <p:nvPr/>
        </p:nvSpPr>
        <p:spPr>
          <a:xfrm>
            <a:off x="1943100" y="3429000"/>
            <a:ext cx="3714750" cy="1524000"/>
          </a:xfrm>
          <a:prstGeom prst="roundRect">
            <a:avLst>
              <a:gd name="adj" fmla="val 11250"/>
            </a:avLst>
          </a:prstGeom>
          <a:solidFill>
            <a:srgbClr val="FFF6C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23" name="Dreptunghi 22">
            <a:extLst>
              <a:ext uri="{FF2B5EF4-FFF2-40B4-BE49-F238E27FC236}">
                <a16:creationId xmlns:a16="http://schemas.microsoft.com/office/drawing/2014/main" id="{E2E7C23D-377A-4A16-B27B-D4F1C67A0AC5}"/>
              </a:ext>
            </a:extLst>
          </p:cNvPr>
          <p:cNvSpPr>
            <a:spLocks noGrp="1"/>
          </p:cNvSpPr>
          <p:nvPr/>
        </p:nvSpPr>
        <p:spPr>
          <a:xfrm>
            <a:off x="1943100" y="3429000"/>
            <a:ext cx="76200" cy="152400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</p:sp>
      <p:sp>
        <p:nvSpPr>
          <p:cNvPr id="24" name="Dreptunghi 23">
            <a:extLst>
              <a:ext uri="{FF2B5EF4-FFF2-40B4-BE49-F238E27FC236}">
                <a16:creationId xmlns:a16="http://schemas.microsoft.com/office/drawing/2014/main" id="{AA5B5AD6-B934-4552-A7E8-9DBAC2756E94}"/>
              </a:ext>
            </a:extLst>
          </p:cNvPr>
          <p:cNvSpPr>
            <a:spLocks noGrp="1"/>
          </p:cNvSpPr>
          <p:nvPr/>
        </p:nvSpPr>
        <p:spPr>
          <a:xfrm>
            <a:off x="2152650" y="3562350"/>
            <a:ext cx="3371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complex</a:t>
            </a:r>
          </a:p>
        </p:txBody>
      </p:sp>
      <p:sp>
        <p:nvSpPr>
          <p:cNvPr id="25" name="Dreptunghi 24">
            <a:extLst>
              <a:ext uri="{FF2B5EF4-FFF2-40B4-BE49-F238E27FC236}">
                <a16:creationId xmlns:a16="http://schemas.microsoft.com/office/drawing/2014/main" id="{994B2782-127B-4DA0-9DE6-58A69109C907}"/>
              </a:ext>
            </a:extLst>
          </p:cNvPr>
          <p:cNvSpPr>
            <a:spLocks noGrp="1"/>
          </p:cNvSpPr>
          <p:nvPr/>
        </p:nvSpPr>
        <p:spPr>
          <a:xfrm>
            <a:off x="2152650" y="3981450"/>
            <a:ext cx="33718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Numere complexe</a:t>
            </a:r>
          </a:p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Ex.: 2 + 3j</a:t>
            </a:r>
          </a:p>
        </p:txBody>
      </p:sp>
      <p:sp>
        <p:nvSpPr>
          <p:cNvPr id="26" name="Dreptunghi: colțuri rotunjite 25">
            <a:extLst>
              <a:ext uri="{FF2B5EF4-FFF2-40B4-BE49-F238E27FC236}">
                <a16:creationId xmlns:a16="http://schemas.microsoft.com/office/drawing/2014/main" id="{E9CFEC95-F969-43DE-BE74-D13122CDAE30}"/>
              </a:ext>
            </a:extLst>
          </p:cNvPr>
          <p:cNvSpPr>
            <a:spLocks noGrp="1"/>
          </p:cNvSpPr>
          <p:nvPr/>
        </p:nvSpPr>
        <p:spPr>
          <a:xfrm>
            <a:off x="6534150" y="3429000"/>
            <a:ext cx="3714750" cy="152400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27" name="Dreptunghi 26">
            <a:extLst>
              <a:ext uri="{FF2B5EF4-FFF2-40B4-BE49-F238E27FC236}">
                <a16:creationId xmlns:a16="http://schemas.microsoft.com/office/drawing/2014/main" id="{B764B531-C3B2-495B-86C1-F6558A215990}"/>
              </a:ext>
            </a:extLst>
          </p:cNvPr>
          <p:cNvSpPr>
            <a:spLocks noGrp="1"/>
          </p:cNvSpPr>
          <p:nvPr/>
        </p:nvSpPr>
        <p:spPr>
          <a:xfrm>
            <a:off x="6534150" y="3429000"/>
            <a:ext cx="76200" cy="1524000"/>
          </a:xfrm>
          <a:prstGeom prst="rect">
            <a:avLst/>
          </a:prstGeom>
          <a:solidFill>
            <a:srgbClr val="58657A"/>
          </a:solidFill>
          <a:ln w="0">
            <a:noFill/>
          </a:ln>
        </p:spPr>
      </p:sp>
      <p:sp>
        <p:nvSpPr>
          <p:cNvPr id="28" name="Dreptunghi 27">
            <a:extLst>
              <a:ext uri="{FF2B5EF4-FFF2-40B4-BE49-F238E27FC236}">
                <a16:creationId xmlns:a16="http://schemas.microsoft.com/office/drawing/2014/main" id="{4DF9A964-92BE-4962-B370-F2CC234DCA99}"/>
              </a:ext>
            </a:extLst>
          </p:cNvPr>
          <p:cNvSpPr>
            <a:spLocks noGrp="1"/>
          </p:cNvSpPr>
          <p:nvPr/>
        </p:nvSpPr>
        <p:spPr>
          <a:xfrm>
            <a:off x="6743700" y="3562350"/>
            <a:ext cx="3371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bytes</a:t>
            </a:r>
          </a:p>
        </p:txBody>
      </p:sp>
      <p:sp>
        <p:nvSpPr>
          <p:cNvPr id="29" name="Dreptunghi 28">
            <a:extLst>
              <a:ext uri="{FF2B5EF4-FFF2-40B4-BE49-F238E27FC236}">
                <a16:creationId xmlns:a16="http://schemas.microsoft.com/office/drawing/2014/main" id="{829F0043-9662-4AA0-8DB1-677B09C676CD}"/>
              </a:ext>
            </a:extLst>
          </p:cNvPr>
          <p:cNvSpPr>
            <a:spLocks noGrp="1"/>
          </p:cNvSpPr>
          <p:nvPr/>
        </p:nvSpPr>
        <p:spPr>
          <a:xfrm>
            <a:off x="6743700" y="3981450"/>
            <a:ext cx="33718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Secvențe de octeți</a:t>
            </a:r>
          </a:p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Ex.: b"ABC"</a:t>
            </a:r>
          </a:p>
        </p:txBody>
      </p:sp>
      <p:sp>
        <p:nvSpPr>
          <p:cNvPr id="30" name="Dreptunghi: colțuri rotunjite 29">
            <a:extLst>
              <a:ext uri="{FF2B5EF4-FFF2-40B4-BE49-F238E27FC236}">
                <a16:creationId xmlns:a16="http://schemas.microsoft.com/office/drawing/2014/main" id="{6BD05C61-A252-4742-8AA5-5B979D4AFE91}"/>
              </a:ext>
            </a:extLst>
          </p:cNvPr>
          <p:cNvSpPr>
            <a:spLocks noGrp="1"/>
          </p:cNvSpPr>
          <p:nvPr/>
        </p:nvSpPr>
        <p:spPr>
          <a:xfrm>
            <a:off x="3143250" y="5334000"/>
            <a:ext cx="5905500" cy="914400"/>
          </a:xfrm>
          <a:prstGeom prst="roundRect">
            <a:avLst>
              <a:gd name="adj" fmla="val 18750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31" name="Dreptunghi: colțuri rotunjite 30">
            <a:extLst>
              <a:ext uri="{FF2B5EF4-FFF2-40B4-BE49-F238E27FC236}">
                <a16:creationId xmlns:a16="http://schemas.microsoft.com/office/drawing/2014/main" id="{7189F748-9BD3-410B-8889-4DFC7EF226BC}"/>
              </a:ext>
            </a:extLst>
          </p:cNvPr>
          <p:cNvSpPr>
            <a:spLocks noGrp="1"/>
          </p:cNvSpPr>
          <p:nvPr/>
        </p:nvSpPr>
        <p:spPr>
          <a:xfrm>
            <a:off x="3295650" y="54673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 w="0">
            <a:noFill/>
          </a:ln>
        </p:spPr>
      </p:sp>
      <p:sp>
        <p:nvSpPr>
          <p:cNvPr id="32" name="Dreptunghi 31">
            <a:extLst>
              <a:ext uri="{FF2B5EF4-FFF2-40B4-BE49-F238E27FC236}">
                <a16:creationId xmlns:a16="http://schemas.microsoft.com/office/drawing/2014/main" id="{A7C87C7D-4DA9-455E-97DB-F04FD917FCCB}"/>
              </a:ext>
            </a:extLst>
          </p:cNvPr>
          <p:cNvSpPr>
            <a:spLocks noGrp="1"/>
          </p:cNvSpPr>
          <p:nvPr/>
        </p:nvSpPr>
        <p:spPr>
          <a:xfrm>
            <a:off x="3305175" y="546735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33" name="Dreptunghi 32">
            <a:extLst>
              <a:ext uri="{FF2B5EF4-FFF2-40B4-BE49-F238E27FC236}">
                <a16:creationId xmlns:a16="http://schemas.microsoft.com/office/drawing/2014/main" id="{30E72EA5-1EFF-460B-ACC8-5641077A634C}"/>
              </a:ext>
            </a:extLst>
          </p:cNvPr>
          <p:cNvSpPr>
            <a:spLocks noGrp="1"/>
          </p:cNvSpPr>
          <p:nvPr/>
        </p:nvSpPr>
        <p:spPr>
          <a:xfrm>
            <a:off x="3314700" y="5791200"/>
            <a:ext cx="55626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65833" lnSpcReduction="20000"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type(10)       # &lt;class 'int'&gt;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type(3.14)     # &lt;class 'float'&gt;</a:t>
            </a:r>
          </a:p>
        </p:txBody>
      </p:sp>
    </p:spTree>
    <p:extLst>
      <p:ext uri="{BB962C8B-B14F-4D97-AF65-F5344CB8AC3E}">
        <p14:creationId xmlns:p14="http://schemas.microsoft.com/office/powerpoint/2010/main" val="371231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reptunghi 15">
            <a:extLst>
              <a:ext uri="{FF2B5EF4-FFF2-40B4-BE49-F238E27FC236}">
                <a16:creationId xmlns:a16="http://schemas.microsoft.com/office/drawing/2014/main" id="{20522734-45F5-48FA-A508-21A1FCE77E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F4E8EF28-79A8-47CE-B389-7A86721CEE08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LECȚIA 5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EC03A193-0AF9-41DA-AD2B-B5FCE5E6D39B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Tipare dinamice și conversii explicite</a:t>
            </a:r>
          </a:p>
        </p:txBody>
      </p:sp>
      <p:pic>
        <p:nvPicPr>
          <p:cNvPr id="19" name="Imagin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25DC01AF-F28D-407E-B2E9-94D3BD4B000B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5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BB30BCEE-FA84-4AD9-86C2-1F6329DA14EA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857750" cy="257175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7" name="Dreptunghi: colțuri rotunjite 6">
            <a:extLst>
              <a:ext uri="{FF2B5EF4-FFF2-40B4-BE49-F238E27FC236}">
                <a16:creationId xmlns:a16="http://schemas.microsoft.com/office/drawing/2014/main" id="{11F844A0-CEC6-4FBB-8209-4D9EC1F5A5B1}"/>
              </a:ext>
            </a:extLst>
          </p:cNvPr>
          <p:cNvSpPr>
            <a:spLocks noGrp="1"/>
          </p:cNvSpPr>
          <p:nvPr/>
        </p:nvSpPr>
        <p:spPr>
          <a:xfrm>
            <a:off x="819150" y="16573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428535E3-5870-4E21-8863-B00F1CD7FEC4}"/>
              </a:ext>
            </a:extLst>
          </p:cNvPr>
          <p:cNvSpPr>
            <a:spLocks noGrp="1"/>
          </p:cNvSpPr>
          <p:nvPr/>
        </p:nvSpPr>
        <p:spPr>
          <a:xfrm>
            <a:off x="828675" y="165735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TIP DINAMIC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329A5D2A-834C-42C2-AB17-DDCC4A859DFF}"/>
              </a:ext>
            </a:extLst>
          </p:cNvPr>
          <p:cNvSpPr>
            <a:spLocks noGrp="1"/>
          </p:cNvSpPr>
          <p:nvPr/>
        </p:nvSpPr>
        <p:spPr>
          <a:xfrm>
            <a:off x="838200" y="1981200"/>
            <a:ext cx="451485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x = 10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print(type(x))  # int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x = "zece"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print(type(x))  # str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DA1881AB-3B1A-4426-818E-740F4BB56C07}"/>
              </a:ext>
            </a:extLst>
          </p:cNvPr>
          <p:cNvSpPr>
            <a:spLocks noGrp="1"/>
          </p:cNvSpPr>
          <p:nvPr/>
        </p:nvSpPr>
        <p:spPr>
          <a:xfrm>
            <a:off x="6191250" y="1524000"/>
            <a:ext cx="5143500" cy="257175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11" name="Dreptunghi: colțuri rotunjite 10">
            <a:extLst>
              <a:ext uri="{FF2B5EF4-FFF2-40B4-BE49-F238E27FC236}">
                <a16:creationId xmlns:a16="http://schemas.microsoft.com/office/drawing/2014/main" id="{2D819CDB-6653-466D-8721-E11F0977C762}"/>
              </a:ext>
            </a:extLst>
          </p:cNvPr>
          <p:cNvSpPr>
            <a:spLocks noGrp="1"/>
          </p:cNvSpPr>
          <p:nvPr/>
        </p:nvSpPr>
        <p:spPr>
          <a:xfrm>
            <a:off x="6343650" y="16573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2DBE7F"/>
          </a:solidFill>
          <a:ln w="0">
            <a:noFill/>
          </a:ln>
        </p:spPr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0B2ECC0A-CBBD-4D18-A61B-F2E712497AB1}"/>
              </a:ext>
            </a:extLst>
          </p:cNvPr>
          <p:cNvSpPr>
            <a:spLocks noGrp="1"/>
          </p:cNvSpPr>
          <p:nvPr/>
        </p:nvSpPr>
        <p:spPr>
          <a:xfrm>
            <a:off x="6353175" y="165735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CONVERSII</a:t>
            </a:r>
          </a:p>
        </p:txBody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DDF84ABC-2B32-42A5-A2FC-41FA7C32EED5}"/>
              </a:ext>
            </a:extLst>
          </p:cNvPr>
          <p:cNvSpPr>
            <a:spLocks noGrp="1"/>
          </p:cNvSpPr>
          <p:nvPr/>
        </p:nvSpPr>
        <p:spPr>
          <a:xfrm>
            <a:off x="6362700" y="1981200"/>
            <a:ext cx="48006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varsta = int(input("Vârsta: "))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inaltime = float(input("Înălțimea: "))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mesaj = str(2026)</a:t>
            </a:r>
          </a:p>
        </p:txBody>
      </p:sp>
      <p:sp>
        <p:nvSpPr>
          <p:cNvPr id="14" name="Dreptunghi: colțuri rotunjite 13">
            <a:extLst>
              <a:ext uri="{FF2B5EF4-FFF2-40B4-BE49-F238E27FC236}">
                <a16:creationId xmlns:a16="http://schemas.microsoft.com/office/drawing/2014/main" id="{A871982D-4E7C-4484-9C0C-82285ADBF02D}"/>
              </a:ext>
            </a:extLst>
          </p:cNvPr>
          <p:cNvSpPr>
            <a:spLocks noGrp="1"/>
          </p:cNvSpPr>
          <p:nvPr/>
        </p:nvSpPr>
        <p:spPr>
          <a:xfrm>
            <a:off x="1257300" y="4667250"/>
            <a:ext cx="9620250" cy="704850"/>
          </a:xfrm>
          <a:prstGeom prst="roundRect">
            <a:avLst>
              <a:gd name="adj" fmla="val 24324"/>
            </a:avLst>
          </a:prstGeom>
          <a:solidFill>
            <a:srgbClr val="FFF6CC"/>
          </a:solidFill>
          <a:ln w="9525">
            <a:solidFill>
              <a:srgbClr val="FFD43B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9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input() întoarce întotdeauna un șir de caractere. Convertim înaintea calculelor.</a:t>
            </a:r>
          </a:p>
        </p:txBody>
      </p:sp>
      <p:sp>
        <p:nvSpPr>
          <p:cNvPr id="15" name="Dreptunghi 14">
            <a:extLst>
              <a:ext uri="{FF2B5EF4-FFF2-40B4-BE49-F238E27FC236}">
                <a16:creationId xmlns:a16="http://schemas.microsoft.com/office/drawing/2014/main" id="{F340AC10-B6E6-4084-A863-BEA7025F6BB9}"/>
              </a:ext>
            </a:extLst>
          </p:cNvPr>
          <p:cNvSpPr>
            <a:spLocks noGrp="1"/>
          </p:cNvSpPr>
          <p:nvPr/>
        </p:nvSpPr>
        <p:spPr>
          <a:xfrm>
            <a:off x="2381250" y="561975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ctr">
              <a:defRPr sz="1575" b="0">
                <a:solidFill>
                  <a:srgbClr val="FF6B7A"/>
                </a:solidFill>
                <a:latin typeface="Arial"/>
                <a:ea typeface="Arial"/>
                <a:cs typeface="Arial"/>
              </a:defRPr>
            </a:pPr>
            <a:r>
              <a:rPr sz="1575" b="0" dirty="0" err="1">
                <a:solidFill>
                  <a:srgbClr val="FF6B7A"/>
                </a:solidFill>
                <a:latin typeface="Arial"/>
                <a:ea typeface="Arial"/>
                <a:cs typeface="Arial"/>
              </a:rPr>
              <a:t>Exemplu</a:t>
            </a:r>
            <a:r>
              <a:rPr sz="1575" b="0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 de </a:t>
            </a:r>
            <a:r>
              <a:rPr sz="1575" b="0" dirty="0" err="1">
                <a:solidFill>
                  <a:srgbClr val="FF6B7A"/>
                </a:solidFill>
                <a:latin typeface="Arial"/>
                <a:ea typeface="Arial"/>
                <a:cs typeface="Arial"/>
              </a:rPr>
              <a:t>eroare</a:t>
            </a:r>
            <a:r>
              <a:rPr sz="1575" b="0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: "10" + 2 </a:t>
            </a:r>
            <a:r>
              <a:rPr lang="ro-RO" sz="1575" b="0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- </a:t>
            </a:r>
            <a:r>
              <a:rPr sz="1575" b="0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produce </a:t>
            </a:r>
            <a:r>
              <a:rPr sz="1575" b="0" dirty="0" err="1">
                <a:solidFill>
                  <a:srgbClr val="FF6B7A"/>
                </a:solidFill>
                <a:latin typeface="Arial"/>
                <a:ea typeface="Arial"/>
                <a:cs typeface="Arial"/>
              </a:rPr>
              <a:t>TypeError</a:t>
            </a:r>
            <a:r>
              <a:rPr sz="1575" b="0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5271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reptunghi 26">
            <a:extLst>
              <a:ext uri="{FF2B5EF4-FFF2-40B4-BE49-F238E27FC236}">
                <a16:creationId xmlns:a16="http://schemas.microsoft.com/office/drawing/2014/main" id="{B4AAF926-8AE2-4CCB-AA8F-37BB094CEC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613CA54E-F5BD-40FF-9792-18A65A5C63E4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LECȚIA 5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27FA8D82-844C-478F-959A-CCBF7EC46011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Ordinea execuției și actualizarea unei valori</a:t>
            </a:r>
          </a:p>
        </p:txBody>
      </p:sp>
      <p:pic>
        <p:nvPicPr>
          <p:cNvPr id="30" name="Imagin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2E068DD6-BFBE-4C64-839B-6E1BC643ED96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5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E063E484-3184-48C3-8B55-28A146C3BD27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381500" cy="2190750"/>
          </a:xfrm>
          <a:prstGeom prst="roundRect">
            <a:avLst>
              <a:gd name="adj" fmla="val 7826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7" name="Dreptunghi: colțuri rotunjite 6">
            <a:extLst>
              <a:ext uri="{FF2B5EF4-FFF2-40B4-BE49-F238E27FC236}">
                <a16:creationId xmlns:a16="http://schemas.microsoft.com/office/drawing/2014/main" id="{1B7D2814-76C3-4A08-8CBE-6D64BECACD0B}"/>
              </a:ext>
            </a:extLst>
          </p:cNvPr>
          <p:cNvSpPr>
            <a:spLocks noGrp="1"/>
          </p:cNvSpPr>
          <p:nvPr/>
        </p:nvSpPr>
        <p:spPr>
          <a:xfrm>
            <a:off x="819150" y="16573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1D9274DC-677C-4A00-B56B-5621B5C94FB5}"/>
              </a:ext>
            </a:extLst>
          </p:cNvPr>
          <p:cNvSpPr>
            <a:spLocks noGrp="1"/>
          </p:cNvSpPr>
          <p:nvPr/>
        </p:nvSpPr>
        <p:spPr>
          <a:xfrm>
            <a:off x="828675" y="165735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42428C8A-3D43-4F4C-BA0D-CF97F6941CCE}"/>
              </a:ext>
            </a:extLst>
          </p:cNvPr>
          <p:cNvSpPr>
            <a:spLocks noGrp="1"/>
          </p:cNvSpPr>
          <p:nvPr/>
        </p:nvSpPr>
        <p:spPr>
          <a:xfrm>
            <a:off x="838200" y="1981200"/>
            <a:ext cx="403860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a = 2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a = a + 2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print(a)  # 4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C2F849EB-316C-42FF-8E20-09092B370813}"/>
              </a:ext>
            </a:extLst>
          </p:cNvPr>
          <p:cNvSpPr>
            <a:spLocks noGrp="1"/>
          </p:cNvSpPr>
          <p:nvPr/>
        </p:nvSpPr>
        <p:spPr>
          <a:xfrm>
            <a:off x="6191250" y="1524000"/>
            <a:ext cx="4381500" cy="2190750"/>
          </a:xfrm>
          <a:prstGeom prst="roundRect">
            <a:avLst>
              <a:gd name="adj" fmla="val 7826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11" name="Dreptunghi: colțuri rotunjite 10">
            <a:extLst>
              <a:ext uri="{FF2B5EF4-FFF2-40B4-BE49-F238E27FC236}">
                <a16:creationId xmlns:a16="http://schemas.microsoft.com/office/drawing/2014/main" id="{3413FDE9-13B2-4A8E-97CD-52017DC8DE6C}"/>
              </a:ext>
            </a:extLst>
          </p:cNvPr>
          <p:cNvSpPr>
            <a:spLocks noGrp="1"/>
          </p:cNvSpPr>
          <p:nvPr/>
        </p:nvSpPr>
        <p:spPr>
          <a:xfrm>
            <a:off x="6343650" y="16573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2DBE7F"/>
          </a:solidFill>
          <a:ln w="0">
            <a:noFill/>
          </a:ln>
        </p:spPr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A9A7A7BE-C186-4BE9-BE44-2CB34FC612DD}"/>
              </a:ext>
            </a:extLst>
          </p:cNvPr>
          <p:cNvSpPr>
            <a:spLocks noGrp="1"/>
          </p:cNvSpPr>
          <p:nvPr/>
        </p:nvSpPr>
        <p:spPr>
          <a:xfrm>
            <a:off x="6353175" y="165735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83889" lnSpcReduction="20000"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ASIGNARE AUGMENTATĂ</a:t>
            </a:r>
          </a:p>
        </p:txBody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23D37539-06BA-4D1E-9E44-6D7BCD6188A8}"/>
              </a:ext>
            </a:extLst>
          </p:cNvPr>
          <p:cNvSpPr>
            <a:spLocks noGrp="1"/>
          </p:cNvSpPr>
          <p:nvPr/>
        </p:nvSpPr>
        <p:spPr>
          <a:xfrm>
            <a:off x="6362700" y="1981200"/>
            <a:ext cx="403860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a = 2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a += 2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print(a)  # 4</a:t>
            </a:r>
          </a:p>
        </p:txBody>
      </p:sp>
      <p:sp>
        <p:nvSpPr>
          <p:cNvPr id="14" name="Dreptunghi: colțuri rotunjite 13">
            <a:extLst>
              <a:ext uri="{FF2B5EF4-FFF2-40B4-BE49-F238E27FC236}">
                <a16:creationId xmlns:a16="http://schemas.microsoft.com/office/drawing/2014/main" id="{BDA4BAF6-30C1-4746-93BE-0AF05F1A53DC}"/>
              </a:ext>
            </a:extLst>
          </p:cNvPr>
          <p:cNvSpPr>
            <a:spLocks noGrp="1"/>
          </p:cNvSpPr>
          <p:nvPr/>
        </p:nvSpPr>
        <p:spPr>
          <a:xfrm>
            <a:off x="1143000" y="4238625"/>
            <a:ext cx="990600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9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În</a:t>
            </a:r>
            <a:r>
              <a:rPr sz="195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 = a + 2</a:t>
            </a:r>
            <a:r>
              <a:rPr sz="195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, Python </a:t>
            </a:r>
            <a:r>
              <a:rPr sz="195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citește</a:t>
            </a:r>
            <a:r>
              <a:rPr sz="195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mai</a:t>
            </a:r>
            <a:r>
              <a:rPr sz="195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întâi</a:t>
            </a:r>
            <a:r>
              <a:rPr sz="195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valoarea</a:t>
            </a:r>
            <a:r>
              <a:rPr sz="195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curentă</a:t>
            </a:r>
            <a:r>
              <a:rPr sz="195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a </a:t>
            </a:r>
            <a:r>
              <a:rPr sz="195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lui</a:t>
            </a:r>
            <a:r>
              <a:rPr sz="195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</a:t>
            </a:r>
            <a:r>
              <a:rPr sz="195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, </a:t>
            </a:r>
            <a:r>
              <a:rPr sz="195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calculează</a:t>
            </a:r>
            <a:r>
              <a:rPr sz="195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suma</a:t>
            </a:r>
            <a:r>
              <a:rPr sz="195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și</a:t>
            </a:r>
            <a:r>
              <a:rPr sz="195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apoi</a:t>
            </a:r>
            <a:r>
              <a:rPr sz="195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reasignează</a:t>
            </a:r>
            <a:r>
              <a:rPr sz="195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numele</a:t>
            </a:r>
            <a:r>
              <a:rPr sz="1950" b="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5" name="Dreptunghi: colțuri rotunjite 14">
            <a:extLst>
              <a:ext uri="{FF2B5EF4-FFF2-40B4-BE49-F238E27FC236}">
                <a16:creationId xmlns:a16="http://schemas.microsoft.com/office/drawing/2014/main" id="{2CDF991B-3735-4B75-8630-B99D12F4DC33}"/>
              </a:ext>
            </a:extLst>
          </p:cNvPr>
          <p:cNvSpPr>
            <a:spLocks noGrp="1"/>
          </p:cNvSpPr>
          <p:nvPr/>
        </p:nvSpPr>
        <p:spPr>
          <a:xfrm>
            <a:off x="1981200" y="5524500"/>
            <a:ext cx="2476500" cy="762000"/>
          </a:xfrm>
          <a:prstGeom prst="roundRect">
            <a:avLst>
              <a:gd name="adj" fmla="val 25000"/>
            </a:avLst>
          </a:prstGeom>
          <a:solidFill>
            <a:srgbClr val="EAF3F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6" name="Dreptunghi 15">
            <a:extLst>
              <a:ext uri="{FF2B5EF4-FFF2-40B4-BE49-F238E27FC236}">
                <a16:creationId xmlns:a16="http://schemas.microsoft.com/office/drawing/2014/main" id="{FC69B4DA-795A-45DD-A71F-AE0D185E3EFB}"/>
              </a:ext>
            </a:extLst>
          </p:cNvPr>
          <p:cNvSpPr>
            <a:spLocks noGrp="1"/>
          </p:cNvSpPr>
          <p:nvPr/>
        </p:nvSpPr>
        <p:spPr>
          <a:xfrm>
            <a:off x="1981200" y="5524500"/>
            <a:ext cx="76200" cy="7620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17" name="Dreptunghi 16">
            <a:extLst>
              <a:ext uri="{FF2B5EF4-FFF2-40B4-BE49-F238E27FC236}">
                <a16:creationId xmlns:a16="http://schemas.microsoft.com/office/drawing/2014/main" id="{BD98F57D-BD6F-44A7-9EBF-FF62840771E7}"/>
              </a:ext>
            </a:extLst>
          </p:cNvPr>
          <p:cNvSpPr>
            <a:spLocks noGrp="1"/>
          </p:cNvSpPr>
          <p:nvPr/>
        </p:nvSpPr>
        <p:spPr>
          <a:xfrm>
            <a:off x="2190750" y="5657849"/>
            <a:ext cx="2133600" cy="402167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+=</a:t>
            </a:r>
          </a:p>
        </p:txBody>
      </p:sp>
      <p:sp>
        <p:nvSpPr>
          <p:cNvPr id="18" name="Dreptunghi 17">
            <a:extLst>
              <a:ext uri="{FF2B5EF4-FFF2-40B4-BE49-F238E27FC236}">
                <a16:creationId xmlns:a16="http://schemas.microsoft.com/office/drawing/2014/main" id="{71DA4F28-A90F-42BD-A1CC-A3938BBE9288}"/>
              </a:ext>
            </a:extLst>
          </p:cNvPr>
          <p:cNvSpPr>
            <a:spLocks noGrp="1"/>
          </p:cNvSpPr>
          <p:nvPr/>
        </p:nvSpPr>
        <p:spPr>
          <a:xfrm>
            <a:off x="2190750" y="6076949"/>
            <a:ext cx="2133600" cy="45719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adunare</a:t>
            </a:r>
            <a:endParaRPr sz="1400" b="0" dirty="0">
              <a:solidFill>
                <a:srgbClr val="5865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Dreptunghi: colțuri rotunjite 18">
            <a:extLst>
              <a:ext uri="{FF2B5EF4-FFF2-40B4-BE49-F238E27FC236}">
                <a16:creationId xmlns:a16="http://schemas.microsoft.com/office/drawing/2014/main" id="{46B81C2A-D45B-40C4-A6C6-5DF6C4168256}"/>
              </a:ext>
            </a:extLst>
          </p:cNvPr>
          <p:cNvSpPr>
            <a:spLocks noGrp="1"/>
          </p:cNvSpPr>
          <p:nvPr/>
        </p:nvSpPr>
        <p:spPr>
          <a:xfrm>
            <a:off x="4857750" y="5524500"/>
            <a:ext cx="2476500" cy="762000"/>
          </a:xfrm>
          <a:prstGeom prst="roundRect">
            <a:avLst>
              <a:gd name="adj" fmla="val 25000"/>
            </a:avLst>
          </a:prstGeom>
          <a:solidFill>
            <a:srgbClr val="FFECE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20" name="Dreptunghi 19">
            <a:extLst>
              <a:ext uri="{FF2B5EF4-FFF2-40B4-BE49-F238E27FC236}">
                <a16:creationId xmlns:a16="http://schemas.microsoft.com/office/drawing/2014/main" id="{5D287142-3321-4B78-A7B2-E7EA56550AE5}"/>
              </a:ext>
            </a:extLst>
          </p:cNvPr>
          <p:cNvSpPr>
            <a:spLocks noGrp="1"/>
          </p:cNvSpPr>
          <p:nvPr/>
        </p:nvSpPr>
        <p:spPr>
          <a:xfrm>
            <a:off x="4857750" y="5524500"/>
            <a:ext cx="76200" cy="762000"/>
          </a:xfrm>
          <a:prstGeom prst="rect">
            <a:avLst/>
          </a:prstGeom>
          <a:solidFill>
            <a:srgbClr val="FF6B7A"/>
          </a:solidFill>
          <a:ln w="0">
            <a:noFill/>
          </a:ln>
        </p:spPr>
      </p:sp>
      <p:sp>
        <p:nvSpPr>
          <p:cNvPr id="21" name="Dreptunghi 20">
            <a:extLst>
              <a:ext uri="{FF2B5EF4-FFF2-40B4-BE49-F238E27FC236}">
                <a16:creationId xmlns:a16="http://schemas.microsoft.com/office/drawing/2014/main" id="{14D4214B-EA89-4C25-A257-F46750BEF743}"/>
              </a:ext>
            </a:extLst>
          </p:cNvPr>
          <p:cNvSpPr>
            <a:spLocks noGrp="1"/>
          </p:cNvSpPr>
          <p:nvPr/>
        </p:nvSpPr>
        <p:spPr>
          <a:xfrm>
            <a:off x="5067300" y="5657849"/>
            <a:ext cx="2133600" cy="402167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-=</a:t>
            </a:r>
          </a:p>
        </p:txBody>
      </p:sp>
      <p:sp>
        <p:nvSpPr>
          <p:cNvPr id="22" name="Dreptunghi 21">
            <a:extLst>
              <a:ext uri="{FF2B5EF4-FFF2-40B4-BE49-F238E27FC236}">
                <a16:creationId xmlns:a16="http://schemas.microsoft.com/office/drawing/2014/main" id="{1F13A9E6-CF4D-4D8E-AB8A-39F3BB405936}"/>
              </a:ext>
            </a:extLst>
          </p:cNvPr>
          <p:cNvSpPr>
            <a:spLocks noGrp="1"/>
          </p:cNvSpPr>
          <p:nvPr/>
        </p:nvSpPr>
        <p:spPr>
          <a:xfrm>
            <a:off x="5067300" y="6076949"/>
            <a:ext cx="2133600" cy="45719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scădere</a:t>
            </a:r>
          </a:p>
        </p:txBody>
      </p:sp>
      <p:sp>
        <p:nvSpPr>
          <p:cNvPr id="23" name="Dreptunghi: colțuri rotunjite 22">
            <a:extLst>
              <a:ext uri="{FF2B5EF4-FFF2-40B4-BE49-F238E27FC236}">
                <a16:creationId xmlns:a16="http://schemas.microsoft.com/office/drawing/2014/main" id="{141450FF-641D-4E9B-8328-0470A70B0A3D}"/>
              </a:ext>
            </a:extLst>
          </p:cNvPr>
          <p:cNvSpPr>
            <a:spLocks noGrp="1"/>
          </p:cNvSpPr>
          <p:nvPr/>
        </p:nvSpPr>
        <p:spPr>
          <a:xfrm>
            <a:off x="7734300" y="5524500"/>
            <a:ext cx="2476500" cy="762000"/>
          </a:xfrm>
          <a:prstGeom prst="roundRect">
            <a:avLst>
              <a:gd name="adj" fmla="val 25000"/>
            </a:avLst>
          </a:prstGeom>
          <a:solidFill>
            <a:srgbClr val="E7F8F1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24" name="Dreptunghi 23">
            <a:extLst>
              <a:ext uri="{FF2B5EF4-FFF2-40B4-BE49-F238E27FC236}">
                <a16:creationId xmlns:a16="http://schemas.microsoft.com/office/drawing/2014/main" id="{77B2F893-E439-443C-ADB1-EF0868224B68}"/>
              </a:ext>
            </a:extLst>
          </p:cNvPr>
          <p:cNvSpPr>
            <a:spLocks noGrp="1"/>
          </p:cNvSpPr>
          <p:nvPr/>
        </p:nvSpPr>
        <p:spPr>
          <a:xfrm>
            <a:off x="7734300" y="5524500"/>
            <a:ext cx="76200" cy="762000"/>
          </a:xfrm>
          <a:prstGeom prst="rect">
            <a:avLst/>
          </a:prstGeom>
          <a:solidFill>
            <a:srgbClr val="2DBE7F"/>
          </a:solidFill>
          <a:ln w="0">
            <a:noFill/>
          </a:ln>
        </p:spPr>
      </p:sp>
      <p:sp>
        <p:nvSpPr>
          <p:cNvPr id="25" name="Dreptunghi 24">
            <a:extLst>
              <a:ext uri="{FF2B5EF4-FFF2-40B4-BE49-F238E27FC236}">
                <a16:creationId xmlns:a16="http://schemas.microsoft.com/office/drawing/2014/main" id="{64E3F806-6609-43AC-8DC9-0A0071CC71EC}"/>
              </a:ext>
            </a:extLst>
          </p:cNvPr>
          <p:cNvSpPr>
            <a:spLocks noGrp="1"/>
          </p:cNvSpPr>
          <p:nvPr/>
        </p:nvSpPr>
        <p:spPr>
          <a:xfrm>
            <a:off x="7943850" y="5657849"/>
            <a:ext cx="2133600" cy="402167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*=  /=</a:t>
            </a:r>
          </a:p>
        </p:txBody>
      </p:sp>
      <p:sp>
        <p:nvSpPr>
          <p:cNvPr id="26" name="Dreptunghi 25">
            <a:extLst>
              <a:ext uri="{FF2B5EF4-FFF2-40B4-BE49-F238E27FC236}">
                <a16:creationId xmlns:a16="http://schemas.microsoft.com/office/drawing/2014/main" id="{64A25303-E057-48F5-8BF7-BD20CC8A03CD}"/>
              </a:ext>
            </a:extLst>
          </p:cNvPr>
          <p:cNvSpPr>
            <a:spLocks noGrp="1"/>
          </p:cNvSpPr>
          <p:nvPr/>
        </p:nvSpPr>
        <p:spPr>
          <a:xfrm>
            <a:off x="7943850" y="6076949"/>
            <a:ext cx="2133600" cy="45719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înmulțire / împărțire</a:t>
            </a:r>
          </a:p>
        </p:txBody>
      </p:sp>
    </p:spTree>
    <p:extLst>
      <p:ext uri="{BB962C8B-B14F-4D97-AF65-F5344CB8AC3E}">
        <p14:creationId xmlns:p14="http://schemas.microsoft.com/office/powerpoint/2010/main" val="396171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reptunghi 26">
            <a:extLst>
              <a:ext uri="{FF2B5EF4-FFF2-40B4-BE49-F238E27FC236}">
                <a16:creationId xmlns:a16="http://schemas.microsoft.com/office/drawing/2014/main" id="{B2399B0E-593F-4555-92AB-5CCE5D3C5C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61A070E9-BA3B-4FBD-80AC-660A121E8BF6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LECȚIA 5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901A41A1-205F-4704-88CD-7C99006E749B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Funcții matematice integrate în Python</a:t>
            </a:r>
          </a:p>
        </p:txBody>
      </p:sp>
      <p:pic>
        <p:nvPicPr>
          <p:cNvPr id="30" name="Imagin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E94DF657-3594-4992-9A1E-8E4DEAF0F32A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57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1387EFF7-8587-49D1-9242-000650C16186}"/>
              </a:ext>
            </a:extLst>
          </p:cNvPr>
          <p:cNvSpPr>
            <a:spLocks noGrp="1"/>
          </p:cNvSpPr>
          <p:nvPr/>
        </p:nvSpPr>
        <p:spPr>
          <a:xfrm>
            <a:off x="514350" y="1390650"/>
            <a:ext cx="2571750" cy="1619250"/>
          </a:xfrm>
          <a:prstGeom prst="roundRect">
            <a:avLst>
              <a:gd name="adj" fmla="val 10588"/>
            </a:avLst>
          </a:prstGeom>
          <a:solidFill>
            <a:srgbClr val="EAF3F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DAA687DF-672E-4A90-B4DC-0E1AFC7B3E26}"/>
              </a:ext>
            </a:extLst>
          </p:cNvPr>
          <p:cNvSpPr>
            <a:spLocks noGrp="1"/>
          </p:cNvSpPr>
          <p:nvPr/>
        </p:nvSpPr>
        <p:spPr>
          <a:xfrm>
            <a:off x="514350" y="1390650"/>
            <a:ext cx="76200" cy="161925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3494B97F-6F15-42F0-8DF8-ACA24FDB5AB6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2228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abs(x)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0DA3D487-A1AE-4B40-B18F-B6B14AAEBE30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22288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Valoarea absolută</a:t>
            </a:r>
          </a:p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abs(-4) → 4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7182EB2E-8189-4418-B671-501F77E14214}"/>
              </a:ext>
            </a:extLst>
          </p:cNvPr>
          <p:cNvSpPr>
            <a:spLocks noGrp="1"/>
          </p:cNvSpPr>
          <p:nvPr/>
        </p:nvSpPr>
        <p:spPr>
          <a:xfrm>
            <a:off x="3295650" y="1390650"/>
            <a:ext cx="2571750" cy="1619250"/>
          </a:xfrm>
          <a:prstGeom prst="roundRect">
            <a:avLst>
              <a:gd name="adj" fmla="val 10588"/>
            </a:avLst>
          </a:prstGeom>
          <a:solidFill>
            <a:srgbClr val="E7F8F1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1" name="Dreptunghi 10">
            <a:extLst>
              <a:ext uri="{FF2B5EF4-FFF2-40B4-BE49-F238E27FC236}">
                <a16:creationId xmlns:a16="http://schemas.microsoft.com/office/drawing/2014/main" id="{7AE11E8B-43A6-4865-830C-A8666A2C4204}"/>
              </a:ext>
            </a:extLst>
          </p:cNvPr>
          <p:cNvSpPr>
            <a:spLocks noGrp="1"/>
          </p:cNvSpPr>
          <p:nvPr/>
        </p:nvSpPr>
        <p:spPr>
          <a:xfrm>
            <a:off x="3295650" y="1390650"/>
            <a:ext cx="76200" cy="1619250"/>
          </a:xfrm>
          <a:prstGeom prst="rect">
            <a:avLst/>
          </a:prstGeom>
          <a:solidFill>
            <a:srgbClr val="2DBE7F"/>
          </a:solidFill>
          <a:ln w="0">
            <a:noFill/>
          </a:ln>
        </p:spPr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1A51E659-D2A1-48E9-99D0-18E07454CBCB}"/>
              </a:ext>
            </a:extLst>
          </p:cNvPr>
          <p:cNvSpPr>
            <a:spLocks noGrp="1"/>
          </p:cNvSpPr>
          <p:nvPr/>
        </p:nvSpPr>
        <p:spPr>
          <a:xfrm>
            <a:off x="3505200" y="1524000"/>
            <a:ext cx="2228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round(x, n)</a:t>
            </a:r>
          </a:p>
        </p:txBody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4E9B7B41-8CEC-4ABC-88C1-6AFC20022072}"/>
              </a:ext>
            </a:extLst>
          </p:cNvPr>
          <p:cNvSpPr>
            <a:spLocks noGrp="1"/>
          </p:cNvSpPr>
          <p:nvPr/>
        </p:nvSpPr>
        <p:spPr>
          <a:xfrm>
            <a:off x="3505200" y="1943100"/>
            <a:ext cx="22288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Rotunjire la n zecimale</a:t>
            </a:r>
          </a:p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round(7.563, 1) → 7.6</a:t>
            </a:r>
          </a:p>
        </p:txBody>
      </p:sp>
      <p:sp>
        <p:nvSpPr>
          <p:cNvPr id="14" name="Dreptunghi: colțuri rotunjite 13">
            <a:extLst>
              <a:ext uri="{FF2B5EF4-FFF2-40B4-BE49-F238E27FC236}">
                <a16:creationId xmlns:a16="http://schemas.microsoft.com/office/drawing/2014/main" id="{7EE73F4B-2959-49A8-ACA4-9C5C58F8EF87}"/>
              </a:ext>
            </a:extLst>
          </p:cNvPr>
          <p:cNvSpPr>
            <a:spLocks noGrp="1"/>
          </p:cNvSpPr>
          <p:nvPr/>
        </p:nvSpPr>
        <p:spPr>
          <a:xfrm>
            <a:off x="6076950" y="1390650"/>
            <a:ext cx="2571750" cy="1619250"/>
          </a:xfrm>
          <a:prstGeom prst="roundRect">
            <a:avLst>
              <a:gd name="adj" fmla="val 10588"/>
            </a:avLst>
          </a:prstGeom>
          <a:solidFill>
            <a:srgbClr val="F0ED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5" name="Dreptunghi 14">
            <a:extLst>
              <a:ext uri="{FF2B5EF4-FFF2-40B4-BE49-F238E27FC236}">
                <a16:creationId xmlns:a16="http://schemas.microsoft.com/office/drawing/2014/main" id="{B23B5A35-1182-44AD-B138-FA10084A7020}"/>
              </a:ext>
            </a:extLst>
          </p:cNvPr>
          <p:cNvSpPr>
            <a:spLocks noGrp="1"/>
          </p:cNvSpPr>
          <p:nvPr/>
        </p:nvSpPr>
        <p:spPr>
          <a:xfrm>
            <a:off x="6076950" y="1390650"/>
            <a:ext cx="76200" cy="1619250"/>
          </a:xfrm>
          <a:prstGeom prst="rect">
            <a:avLst/>
          </a:prstGeom>
          <a:solidFill>
            <a:srgbClr val="8B7CFF"/>
          </a:solidFill>
          <a:ln w="0">
            <a:noFill/>
          </a:ln>
        </p:spPr>
      </p:sp>
      <p:sp>
        <p:nvSpPr>
          <p:cNvPr id="16" name="Dreptunghi 15">
            <a:extLst>
              <a:ext uri="{FF2B5EF4-FFF2-40B4-BE49-F238E27FC236}">
                <a16:creationId xmlns:a16="http://schemas.microsoft.com/office/drawing/2014/main" id="{7CD14121-62AE-494D-97B6-3115B7CAC969}"/>
              </a:ext>
            </a:extLst>
          </p:cNvPr>
          <p:cNvSpPr>
            <a:spLocks noGrp="1"/>
          </p:cNvSpPr>
          <p:nvPr/>
        </p:nvSpPr>
        <p:spPr>
          <a:xfrm>
            <a:off x="6286500" y="1524000"/>
            <a:ext cx="2228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min / max</a:t>
            </a:r>
          </a:p>
        </p:txBody>
      </p:sp>
      <p:sp>
        <p:nvSpPr>
          <p:cNvPr id="17" name="Dreptunghi 16">
            <a:extLst>
              <a:ext uri="{FF2B5EF4-FFF2-40B4-BE49-F238E27FC236}">
                <a16:creationId xmlns:a16="http://schemas.microsoft.com/office/drawing/2014/main" id="{4A534422-0C94-49E5-B4D3-A86936DE101C}"/>
              </a:ext>
            </a:extLst>
          </p:cNvPr>
          <p:cNvSpPr>
            <a:spLocks noGrp="1"/>
          </p:cNvSpPr>
          <p:nvPr/>
        </p:nvSpPr>
        <p:spPr>
          <a:xfrm>
            <a:off x="6286500" y="1943100"/>
            <a:ext cx="22288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Extremul dintre argumente</a:t>
            </a:r>
          </a:p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max(3, 8, 2) → 8</a:t>
            </a:r>
          </a:p>
        </p:txBody>
      </p:sp>
      <p:sp>
        <p:nvSpPr>
          <p:cNvPr id="18" name="Dreptunghi: colțuri rotunjite 17">
            <a:extLst>
              <a:ext uri="{FF2B5EF4-FFF2-40B4-BE49-F238E27FC236}">
                <a16:creationId xmlns:a16="http://schemas.microsoft.com/office/drawing/2014/main" id="{F627E241-4C1E-4FFF-92DE-8A0AD4D52F41}"/>
              </a:ext>
            </a:extLst>
          </p:cNvPr>
          <p:cNvSpPr>
            <a:spLocks noGrp="1"/>
          </p:cNvSpPr>
          <p:nvPr/>
        </p:nvSpPr>
        <p:spPr>
          <a:xfrm>
            <a:off x="8858250" y="1390650"/>
            <a:ext cx="2571750" cy="1619250"/>
          </a:xfrm>
          <a:prstGeom prst="roundRect">
            <a:avLst>
              <a:gd name="adj" fmla="val 10588"/>
            </a:avLst>
          </a:prstGeom>
          <a:solidFill>
            <a:srgbClr val="FFECE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9" name="Dreptunghi 18">
            <a:extLst>
              <a:ext uri="{FF2B5EF4-FFF2-40B4-BE49-F238E27FC236}">
                <a16:creationId xmlns:a16="http://schemas.microsoft.com/office/drawing/2014/main" id="{1B2F9794-8997-4CFE-A62B-2086CC43F6AA}"/>
              </a:ext>
            </a:extLst>
          </p:cNvPr>
          <p:cNvSpPr>
            <a:spLocks noGrp="1"/>
          </p:cNvSpPr>
          <p:nvPr/>
        </p:nvSpPr>
        <p:spPr>
          <a:xfrm>
            <a:off x="8858250" y="1390650"/>
            <a:ext cx="76200" cy="1619250"/>
          </a:xfrm>
          <a:prstGeom prst="rect">
            <a:avLst/>
          </a:prstGeom>
          <a:solidFill>
            <a:srgbClr val="FF6B7A"/>
          </a:solidFill>
          <a:ln w="0">
            <a:noFill/>
          </a:ln>
        </p:spPr>
      </p:sp>
      <p:sp>
        <p:nvSpPr>
          <p:cNvPr id="20" name="Dreptunghi 19">
            <a:extLst>
              <a:ext uri="{FF2B5EF4-FFF2-40B4-BE49-F238E27FC236}">
                <a16:creationId xmlns:a16="http://schemas.microsoft.com/office/drawing/2014/main" id="{B8C2D593-0E10-4D84-A061-792649C3382F}"/>
              </a:ext>
            </a:extLst>
          </p:cNvPr>
          <p:cNvSpPr>
            <a:spLocks noGrp="1"/>
          </p:cNvSpPr>
          <p:nvPr/>
        </p:nvSpPr>
        <p:spPr>
          <a:xfrm>
            <a:off x="9067800" y="1524000"/>
            <a:ext cx="2228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pow(x, y)</a:t>
            </a:r>
          </a:p>
        </p:txBody>
      </p:sp>
      <p:sp>
        <p:nvSpPr>
          <p:cNvPr id="21" name="Dreptunghi 20">
            <a:extLst>
              <a:ext uri="{FF2B5EF4-FFF2-40B4-BE49-F238E27FC236}">
                <a16:creationId xmlns:a16="http://schemas.microsoft.com/office/drawing/2014/main" id="{BAFCDD69-F7DA-4A45-87D2-BFF98C70389C}"/>
              </a:ext>
            </a:extLst>
          </p:cNvPr>
          <p:cNvSpPr>
            <a:spLocks noGrp="1"/>
          </p:cNvSpPr>
          <p:nvPr/>
        </p:nvSpPr>
        <p:spPr>
          <a:xfrm>
            <a:off x="9067800" y="1943100"/>
            <a:ext cx="22288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Puterea xʸ</a:t>
            </a:r>
          </a:p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pow(2, 5) → 32</a:t>
            </a:r>
          </a:p>
        </p:txBody>
      </p:sp>
      <p:sp>
        <p:nvSpPr>
          <p:cNvPr id="22" name="Dreptunghi: colțuri rotunjite 21">
            <a:extLst>
              <a:ext uri="{FF2B5EF4-FFF2-40B4-BE49-F238E27FC236}">
                <a16:creationId xmlns:a16="http://schemas.microsoft.com/office/drawing/2014/main" id="{316A0EBE-A5BC-42A2-A65E-66B637D6290C}"/>
              </a:ext>
            </a:extLst>
          </p:cNvPr>
          <p:cNvSpPr>
            <a:spLocks noGrp="1"/>
          </p:cNvSpPr>
          <p:nvPr/>
        </p:nvSpPr>
        <p:spPr>
          <a:xfrm>
            <a:off x="1428750" y="3524250"/>
            <a:ext cx="9334500" cy="17145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23" name="Dreptunghi: colțuri rotunjite 22">
            <a:extLst>
              <a:ext uri="{FF2B5EF4-FFF2-40B4-BE49-F238E27FC236}">
                <a16:creationId xmlns:a16="http://schemas.microsoft.com/office/drawing/2014/main" id="{A9A92CFB-5A9D-4CBC-AEC7-F84B4D5E5887}"/>
              </a:ext>
            </a:extLst>
          </p:cNvPr>
          <p:cNvSpPr>
            <a:spLocks noGrp="1"/>
          </p:cNvSpPr>
          <p:nvPr/>
        </p:nvSpPr>
        <p:spPr>
          <a:xfrm>
            <a:off x="1581150" y="365760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</a:ln>
        </p:spPr>
      </p:sp>
      <p:sp>
        <p:nvSpPr>
          <p:cNvPr id="24" name="Dreptunghi 23">
            <a:extLst>
              <a:ext uri="{FF2B5EF4-FFF2-40B4-BE49-F238E27FC236}">
                <a16:creationId xmlns:a16="http://schemas.microsoft.com/office/drawing/2014/main" id="{6C441498-7E7B-484B-80BB-29C789EABA5F}"/>
              </a:ext>
            </a:extLst>
          </p:cNvPr>
          <p:cNvSpPr>
            <a:spLocks noGrp="1"/>
          </p:cNvSpPr>
          <p:nvPr/>
        </p:nvSpPr>
        <p:spPr>
          <a:xfrm>
            <a:off x="1590675" y="365760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25" name="Dreptunghi 24">
            <a:extLst>
              <a:ext uri="{FF2B5EF4-FFF2-40B4-BE49-F238E27FC236}">
                <a16:creationId xmlns:a16="http://schemas.microsoft.com/office/drawing/2014/main" id="{C7DEF024-5173-4D81-BA0A-0F4E3640F83D}"/>
              </a:ext>
            </a:extLst>
          </p:cNvPr>
          <p:cNvSpPr>
            <a:spLocks noGrp="1"/>
          </p:cNvSpPr>
          <p:nvPr/>
        </p:nvSpPr>
        <p:spPr>
          <a:xfrm>
            <a:off x="1600200" y="3981450"/>
            <a:ext cx="89916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temperaturi = [-2.5, 3.1, 8.0]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print(min(temperaturi))  # -2.5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print(max(temperaturi))  # 8.0</a:t>
            </a:r>
          </a:p>
        </p:txBody>
      </p:sp>
      <p:sp>
        <p:nvSpPr>
          <p:cNvPr id="26" name="Dreptunghi 25">
            <a:extLst>
              <a:ext uri="{FF2B5EF4-FFF2-40B4-BE49-F238E27FC236}">
                <a16:creationId xmlns:a16="http://schemas.microsoft.com/office/drawing/2014/main" id="{9E9EF526-C387-4A66-BA40-434A4A873403}"/>
              </a:ext>
            </a:extLst>
          </p:cNvPr>
          <p:cNvSpPr>
            <a:spLocks noGrp="1"/>
          </p:cNvSpPr>
          <p:nvPr/>
        </p:nvSpPr>
        <p:spPr>
          <a:xfrm>
            <a:off x="2143125" y="5600700"/>
            <a:ext cx="7905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ctr">
              <a:defRPr sz="180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Aceste funcții se folosesc direct, fără import math.</a:t>
            </a:r>
          </a:p>
        </p:txBody>
      </p:sp>
    </p:spTree>
    <p:extLst>
      <p:ext uri="{BB962C8B-B14F-4D97-AF65-F5344CB8AC3E}">
        <p14:creationId xmlns:p14="http://schemas.microsoft.com/office/powerpoint/2010/main" val="864785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reptunghi 26">
            <a:extLst>
              <a:ext uri="{FF2B5EF4-FFF2-40B4-BE49-F238E27FC236}">
                <a16:creationId xmlns:a16="http://schemas.microsoft.com/office/drawing/2014/main" id="{B2399B0E-593F-4555-92AB-5CCE5D3C5C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61A070E9-BA3B-4FBD-80AC-660A121E8BF6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LECȚIA 5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901A41A1-205F-4704-88CD-7C99006E749B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Funcții matematice integrate în Python</a:t>
            </a:r>
          </a:p>
        </p:txBody>
      </p:sp>
      <p:pic>
        <p:nvPicPr>
          <p:cNvPr id="30" name="Imagin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28" name="Содержимое 2">
            <a:extLst>
              <a:ext uri="{FF2B5EF4-FFF2-40B4-BE49-F238E27FC236}">
                <a16:creationId xmlns:a16="http://schemas.microsoft.com/office/drawing/2014/main" id="{CFF0BBB7-54ED-4BF0-BBE1-A816BD65CF07}"/>
              </a:ext>
            </a:extLst>
          </p:cNvPr>
          <p:cNvSpPr txBox="1">
            <a:spLocks/>
          </p:cNvSpPr>
          <p:nvPr/>
        </p:nvSpPr>
        <p:spPr>
          <a:xfrm>
            <a:off x="533399" y="1181100"/>
            <a:ext cx="10959353" cy="5943600"/>
          </a:xfrm>
        </p:spPr>
        <p:txBody>
          <a:bodyPr>
            <a:no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FontTx/>
              <a:buNone/>
            </a:pPr>
            <a:r>
              <a:rPr lang="ro-MO" sz="1800" kern="0" dirty="0"/>
              <a:t>	</a:t>
            </a:r>
            <a:r>
              <a:rPr lang="en-US" sz="1800" b="1" kern="0" dirty="0"/>
              <a:t>Function</a:t>
            </a:r>
            <a:r>
              <a:rPr lang="en-US" sz="1800" kern="0" dirty="0"/>
              <a:t> </a:t>
            </a:r>
            <a:r>
              <a:rPr lang="ro-MO" sz="1800" kern="0" dirty="0"/>
              <a:t>				</a:t>
            </a:r>
            <a:r>
              <a:rPr lang="en-US" sz="1800" b="1" kern="0" dirty="0"/>
              <a:t>Returns ( description ) </a:t>
            </a:r>
            <a:endParaRPr lang="ro-MO" sz="1800" b="1" kern="0" dirty="0"/>
          </a:p>
          <a:p>
            <a:pPr marL="0" indent="0">
              <a:lnSpc>
                <a:spcPct val="100000"/>
              </a:lnSpc>
              <a:spcBef>
                <a:spcPts val="200"/>
              </a:spcBef>
              <a:buFontTx/>
              <a:buNone/>
            </a:pPr>
            <a:r>
              <a:rPr lang="ro-MO" sz="1800" kern="0" dirty="0"/>
              <a:t>	</a:t>
            </a:r>
            <a:r>
              <a:rPr lang="ro-RO" sz="1800" kern="0" dirty="0" err="1"/>
              <a:t>abs</a:t>
            </a:r>
            <a:r>
              <a:rPr lang="ro-RO" sz="1800" kern="0" dirty="0"/>
              <a:t>(x) 		Valoarea absolută a lui x 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FontTx/>
              <a:buNone/>
            </a:pPr>
            <a:r>
              <a:rPr lang="ro-RO" sz="1800" kern="0" dirty="0"/>
              <a:t>	</a:t>
            </a:r>
            <a:r>
              <a:rPr lang="ro-RO" sz="1800" kern="0" dirty="0" err="1"/>
              <a:t>ceil</a:t>
            </a:r>
            <a:r>
              <a:rPr lang="ro-RO" sz="1800" kern="0" dirty="0"/>
              <a:t>(x) 		Cel mai mic număr întreg nu mai mic de x 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FontTx/>
              <a:buNone/>
            </a:pPr>
            <a:r>
              <a:rPr lang="ro-RO" sz="1800" kern="0" dirty="0"/>
              <a:t>	</a:t>
            </a:r>
            <a:r>
              <a:rPr lang="ro-RO" sz="1800" kern="0" dirty="0" err="1"/>
              <a:t>exp</a:t>
            </a:r>
            <a:r>
              <a:rPr lang="ro-RO" sz="1800" kern="0" dirty="0"/>
              <a:t>(x) 		The </a:t>
            </a:r>
            <a:r>
              <a:rPr lang="ro-RO" sz="1800" kern="0" dirty="0" err="1"/>
              <a:t>exponential</a:t>
            </a:r>
            <a:r>
              <a:rPr lang="ro-RO" sz="1800" kern="0" dirty="0"/>
              <a:t> of x: (e la puterea x) 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FontTx/>
              <a:buNone/>
            </a:pPr>
            <a:r>
              <a:rPr lang="ro-RO" sz="1800" kern="0" dirty="0"/>
              <a:t>	</a:t>
            </a:r>
            <a:r>
              <a:rPr lang="ro-RO" sz="1800" kern="0" dirty="0" err="1"/>
              <a:t>fabs</a:t>
            </a:r>
            <a:r>
              <a:rPr lang="ro-RO" sz="1800" kern="0" dirty="0"/>
              <a:t>(x) 		Valoarea absolută a lui x. 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FontTx/>
              <a:buNone/>
            </a:pPr>
            <a:r>
              <a:rPr lang="ro-RO" sz="1800" kern="0" dirty="0"/>
              <a:t>	</a:t>
            </a:r>
            <a:r>
              <a:rPr lang="ro-RO" sz="1800" kern="0" dirty="0" err="1"/>
              <a:t>floor</a:t>
            </a:r>
            <a:r>
              <a:rPr lang="ro-RO" sz="1800" kern="0" dirty="0"/>
              <a:t>(x) 		Cel mai mare număr întreg nu mai mare decât x 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FontTx/>
              <a:buNone/>
            </a:pPr>
            <a:r>
              <a:rPr lang="ro-RO" sz="1800" kern="0" dirty="0"/>
              <a:t>	log(x) 		Logaritmul natural al lui x, pentru x&gt; 0 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FontTx/>
              <a:buNone/>
            </a:pPr>
            <a:r>
              <a:rPr lang="ro-RO" sz="1800" kern="0" dirty="0"/>
              <a:t>	log10(x) 		Logaritmul în bază 10 al lui x pentru x&gt; 0 . 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FontTx/>
              <a:buNone/>
            </a:pPr>
            <a:r>
              <a:rPr lang="ro-RO" sz="1800" kern="0" dirty="0"/>
              <a:t>	</a:t>
            </a:r>
            <a:r>
              <a:rPr lang="ro-RO" sz="1800" kern="0" dirty="0" err="1"/>
              <a:t>max</a:t>
            </a:r>
            <a:r>
              <a:rPr lang="ro-RO" sz="1800" kern="0" dirty="0"/>
              <a:t>(x1, x2,...) 	Cel mai mare dintre argumentele sale 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FontTx/>
              <a:buNone/>
            </a:pPr>
            <a:r>
              <a:rPr lang="ro-RO" sz="1800" kern="0" dirty="0"/>
              <a:t>	min(x1, x2,...) 	Cel mai mic dintre argumentele sale 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FontTx/>
              <a:buNone/>
            </a:pPr>
            <a:r>
              <a:rPr lang="ro-RO" sz="1800" kern="0" dirty="0"/>
              <a:t>	</a:t>
            </a:r>
            <a:r>
              <a:rPr lang="ro-RO" sz="1800" kern="0" dirty="0" err="1"/>
              <a:t>modf</a:t>
            </a:r>
            <a:r>
              <a:rPr lang="ro-RO" sz="1800" kern="0" dirty="0"/>
              <a:t>(x) 		Părțile </a:t>
            </a:r>
            <a:r>
              <a:rPr lang="ro-RO" sz="1800" kern="0" dirty="0" err="1"/>
              <a:t>fracționale</a:t>
            </a:r>
            <a:r>
              <a:rPr lang="ro-RO" sz="1800" kern="0" dirty="0"/>
              <a:t> și întregi ale lui x într-un </a:t>
            </a:r>
            <a:r>
              <a:rPr lang="ro-RO" sz="1800" kern="0" dirty="0" err="1"/>
              <a:t>tuplu</a:t>
            </a:r>
            <a:r>
              <a:rPr lang="ro-RO" sz="1800" kern="0" dirty="0"/>
              <a:t> cu două elemente. 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FontTx/>
              <a:buNone/>
            </a:pPr>
            <a:r>
              <a:rPr lang="ro-RO" sz="1800" kern="0" dirty="0"/>
              <a:t>			Ambele părți au același semn ca x. Partea întreagă este returnată ca un </a:t>
            </a:r>
            <a:r>
              <a:rPr lang="ro-RO" sz="1800" kern="0" dirty="0" err="1"/>
              <a:t>float</a:t>
            </a:r>
            <a:r>
              <a:rPr lang="ro-RO" sz="1800" kern="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FontTx/>
              <a:buNone/>
            </a:pPr>
            <a:r>
              <a:rPr lang="ro-RO" sz="1800" kern="0" dirty="0"/>
              <a:t>	</a:t>
            </a:r>
            <a:r>
              <a:rPr lang="ro-RO" sz="1800" kern="0" dirty="0" err="1"/>
              <a:t>pow</a:t>
            </a:r>
            <a:r>
              <a:rPr lang="ro-RO" sz="1800" kern="0" dirty="0"/>
              <a:t>(x, y) 		Valoarea lui x**y. 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FontTx/>
              <a:buNone/>
            </a:pPr>
            <a:r>
              <a:rPr lang="ro-RO" sz="1800" kern="0" dirty="0"/>
              <a:t>	rotund(x [,n]) 	x rotunjit la n cifre de la virgulă zecimală. </a:t>
            </a:r>
            <a:r>
              <a:rPr lang="ro-RO" sz="1800" kern="0" dirty="0" err="1"/>
              <a:t>Python</a:t>
            </a:r>
            <a:r>
              <a:rPr lang="ro-RO" sz="1800" kern="0" dirty="0"/>
              <a:t>  rotunjește de la zero ca departajare: 			rotund(0,5) este 1,0 și rotund(- 0,5) este -1,0. 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FontTx/>
              <a:buNone/>
            </a:pPr>
            <a:r>
              <a:rPr lang="ro-RO" sz="1800" kern="0" dirty="0"/>
              <a:t>	</a:t>
            </a:r>
            <a:r>
              <a:rPr lang="ro-RO" sz="1800" kern="0" dirty="0" err="1"/>
              <a:t>sqrt</a:t>
            </a:r>
            <a:r>
              <a:rPr lang="ro-RO" sz="1800" kern="0" dirty="0"/>
              <a:t>(x) 		Rădăcina pătrată a lui x pentru x &gt; 0</a:t>
            </a:r>
            <a:endParaRPr lang="ro-MO" sz="1800" kern="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440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reptunghi 26">
            <a:extLst>
              <a:ext uri="{FF2B5EF4-FFF2-40B4-BE49-F238E27FC236}">
                <a16:creationId xmlns:a16="http://schemas.microsoft.com/office/drawing/2014/main" id="{B2399B0E-593F-4555-92AB-5CCE5D3C5C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61A070E9-BA3B-4FBD-80AC-660A121E8BF6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LECȚIA 5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901A41A1-205F-4704-88CD-7C99006E749B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Funcții</a:t>
            </a:r>
            <a:r>
              <a:rPr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matematice</a:t>
            </a:r>
            <a:r>
              <a:rPr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integrate </a:t>
            </a: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în</a:t>
            </a:r>
            <a:r>
              <a:rPr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Python</a:t>
            </a:r>
            <a:r>
              <a:rPr lang="ro-RO"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(modulul </a:t>
            </a:r>
            <a:r>
              <a:rPr lang="ro-RO"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math</a:t>
            </a:r>
            <a:r>
              <a:rPr lang="ro-RO"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)</a:t>
            </a:r>
            <a:endParaRPr sz="2625" b="1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" name="Imagin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7" name="Содержимое 2">
            <a:extLst>
              <a:ext uri="{FF2B5EF4-FFF2-40B4-BE49-F238E27FC236}">
                <a16:creationId xmlns:a16="http://schemas.microsoft.com/office/drawing/2014/main" id="{D0DA7225-23C5-4CC1-B9AD-534AE4BBB0EE}"/>
              </a:ext>
            </a:extLst>
          </p:cNvPr>
          <p:cNvSpPr txBox="1">
            <a:spLocks/>
          </p:cNvSpPr>
          <p:nvPr/>
        </p:nvSpPr>
        <p:spPr>
          <a:xfrm>
            <a:off x="1676400" y="1143000"/>
            <a:ext cx="8534400" cy="5562600"/>
          </a:xfrm>
        </p:spPr>
        <p:txBody>
          <a:bodyPr>
            <a:no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FontTx/>
              <a:buNone/>
            </a:pPr>
            <a:r>
              <a:rPr lang="ro-MO" sz="1800" kern="0" dirty="0"/>
              <a:t>	</a:t>
            </a:r>
            <a:r>
              <a:rPr lang="en-US" sz="1800" b="1" kern="0" dirty="0"/>
              <a:t>Function</a:t>
            </a:r>
            <a:r>
              <a:rPr lang="en-US" sz="1800" kern="0" dirty="0"/>
              <a:t> </a:t>
            </a:r>
            <a:r>
              <a:rPr lang="ro-MO" sz="1800" kern="0" dirty="0"/>
              <a:t>				</a:t>
            </a:r>
            <a:r>
              <a:rPr lang="en-US" sz="1800" b="1" kern="0" dirty="0"/>
              <a:t>Returns ( description ) </a:t>
            </a:r>
            <a:endParaRPr lang="ro-MO" sz="1800" b="1" kern="0" dirty="0"/>
          </a:p>
          <a:p>
            <a:pPr>
              <a:buFontTx/>
              <a:buNone/>
            </a:pPr>
            <a:endParaRPr lang="ro-MO" sz="1800" b="1" kern="0" dirty="0"/>
          </a:p>
          <a:p>
            <a:pPr>
              <a:buFontTx/>
              <a:buNone/>
            </a:pPr>
            <a:r>
              <a:rPr lang="ro-MO" sz="1800" kern="0" dirty="0"/>
              <a:t>	</a:t>
            </a:r>
            <a:r>
              <a:rPr lang="en-US" sz="1800" kern="0" dirty="0" err="1"/>
              <a:t>acos</a:t>
            </a:r>
            <a:r>
              <a:rPr lang="en-US" sz="1800" kern="0" dirty="0"/>
              <a:t>(x) </a:t>
            </a:r>
            <a:r>
              <a:rPr lang="ro-MO" sz="1800" kern="0" dirty="0"/>
              <a:t>		</a:t>
            </a:r>
            <a:r>
              <a:rPr lang="ro-RO" sz="1800" kern="0" dirty="0"/>
              <a:t>Returnează arcul cosinus al lui x, în radiani.</a:t>
            </a:r>
          </a:p>
          <a:p>
            <a:pPr>
              <a:buFontTx/>
              <a:buNone/>
            </a:pPr>
            <a:r>
              <a:rPr lang="ro-RO" sz="1800" kern="0" dirty="0"/>
              <a:t>	</a:t>
            </a:r>
            <a:r>
              <a:rPr lang="en-US" sz="1800" kern="0" dirty="0" err="1"/>
              <a:t>asin</a:t>
            </a:r>
            <a:r>
              <a:rPr lang="en-US" sz="1800" kern="0" dirty="0"/>
              <a:t>(x) </a:t>
            </a:r>
            <a:r>
              <a:rPr lang="ro-MO" sz="1800" kern="0" dirty="0"/>
              <a:t>			</a:t>
            </a:r>
            <a:r>
              <a:rPr lang="ro-RO" sz="1800" kern="0" dirty="0"/>
              <a:t>Returnează arcul sinus al lui x, în radiani.</a:t>
            </a:r>
          </a:p>
          <a:p>
            <a:pPr>
              <a:buFontTx/>
              <a:buNone/>
            </a:pPr>
            <a:r>
              <a:rPr lang="ro-RO" sz="1800" kern="0" dirty="0"/>
              <a:t>	</a:t>
            </a:r>
            <a:r>
              <a:rPr lang="en-US" sz="1800" kern="0" dirty="0" err="1"/>
              <a:t>atan</a:t>
            </a:r>
            <a:r>
              <a:rPr lang="en-US" sz="1800" kern="0" dirty="0"/>
              <a:t>(x) </a:t>
            </a:r>
            <a:r>
              <a:rPr lang="ro-MO" sz="1800" kern="0" dirty="0"/>
              <a:t>		</a:t>
            </a:r>
            <a:r>
              <a:rPr lang="ro-RO" sz="1800" kern="0" dirty="0"/>
              <a:t>Returnează arc-tangenta lui x, în radiani.</a:t>
            </a:r>
            <a:endParaRPr lang="ro-MO" sz="1800" kern="0" dirty="0"/>
          </a:p>
          <a:p>
            <a:pPr>
              <a:buFontTx/>
              <a:buNone/>
            </a:pPr>
            <a:r>
              <a:rPr lang="ro-MO" sz="1800" kern="0" dirty="0"/>
              <a:t>	</a:t>
            </a:r>
            <a:r>
              <a:rPr lang="en-US" sz="1800" kern="0" dirty="0"/>
              <a:t>atan2(y, x) </a:t>
            </a:r>
            <a:r>
              <a:rPr lang="ro-MO" sz="1800" kern="0" dirty="0"/>
              <a:t>		</a:t>
            </a:r>
            <a:r>
              <a:rPr lang="ro-RO" sz="1800" kern="0" dirty="0"/>
              <a:t>Returnează </a:t>
            </a:r>
            <a:r>
              <a:rPr lang="ro-RO" sz="1800" kern="0" dirty="0" err="1"/>
              <a:t>atan</a:t>
            </a:r>
            <a:r>
              <a:rPr lang="ro-RO" sz="1800" kern="0" dirty="0"/>
              <a:t>(y / x), în radiani.</a:t>
            </a:r>
          </a:p>
          <a:p>
            <a:pPr>
              <a:buFontTx/>
              <a:buNone/>
            </a:pPr>
            <a:r>
              <a:rPr lang="ro-MO" sz="1800" kern="0" dirty="0"/>
              <a:t>	</a:t>
            </a:r>
            <a:r>
              <a:rPr lang="en-US" sz="1800" kern="0" dirty="0"/>
              <a:t>cos(x) </a:t>
            </a:r>
            <a:r>
              <a:rPr lang="ro-MO" sz="1800" kern="0" dirty="0"/>
              <a:t>			</a:t>
            </a:r>
            <a:r>
              <a:rPr lang="ro-RO" sz="1800" kern="0" dirty="0"/>
              <a:t>Returnează cosinusul lui x radiani.</a:t>
            </a:r>
          </a:p>
          <a:p>
            <a:pPr>
              <a:buFontTx/>
              <a:buNone/>
            </a:pPr>
            <a:r>
              <a:rPr lang="ro-MO" sz="1800" kern="0" dirty="0"/>
              <a:t>	</a:t>
            </a:r>
            <a:r>
              <a:rPr lang="en-US" sz="1800" kern="0" dirty="0" err="1"/>
              <a:t>hypot</a:t>
            </a:r>
            <a:r>
              <a:rPr lang="en-US" sz="1800" kern="0" dirty="0"/>
              <a:t>(x, y) </a:t>
            </a:r>
            <a:r>
              <a:rPr lang="ro-MO" sz="1800" kern="0" dirty="0"/>
              <a:t>		</a:t>
            </a:r>
            <a:r>
              <a:rPr lang="ro-RO" sz="1800" kern="0" dirty="0"/>
              <a:t>Returnează norma euclidiană, </a:t>
            </a:r>
            <a:r>
              <a:rPr lang="ro-RO" sz="1800" kern="0" dirty="0" err="1"/>
              <a:t>sqrt</a:t>
            </a:r>
            <a:r>
              <a:rPr lang="ro-RO" sz="1800" kern="0" dirty="0"/>
              <a:t>(x*x + y*y)</a:t>
            </a:r>
            <a:endParaRPr lang="ro-MO" sz="1800" kern="0" dirty="0"/>
          </a:p>
          <a:p>
            <a:pPr>
              <a:buFontTx/>
              <a:buNone/>
            </a:pPr>
            <a:r>
              <a:rPr lang="ro-MO" sz="1800" kern="0" dirty="0"/>
              <a:t>	</a:t>
            </a:r>
            <a:r>
              <a:rPr lang="en-US" sz="1800" kern="0" dirty="0"/>
              <a:t>sin(x) </a:t>
            </a:r>
            <a:r>
              <a:rPr lang="ro-MO" sz="1800" kern="0" dirty="0"/>
              <a:t>			</a:t>
            </a:r>
            <a:r>
              <a:rPr lang="ro-RO" sz="1800" kern="0" dirty="0"/>
              <a:t>Returnează sinusul lui x radiani.</a:t>
            </a:r>
          </a:p>
          <a:p>
            <a:pPr>
              <a:buFontTx/>
              <a:buNone/>
            </a:pPr>
            <a:r>
              <a:rPr lang="ro-MO" sz="1800" kern="0" dirty="0"/>
              <a:t>	</a:t>
            </a:r>
            <a:r>
              <a:rPr lang="en-US" sz="1800" kern="0" dirty="0"/>
              <a:t>tan(x) </a:t>
            </a:r>
            <a:r>
              <a:rPr lang="ro-MO" sz="1800" kern="0" dirty="0"/>
              <a:t>			</a:t>
            </a:r>
            <a:r>
              <a:rPr lang="ro-RO" sz="1800" kern="0" dirty="0"/>
              <a:t>Returnează tangenta de x radiani.</a:t>
            </a:r>
          </a:p>
          <a:p>
            <a:pPr>
              <a:buFontTx/>
              <a:buNone/>
            </a:pPr>
            <a:r>
              <a:rPr lang="ro-MO" sz="1800" kern="0" dirty="0"/>
              <a:t>	</a:t>
            </a:r>
            <a:r>
              <a:rPr lang="en-US" sz="1800" kern="0" dirty="0"/>
              <a:t>degrees(x) </a:t>
            </a:r>
            <a:r>
              <a:rPr lang="ro-MO" sz="1800" kern="0" dirty="0"/>
              <a:t>		</a:t>
            </a:r>
            <a:r>
              <a:rPr lang="ro-RO" sz="1800" kern="0" dirty="0"/>
              <a:t>Convertește unghiul x din radiani în grade. </a:t>
            </a:r>
          </a:p>
          <a:p>
            <a:pPr>
              <a:buFontTx/>
              <a:buNone/>
            </a:pPr>
            <a:r>
              <a:rPr lang="ro-RO" sz="1800" kern="0" dirty="0"/>
              <a:t>	</a:t>
            </a:r>
            <a:r>
              <a:rPr lang="en-US" sz="1800" kern="0" dirty="0"/>
              <a:t>radians(x) </a:t>
            </a:r>
            <a:r>
              <a:rPr lang="ro-MO" sz="1800" kern="0" dirty="0"/>
              <a:t>		</a:t>
            </a:r>
            <a:r>
              <a:rPr lang="ro-RO" sz="1800" kern="0" dirty="0"/>
              <a:t>Transformă unghiul x din grade în radiani.</a:t>
            </a:r>
            <a:endParaRPr lang="ro-MO" sz="1800" kern="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721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reptunghi 19">
            <a:extLst>
              <a:ext uri="{FF2B5EF4-FFF2-40B4-BE49-F238E27FC236}">
                <a16:creationId xmlns:a16="http://schemas.microsoft.com/office/drawing/2014/main" id="{1C42E3E5-00A6-48F9-8765-700C0146C4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84B233E4-FA18-4470-BDED-29A9ED6CC86A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LECȚIA 5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B3D17EB5-A2B7-4167-B67B-AC0B75B71955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Rotunjirea în Python 3: regula corectă</a:t>
            </a:r>
          </a:p>
        </p:txBody>
      </p:sp>
      <p:pic>
        <p:nvPicPr>
          <p:cNvPr id="23" name="Imagin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60E9015F-0DF7-459B-B8B3-3DB9DED5BBBA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57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F9035F9C-DE8D-4273-A653-67468FA8A054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763250" cy="609600"/>
          </a:xfrm>
          <a:prstGeom prst="roundRect">
            <a:avLst>
              <a:gd name="adj" fmla="val 28125"/>
            </a:avLst>
          </a:prstGeom>
          <a:solidFill>
            <a:srgbClr val="FFECEF"/>
          </a:solidFill>
          <a:ln w="9525">
            <a:solidFill>
              <a:srgbClr val="FF6B7A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2025" b="1">
                <a:solidFill>
                  <a:srgbClr val="FF6B7A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La </a:t>
            </a:r>
            <a:r>
              <a:rPr sz="2025" b="1" dirty="0" err="1">
                <a:solidFill>
                  <a:srgbClr val="FF6B7A"/>
                </a:solidFill>
                <a:latin typeface="Arial"/>
                <a:ea typeface="Arial"/>
                <a:cs typeface="Arial"/>
              </a:rPr>
              <a:t>egală</a:t>
            </a:r>
            <a:r>
              <a:rPr sz="2025" b="1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FF6B7A"/>
                </a:solidFill>
                <a:latin typeface="Arial"/>
                <a:ea typeface="Arial"/>
                <a:cs typeface="Arial"/>
              </a:rPr>
              <a:t>distanță</a:t>
            </a:r>
            <a:r>
              <a:rPr sz="2025" b="1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FF6B7A"/>
                </a:solidFill>
                <a:latin typeface="Arial"/>
                <a:ea typeface="Arial"/>
                <a:cs typeface="Arial"/>
              </a:rPr>
              <a:t>între</a:t>
            </a:r>
            <a:r>
              <a:rPr sz="2025" b="1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FF6B7A"/>
                </a:solidFill>
                <a:latin typeface="Arial"/>
                <a:ea typeface="Arial"/>
                <a:cs typeface="Arial"/>
              </a:rPr>
              <a:t>două</a:t>
            </a:r>
            <a:r>
              <a:rPr sz="2025" b="1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FF6B7A"/>
                </a:solidFill>
                <a:latin typeface="Arial"/>
                <a:ea typeface="Arial"/>
                <a:cs typeface="Arial"/>
              </a:rPr>
              <a:t>numere</a:t>
            </a:r>
            <a:r>
              <a:rPr sz="2025" b="1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FF6B7A"/>
                </a:solidFill>
                <a:latin typeface="Arial"/>
                <a:ea typeface="Arial"/>
                <a:cs typeface="Arial"/>
              </a:rPr>
              <a:t>întregi</a:t>
            </a:r>
            <a:r>
              <a:rPr sz="2025" b="1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, </a:t>
            </a:r>
            <a:r>
              <a:rPr sz="2025" b="1" dirty="0">
                <a:latin typeface="Arial"/>
                <a:ea typeface="Arial"/>
                <a:cs typeface="Arial"/>
              </a:rPr>
              <a:t>round() </a:t>
            </a:r>
            <a:r>
              <a:rPr sz="2025" b="1" dirty="0" err="1">
                <a:solidFill>
                  <a:srgbClr val="FF6B7A"/>
                </a:solidFill>
                <a:latin typeface="Arial"/>
                <a:ea typeface="Arial"/>
                <a:cs typeface="Arial"/>
              </a:rPr>
              <a:t>alege</a:t>
            </a:r>
            <a:r>
              <a:rPr sz="2025" b="1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dirty="0" err="1">
                <a:solidFill>
                  <a:srgbClr val="FF6B7A"/>
                </a:solidFill>
                <a:latin typeface="Arial"/>
                <a:ea typeface="Arial"/>
                <a:cs typeface="Arial"/>
              </a:rPr>
              <a:t>rezultatul</a:t>
            </a:r>
            <a:r>
              <a:rPr sz="2025" b="1" dirty="0">
                <a:solidFill>
                  <a:srgbClr val="FF6B7A"/>
                </a:solidFill>
                <a:latin typeface="Arial"/>
                <a:ea typeface="Arial"/>
                <a:cs typeface="Arial"/>
              </a:rPr>
              <a:t> par.</a:t>
            </a:r>
          </a:p>
        </p:txBody>
      </p:sp>
      <p:sp>
        <p:nvSpPr>
          <p:cNvPr id="7" name="Dreptunghi: colțuri rotunjite 6">
            <a:extLst>
              <a:ext uri="{FF2B5EF4-FFF2-40B4-BE49-F238E27FC236}">
                <a16:creationId xmlns:a16="http://schemas.microsoft.com/office/drawing/2014/main" id="{A5203C18-53ED-488E-877E-1498A1B7DCC9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4381500" cy="2381250"/>
          </a:xfrm>
          <a:prstGeom prst="roundRect">
            <a:avLst>
              <a:gd name="adj" fmla="val 7200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8" name="Dreptunghi: colțuri rotunjite 7">
            <a:extLst>
              <a:ext uri="{FF2B5EF4-FFF2-40B4-BE49-F238E27FC236}">
                <a16:creationId xmlns:a16="http://schemas.microsoft.com/office/drawing/2014/main" id="{06AEE0E7-6980-4F25-A5D9-86FFBBA8F0E9}"/>
              </a:ext>
            </a:extLst>
          </p:cNvPr>
          <p:cNvSpPr>
            <a:spLocks noGrp="1"/>
          </p:cNvSpPr>
          <p:nvPr/>
        </p:nvSpPr>
        <p:spPr>
          <a:xfrm>
            <a:off x="1200150" y="259080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</a:ln>
        </p:spPr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D4EE5684-B949-4DDB-8364-D4E60FA68BC1}"/>
              </a:ext>
            </a:extLst>
          </p:cNvPr>
          <p:cNvSpPr>
            <a:spLocks noGrp="1"/>
          </p:cNvSpPr>
          <p:nvPr/>
        </p:nvSpPr>
        <p:spPr>
          <a:xfrm>
            <a:off x="1209675" y="259080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0" name="Dreptunghi 9">
            <a:extLst>
              <a:ext uri="{FF2B5EF4-FFF2-40B4-BE49-F238E27FC236}">
                <a16:creationId xmlns:a16="http://schemas.microsoft.com/office/drawing/2014/main" id="{D274AFB8-8350-43E3-A266-9013AB6878CD}"/>
              </a:ext>
            </a:extLst>
          </p:cNvPr>
          <p:cNvSpPr>
            <a:spLocks noGrp="1"/>
          </p:cNvSpPr>
          <p:nvPr/>
        </p:nvSpPr>
        <p:spPr>
          <a:xfrm>
            <a:off x="1219200" y="2914650"/>
            <a:ext cx="40386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round(0.5)   # 0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round(1.5)   # 2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round(2.5)   # 2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round(3.5)   # 4</a:t>
            </a:r>
          </a:p>
        </p:txBody>
      </p:sp>
      <p:sp>
        <p:nvSpPr>
          <p:cNvPr id="11" name="Dreptunghi: colțuri rotunjite 10">
            <a:extLst>
              <a:ext uri="{FF2B5EF4-FFF2-40B4-BE49-F238E27FC236}">
                <a16:creationId xmlns:a16="http://schemas.microsoft.com/office/drawing/2014/main" id="{2BB70ED5-4159-4165-A619-8453C51119D1}"/>
              </a:ext>
            </a:extLst>
          </p:cNvPr>
          <p:cNvSpPr>
            <a:spLocks noGrp="1"/>
          </p:cNvSpPr>
          <p:nvPr/>
        </p:nvSpPr>
        <p:spPr>
          <a:xfrm>
            <a:off x="6191250" y="2457450"/>
            <a:ext cx="4762500" cy="1047750"/>
          </a:xfrm>
          <a:prstGeom prst="roundRect">
            <a:avLst>
              <a:gd name="adj" fmla="val 16364"/>
            </a:avLst>
          </a:prstGeom>
          <a:solidFill>
            <a:srgbClr val="EAF3F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F21F8B1E-A1EB-428C-B002-A9920BC5DB40}"/>
              </a:ext>
            </a:extLst>
          </p:cNvPr>
          <p:cNvSpPr>
            <a:spLocks noGrp="1"/>
          </p:cNvSpPr>
          <p:nvPr/>
        </p:nvSpPr>
        <p:spPr>
          <a:xfrm>
            <a:off x="6191250" y="2457450"/>
            <a:ext cx="76200" cy="104775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5BEA024B-16E3-4E29-9FFF-187BCDDAFE97}"/>
              </a:ext>
            </a:extLst>
          </p:cNvPr>
          <p:cNvSpPr>
            <a:spLocks noGrp="1"/>
          </p:cNvSpPr>
          <p:nvPr/>
        </p:nvSpPr>
        <p:spPr>
          <a:xfrm>
            <a:off x="6400800" y="2590800"/>
            <a:ext cx="4419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De ce?</a:t>
            </a:r>
          </a:p>
        </p:txBody>
      </p:sp>
      <p:sp>
        <p:nvSpPr>
          <p:cNvPr id="14" name="Dreptunghi 13">
            <a:extLst>
              <a:ext uri="{FF2B5EF4-FFF2-40B4-BE49-F238E27FC236}">
                <a16:creationId xmlns:a16="http://schemas.microsoft.com/office/drawing/2014/main" id="{F896C034-5883-4F10-8992-C8E8C5798B1E}"/>
              </a:ext>
            </a:extLst>
          </p:cNvPr>
          <p:cNvSpPr>
            <a:spLocks noGrp="1"/>
          </p:cNvSpPr>
          <p:nvPr/>
        </p:nvSpPr>
        <p:spPr>
          <a:xfrm>
            <a:off x="6400800" y="3009900"/>
            <a:ext cx="4419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Python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folosește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rotunjirea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„la par”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pentru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cazurile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de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egalitate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5" name="Dreptunghi: colțuri rotunjite 14">
            <a:extLst>
              <a:ext uri="{FF2B5EF4-FFF2-40B4-BE49-F238E27FC236}">
                <a16:creationId xmlns:a16="http://schemas.microsoft.com/office/drawing/2014/main" id="{8C7E1C0D-E887-4886-9E3C-F40331C40AA6}"/>
              </a:ext>
            </a:extLst>
          </p:cNvPr>
          <p:cNvSpPr>
            <a:spLocks noGrp="1"/>
          </p:cNvSpPr>
          <p:nvPr/>
        </p:nvSpPr>
        <p:spPr>
          <a:xfrm>
            <a:off x="6191250" y="3752850"/>
            <a:ext cx="4762500" cy="1047750"/>
          </a:xfrm>
          <a:prstGeom prst="roundRect">
            <a:avLst>
              <a:gd name="adj" fmla="val 16364"/>
            </a:avLst>
          </a:prstGeom>
          <a:solidFill>
            <a:srgbClr val="F0ED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6" name="Dreptunghi 15">
            <a:extLst>
              <a:ext uri="{FF2B5EF4-FFF2-40B4-BE49-F238E27FC236}">
                <a16:creationId xmlns:a16="http://schemas.microsoft.com/office/drawing/2014/main" id="{38259D55-9809-4D5E-9C4C-BC41C63B0574}"/>
              </a:ext>
            </a:extLst>
          </p:cNvPr>
          <p:cNvSpPr>
            <a:spLocks noGrp="1"/>
          </p:cNvSpPr>
          <p:nvPr/>
        </p:nvSpPr>
        <p:spPr>
          <a:xfrm>
            <a:off x="6191250" y="3752850"/>
            <a:ext cx="76200" cy="1047750"/>
          </a:xfrm>
          <a:prstGeom prst="rect">
            <a:avLst/>
          </a:prstGeom>
          <a:solidFill>
            <a:srgbClr val="8B7CFF"/>
          </a:solidFill>
          <a:ln w="0">
            <a:noFill/>
          </a:ln>
        </p:spPr>
      </p:sp>
      <p:sp>
        <p:nvSpPr>
          <p:cNvPr id="17" name="Dreptunghi 16">
            <a:extLst>
              <a:ext uri="{FF2B5EF4-FFF2-40B4-BE49-F238E27FC236}">
                <a16:creationId xmlns:a16="http://schemas.microsoft.com/office/drawing/2014/main" id="{EC334A42-F277-432B-83F4-61C6BF5D576B}"/>
              </a:ext>
            </a:extLst>
          </p:cNvPr>
          <p:cNvSpPr>
            <a:spLocks noGrp="1"/>
          </p:cNvSpPr>
          <p:nvPr/>
        </p:nvSpPr>
        <p:spPr>
          <a:xfrm>
            <a:off x="6400800" y="3886200"/>
            <a:ext cx="4419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Atenție la float</a:t>
            </a:r>
          </a:p>
        </p:txBody>
      </p:sp>
      <p:sp>
        <p:nvSpPr>
          <p:cNvPr id="18" name="Dreptunghi 17">
            <a:extLst>
              <a:ext uri="{FF2B5EF4-FFF2-40B4-BE49-F238E27FC236}">
                <a16:creationId xmlns:a16="http://schemas.microsoft.com/office/drawing/2014/main" id="{371EDAB3-A12A-4F80-A448-1C2B5F92B8DB}"/>
              </a:ext>
            </a:extLst>
          </p:cNvPr>
          <p:cNvSpPr>
            <a:spLocks noGrp="1"/>
          </p:cNvSpPr>
          <p:nvPr/>
        </p:nvSpPr>
        <p:spPr>
          <a:xfrm>
            <a:off x="6400800" y="4305300"/>
            <a:ext cx="4419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Unele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zecimale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nu au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reprezentare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binară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exactă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. De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exemplu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, round(2.675, 2)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poate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afișa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2.67.</a:t>
            </a:r>
          </a:p>
        </p:txBody>
      </p:sp>
      <p:sp>
        <p:nvSpPr>
          <p:cNvPr id="19" name="Dreptunghi 18">
            <a:extLst>
              <a:ext uri="{FF2B5EF4-FFF2-40B4-BE49-F238E27FC236}">
                <a16:creationId xmlns:a16="http://schemas.microsoft.com/office/drawing/2014/main" id="{37ACEBC8-D329-4540-BD5A-C3A146B81CEC}"/>
              </a:ext>
            </a:extLst>
          </p:cNvPr>
          <p:cNvSpPr>
            <a:spLocks noGrp="1"/>
          </p:cNvSpPr>
          <p:nvPr/>
        </p:nvSpPr>
        <p:spPr>
          <a:xfrm>
            <a:off x="2000250" y="5429250"/>
            <a:ext cx="8191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ctr">
              <a:defRPr sz="1875" b="1">
                <a:solidFill>
                  <a:srgbClr val="FF6B7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B7A"/>
                </a:solidFill>
                <a:latin typeface="Arial"/>
                <a:ea typeface="Arial"/>
                <a:cs typeface="Arial"/>
              </a:rPr>
              <a:t>Corectare esențială: round(0.5) nu este 1.0 în Python 3.</a:t>
            </a:r>
          </a:p>
        </p:txBody>
      </p:sp>
    </p:spTree>
    <p:extLst>
      <p:ext uri="{BB962C8B-B14F-4D97-AF65-F5344CB8AC3E}">
        <p14:creationId xmlns:p14="http://schemas.microsoft.com/office/powerpoint/2010/main" val="144074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reptunghi 26">
            <a:extLst>
              <a:ext uri="{FF2B5EF4-FFF2-40B4-BE49-F238E27FC236}">
                <a16:creationId xmlns:a16="http://schemas.microsoft.com/office/drawing/2014/main" id="{BCF76DFE-B0AB-4C4D-9EF9-04F5DFB44D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6F0D8885-15F4-40D5-A85C-9DB2910D45DD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LECȚIA 5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AF96D374-87CC-485D-8039-E9B4DFC3BA4F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Modulul math: import și funcții uzuale</a:t>
            </a:r>
          </a:p>
        </p:txBody>
      </p:sp>
      <p:pic>
        <p:nvPicPr>
          <p:cNvPr id="30" name="Imagin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7460CB0C-1616-46FE-8C64-560970F021EE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57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7E099989-5C2B-487C-82D9-ADFF14EB14F2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4953000" cy="3048000"/>
          </a:xfrm>
          <a:prstGeom prst="roundRect">
            <a:avLst>
              <a:gd name="adj" fmla="val 5625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7" name="Dreptunghi: colțuri rotunjite 6">
            <a:extLst>
              <a:ext uri="{FF2B5EF4-FFF2-40B4-BE49-F238E27FC236}">
                <a16:creationId xmlns:a16="http://schemas.microsoft.com/office/drawing/2014/main" id="{30A0FAEA-5A61-4C7F-9829-030A342FF970}"/>
              </a:ext>
            </a:extLst>
          </p:cNvPr>
          <p:cNvSpPr>
            <a:spLocks noGrp="1"/>
          </p:cNvSpPr>
          <p:nvPr/>
        </p:nvSpPr>
        <p:spPr>
          <a:xfrm>
            <a:off x="723900" y="1609725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60426935-C698-4CE2-A17B-328C24B6525E}"/>
              </a:ext>
            </a:extLst>
          </p:cNvPr>
          <p:cNvSpPr>
            <a:spLocks noGrp="1"/>
          </p:cNvSpPr>
          <p:nvPr/>
        </p:nvSpPr>
        <p:spPr>
          <a:xfrm>
            <a:off x="733425" y="1609725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B3AA3C1F-6638-49F5-8F49-A4CE4332FB36}"/>
              </a:ext>
            </a:extLst>
          </p:cNvPr>
          <p:cNvSpPr>
            <a:spLocks noGrp="1"/>
          </p:cNvSpPr>
          <p:nvPr/>
        </p:nvSpPr>
        <p:spPr>
          <a:xfrm>
            <a:off x="742950" y="1933575"/>
            <a:ext cx="4610100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import math</a:t>
            </a:r>
          </a:p>
          <a:p>
            <a:endParaRPr sz="1500" b="0">
              <a:solidFill>
                <a:srgbClr val="E6EDF3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r = math.sqrt(81)   # 9.0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c = math.ceil(4.2)  # 5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f = math.floor(4.8) # 4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7B48ECBD-1BCF-45F6-9E55-B2A3B132E162}"/>
              </a:ext>
            </a:extLst>
          </p:cNvPr>
          <p:cNvSpPr>
            <a:spLocks noGrp="1"/>
          </p:cNvSpPr>
          <p:nvPr/>
        </p:nvSpPr>
        <p:spPr>
          <a:xfrm>
            <a:off x="6096000" y="1428750"/>
            <a:ext cx="5143500" cy="895350"/>
          </a:xfrm>
          <a:prstGeom prst="roundRect">
            <a:avLst>
              <a:gd name="adj" fmla="val 19149"/>
            </a:avLst>
          </a:prstGeom>
          <a:solidFill>
            <a:srgbClr val="EAF3F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1" name="Dreptunghi 10">
            <a:extLst>
              <a:ext uri="{FF2B5EF4-FFF2-40B4-BE49-F238E27FC236}">
                <a16:creationId xmlns:a16="http://schemas.microsoft.com/office/drawing/2014/main" id="{82F9326B-F97A-44E9-8AB5-D12099FF9C63}"/>
              </a:ext>
            </a:extLst>
          </p:cNvPr>
          <p:cNvSpPr>
            <a:spLocks noGrp="1"/>
          </p:cNvSpPr>
          <p:nvPr/>
        </p:nvSpPr>
        <p:spPr>
          <a:xfrm>
            <a:off x="6096000" y="1428750"/>
            <a:ext cx="76200" cy="89535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AEA0DD16-8AD4-42A0-8651-C9D8380B4CA5}"/>
              </a:ext>
            </a:extLst>
          </p:cNvPr>
          <p:cNvSpPr>
            <a:spLocks noGrp="1"/>
          </p:cNvSpPr>
          <p:nvPr/>
        </p:nvSpPr>
        <p:spPr>
          <a:xfrm>
            <a:off x="6305550" y="1562100"/>
            <a:ext cx="4800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Rădăcini și puteri</a:t>
            </a:r>
          </a:p>
        </p:txBody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CEFE1DD3-3129-4021-8801-B1DA510A54AE}"/>
              </a:ext>
            </a:extLst>
          </p:cNvPr>
          <p:cNvSpPr>
            <a:spLocks noGrp="1"/>
          </p:cNvSpPr>
          <p:nvPr/>
        </p:nvSpPr>
        <p:spPr>
          <a:xfrm>
            <a:off x="6305550" y="1981200"/>
            <a:ext cx="4800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sqrt(x), exp(x), pow(x, y)</a:t>
            </a:r>
          </a:p>
        </p:txBody>
      </p:sp>
      <p:sp>
        <p:nvSpPr>
          <p:cNvPr id="14" name="Dreptunghi: colțuri rotunjite 13">
            <a:extLst>
              <a:ext uri="{FF2B5EF4-FFF2-40B4-BE49-F238E27FC236}">
                <a16:creationId xmlns:a16="http://schemas.microsoft.com/office/drawing/2014/main" id="{00B29AE4-C1AD-4DAC-9A10-75A4DB9CBF66}"/>
              </a:ext>
            </a:extLst>
          </p:cNvPr>
          <p:cNvSpPr>
            <a:spLocks noGrp="1"/>
          </p:cNvSpPr>
          <p:nvPr/>
        </p:nvSpPr>
        <p:spPr>
          <a:xfrm>
            <a:off x="6096000" y="2514600"/>
            <a:ext cx="5143500" cy="895350"/>
          </a:xfrm>
          <a:prstGeom prst="roundRect">
            <a:avLst>
              <a:gd name="adj" fmla="val 19149"/>
            </a:avLst>
          </a:prstGeom>
          <a:solidFill>
            <a:srgbClr val="E7F8F1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5" name="Dreptunghi 14">
            <a:extLst>
              <a:ext uri="{FF2B5EF4-FFF2-40B4-BE49-F238E27FC236}">
                <a16:creationId xmlns:a16="http://schemas.microsoft.com/office/drawing/2014/main" id="{93D22146-495C-453E-88F5-CAA3B0BD17C8}"/>
              </a:ext>
            </a:extLst>
          </p:cNvPr>
          <p:cNvSpPr>
            <a:spLocks noGrp="1"/>
          </p:cNvSpPr>
          <p:nvPr/>
        </p:nvSpPr>
        <p:spPr>
          <a:xfrm>
            <a:off x="6096000" y="2514600"/>
            <a:ext cx="76200" cy="895350"/>
          </a:xfrm>
          <a:prstGeom prst="rect">
            <a:avLst/>
          </a:prstGeom>
          <a:solidFill>
            <a:srgbClr val="2DBE7F"/>
          </a:solidFill>
          <a:ln w="0">
            <a:noFill/>
          </a:ln>
        </p:spPr>
      </p:sp>
      <p:sp>
        <p:nvSpPr>
          <p:cNvPr id="16" name="Dreptunghi 15">
            <a:extLst>
              <a:ext uri="{FF2B5EF4-FFF2-40B4-BE49-F238E27FC236}">
                <a16:creationId xmlns:a16="http://schemas.microsoft.com/office/drawing/2014/main" id="{F2A0F244-E86E-4B34-8C85-FF8EE361308D}"/>
              </a:ext>
            </a:extLst>
          </p:cNvPr>
          <p:cNvSpPr>
            <a:spLocks noGrp="1"/>
          </p:cNvSpPr>
          <p:nvPr/>
        </p:nvSpPr>
        <p:spPr>
          <a:xfrm>
            <a:off x="6305550" y="2647950"/>
            <a:ext cx="4800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Rotunjire și descompunere</a:t>
            </a:r>
          </a:p>
        </p:txBody>
      </p:sp>
      <p:sp>
        <p:nvSpPr>
          <p:cNvPr id="17" name="Dreptunghi 16">
            <a:extLst>
              <a:ext uri="{FF2B5EF4-FFF2-40B4-BE49-F238E27FC236}">
                <a16:creationId xmlns:a16="http://schemas.microsoft.com/office/drawing/2014/main" id="{E8AF60EB-DA12-4919-A652-E3A7B9B91567}"/>
              </a:ext>
            </a:extLst>
          </p:cNvPr>
          <p:cNvSpPr>
            <a:spLocks noGrp="1"/>
          </p:cNvSpPr>
          <p:nvPr/>
        </p:nvSpPr>
        <p:spPr>
          <a:xfrm>
            <a:off x="6305550" y="3067050"/>
            <a:ext cx="4800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ceil(x), floor(x),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trunc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(x),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modf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(x)</a:t>
            </a:r>
          </a:p>
        </p:txBody>
      </p:sp>
      <p:sp>
        <p:nvSpPr>
          <p:cNvPr id="18" name="Dreptunghi: colțuri rotunjite 17">
            <a:extLst>
              <a:ext uri="{FF2B5EF4-FFF2-40B4-BE49-F238E27FC236}">
                <a16:creationId xmlns:a16="http://schemas.microsoft.com/office/drawing/2014/main" id="{78003028-1836-4ED0-95A3-1BA2ACA65C32}"/>
              </a:ext>
            </a:extLst>
          </p:cNvPr>
          <p:cNvSpPr>
            <a:spLocks noGrp="1"/>
          </p:cNvSpPr>
          <p:nvPr/>
        </p:nvSpPr>
        <p:spPr>
          <a:xfrm>
            <a:off x="6096000" y="3600450"/>
            <a:ext cx="5143500" cy="895350"/>
          </a:xfrm>
          <a:prstGeom prst="roundRect">
            <a:avLst>
              <a:gd name="adj" fmla="val 19149"/>
            </a:avLst>
          </a:prstGeom>
          <a:solidFill>
            <a:srgbClr val="F0ED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9" name="Dreptunghi 18">
            <a:extLst>
              <a:ext uri="{FF2B5EF4-FFF2-40B4-BE49-F238E27FC236}">
                <a16:creationId xmlns:a16="http://schemas.microsoft.com/office/drawing/2014/main" id="{BA172399-0428-4779-B814-C289933B4563}"/>
              </a:ext>
            </a:extLst>
          </p:cNvPr>
          <p:cNvSpPr>
            <a:spLocks noGrp="1"/>
          </p:cNvSpPr>
          <p:nvPr/>
        </p:nvSpPr>
        <p:spPr>
          <a:xfrm>
            <a:off x="6096000" y="3600450"/>
            <a:ext cx="76200" cy="895350"/>
          </a:xfrm>
          <a:prstGeom prst="rect">
            <a:avLst/>
          </a:prstGeom>
          <a:solidFill>
            <a:srgbClr val="8B7CFF"/>
          </a:solidFill>
          <a:ln w="0">
            <a:noFill/>
          </a:ln>
        </p:spPr>
      </p:sp>
      <p:sp>
        <p:nvSpPr>
          <p:cNvPr id="20" name="Dreptunghi 19">
            <a:extLst>
              <a:ext uri="{FF2B5EF4-FFF2-40B4-BE49-F238E27FC236}">
                <a16:creationId xmlns:a16="http://schemas.microsoft.com/office/drawing/2014/main" id="{907EEBB0-BB9B-48CD-8DEF-E11ABCAEEACB}"/>
              </a:ext>
            </a:extLst>
          </p:cNvPr>
          <p:cNvSpPr>
            <a:spLocks noGrp="1"/>
          </p:cNvSpPr>
          <p:nvPr/>
        </p:nvSpPr>
        <p:spPr>
          <a:xfrm>
            <a:off x="6305550" y="3733800"/>
            <a:ext cx="4800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Logaritmi</a:t>
            </a:r>
          </a:p>
        </p:txBody>
      </p:sp>
      <p:sp>
        <p:nvSpPr>
          <p:cNvPr id="21" name="Dreptunghi 20">
            <a:extLst>
              <a:ext uri="{FF2B5EF4-FFF2-40B4-BE49-F238E27FC236}">
                <a16:creationId xmlns:a16="http://schemas.microsoft.com/office/drawing/2014/main" id="{3BD2026C-A176-41B5-964E-AB51160D2F52}"/>
              </a:ext>
            </a:extLst>
          </p:cNvPr>
          <p:cNvSpPr>
            <a:spLocks noGrp="1"/>
          </p:cNvSpPr>
          <p:nvPr/>
        </p:nvSpPr>
        <p:spPr>
          <a:xfrm>
            <a:off x="6305550" y="4152900"/>
            <a:ext cx="4800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log(x), log10(x), log2(x), cu x &gt; 0</a:t>
            </a:r>
          </a:p>
        </p:txBody>
      </p:sp>
      <p:sp>
        <p:nvSpPr>
          <p:cNvPr id="22" name="Dreptunghi: colțuri rotunjite 21">
            <a:extLst>
              <a:ext uri="{FF2B5EF4-FFF2-40B4-BE49-F238E27FC236}">
                <a16:creationId xmlns:a16="http://schemas.microsoft.com/office/drawing/2014/main" id="{E3722293-E9B5-4E74-A0DC-D97A07085867}"/>
              </a:ext>
            </a:extLst>
          </p:cNvPr>
          <p:cNvSpPr>
            <a:spLocks noGrp="1"/>
          </p:cNvSpPr>
          <p:nvPr/>
        </p:nvSpPr>
        <p:spPr>
          <a:xfrm>
            <a:off x="6096000" y="4686300"/>
            <a:ext cx="5143500" cy="895350"/>
          </a:xfrm>
          <a:prstGeom prst="roundRect">
            <a:avLst>
              <a:gd name="adj" fmla="val 19149"/>
            </a:avLst>
          </a:prstGeom>
          <a:solidFill>
            <a:srgbClr val="FFECE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23" name="Dreptunghi 22">
            <a:extLst>
              <a:ext uri="{FF2B5EF4-FFF2-40B4-BE49-F238E27FC236}">
                <a16:creationId xmlns:a16="http://schemas.microsoft.com/office/drawing/2014/main" id="{F34F847D-1923-45A9-9639-C9A120ACAA77}"/>
              </a:ext>
            </a:extLst>
          </p:cNvPr>
          <p:cNvSpPr>
            <a:spLocks noGrp="1"/>
          </p:cNvSpPr>
          <p:nvPr/>
        </p:nvSpPr>
        <p:spPr>
          <a:xfrm>
            <a:off x="6096000" y="4686300"/>
            <a:ext cx="76200" cy="895350"/>
          </a:xfrm>
          <a:prstGeom prst="rect">
            <a:avLst/>
          </a:prstGeom>
          <a:solidFill>
            <a:srgbClr val="FF6B7A"/>
          </a:solidFill>
          <a:ln w="0">
            <a:noFill/>
          </a:ln>
        </p:spPr>
      </p:sp>
      <p:sp>
        <p:nvSpPr>
          <p:cNvPr id="24" name="Dreptunghi 23">
            <a:extLst>
              <a:ext uri="{FF2B5EF4-FFF2-40B4-BE49-F238E27FC236}">
                <a16:creationId xmlns:a16="http://schemas.microsoft.com/office/drawing/2014/main" id="{1A0495D3-1486-4D8E-892A-711D72918F39}"/>
              </a:ext>
            </a:extLst>
          </p:cNvPr>
          <p:cNvSpPr>
            <a:spLocks noGrp="1"/>
          </p:cNvSpPr>
          <p:nvPr/>
        </p:nvSpPr>
        <p:spPr>
          <a:xfrm>
            <a:off x="6305550" y="4819650"/>
            <a:ext cx="4800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Constante</a:t>
            </a:r>
          </a:p>
        </p:txBody>
      </p:sp>
      <p:sp>
        <p:nvSpPr>
          <p:cNvPr id="25" name="Dreptunghi 24">
            <a:extLst>
              <a:ext uri="{FF2B5EF4-FFF2-40B4-BE49-F238E27FC236}">
                <a16:creationId xmlns:a16="http://schemas.microsoft.com/office/drawing/2014/main" id="{6F05E020-AE8D-40BE-884C-074DA95E00D9}"/>
              </a:ext>
            </a:extLst>
          </p:cNvPr>
          <p:cNvSpPr>
            <a:spLocks noGrp="1"/>
          </p:cNvSpPr>
          <p:nvPr/>
        </p:nvSpPr>
        <p:spPr>
          <a:xfrm>
            <a:off x="6305550" y="5238750"/>
            <a:ext cx="4800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math.pi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,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math.e</a:t>
            </a:r>
            <a:endParaRPr sz="1400" b="0" dirty="0">
              <a:solidFill>
                <a:srgbClr val="5865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Dreptunghi 25">
            <a:extLst>
              <a:ext uri="{FF2B5EF4-FFF2-40B4-BE49-F238E27FC236}">
                <a16:creationId xmlns:a16="http://schemas.microsoft.com/office/drawing/2014/main" id="{4FC8D65A-CA32-4F79-AFC5-C98937DB78A2}"/>
              </a:ext>
            </a:extLst>
          </p:cNvPr>
          <p:cNvSpPr>
            <a:spLocks noGrp="1"/>
          </p:cNvSpPr>
          <p:nvPr/>
        </p:nvSpPr>
        <p:spPr>
          <a:xfrm>
            <a:off x="666750" y="5429250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2036" lnSpcReduction="20000"/>
          </a:bodyPr>
          <a:lstStyle/>
          <a:p>
            <a:pPr>
              <a:defRPr sz="1575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575" b="1" dirty="0" err="1">
                <a:solidFill>
                  <a:srgbClr val="3776AB"/>
                </a:solidFill>
                <a:latin typeface="Arial"/>
                <a:ea typeface="Arial"/>
                <a:cs typeface="Arial"/>
              </a:rPr>
              <a:t>math.sqrt</a:t>
            </a:r>
            <a:r>
              <a:rPr sz="1575" b="1" dirty="0">
                <a:solidFill>
                  <a:srgbClr val="3776AB"/>
                </a:solidFill>
                <a:latin typeface="Arial"/>
                <a:ea typeface="Arial"/>
                <a:cs typeface="Arial"/>
              </a:rPr>
              <a:t>(0) </a:t>
            </a:r>
            <a:r>
              <a:rPr sz="1575" b="1" dirty="0" err="1">
                <a:solidFill>
                  <a:srgbClr val="3776AB"/>
                </a:solidFill>
                <a:latin typeface="Arial"/>
                <a:ea typeface="Arial"/>
                <a:cs typeface="Arial"/>
              </a:rPr>
              <a:t>este</a:t>
            </a:r>
            <a:r>
              <a:rPr sz="1575" b="1" dirty="0">
                <a:solidFill>
                  <a:srgbClr val="3776AB"/>
                </a:solidFill>
                <a:latin typeface="Arial"/>
                <a:ea typeface="Arial"/>
                <a:cs typeface="Arial"/>
              </a:rPr>
              <a:t> valid; </a:t>
            </a:r>
            <a:endParaRPr lang="ro-RO" sz="1575" b="1" dirty="0">
              <a:solidFill>
                <a:srgbClr val="3776AB"/>
              </a:solidFill>
              <a:latin typeface="Arial"/>
              <a:ea typeface="Arial"/>
              <a:cs typeface="Arial"/>
            </a:endParaRPr>
          </a:p>
          <a:p>
            <a:pPr>
              <a:defRPr sz="1575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575" b="1" dirty="0" err="1">
                <a:solidFill>
                  <a:srgbClr val="3776AB"/>
                </a:solidFill>
                <a:latin typeface="Arial"/>
                <a:ea typeface="Arial"/>
                <a:cs typeface="Arial"/>
              </a:rPr>
              <a:t>math.fabs</a:t>
            </a:r>
            <a:r>
              <a:rPr sz="1575" b="1" dirty="0">
                <a:solidFill>
                  <a:srgbClr val="3776AB"/>
                </a:solidFill>
                <a:latin typeface="Arial"/>
                <a:ea typeface="Arial"/>
                <a:cs typeface="Arial"/>
              </a:rPr>
              <a:t>(x) </a:t>
            </a:r>
            <a:r>
              <a:rPr sz="1575" b="1" dirty="0" err="1">
                <a:solidFill>
                  <a:srgbClr val="3776AB"/>
                </a:solidFill>
                <a:latin typeface="Arial"/>
                <a:ea typeface="Arial"/>
                <a:cs typeface="Arial"/>
              </a:rPr>
              <a:t>întoarce</a:t>
            </a:r>
            <a:r>
              <a:rPr sz="1575" b="1" dirty="0">
                <a:solidFill>
                  <a:srgbClr val="3776AB"/>
                </a:solidFill>
                <a:latin typeface="Arial"/>
                <a:ea typeface="Arial"/>
                <a:cs typeface="Arial"/>
              </a:rPr>
              <a:t> un float.</a:t>
            </a:r>
          </a:p>
        </p:txBody>
      </p:sp>
    </p:spTree>
    <p:extLst>
      <p:ext uri="{BB962C8B-B14F-4D97-AF65-F5344CB8AC3E}">
        <p14:creationId xmlns:p14="http://schemas.microsoft.com/office/powerpoint/2010/main" val="175978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reptunghi 22">
            <a:extLst>
              <a:ext uri="{FF2B5EF4-FFF2-40B4-BE49-F238E27FC236}">
                <a16:creationId xmlns:a16="http://schemas.microsoft.com/office/drawing/2014/main" id="{AED33D85-BC96-4FD3-96EA-5A6A6AF39E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98A490D3-206B-4DF8-9304-9333AF3C1F81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LECȚIA 5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EAF87F10-3F16-47AB-88A5-04B131EDF018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Funcțiile trigonometrice folosesc radiani</a:t>
            </a:r>
          </a:p>
        </p:txBody>
      </p:sp>
      <p:pic>
        <p:nvPicPr>
          <p:cNvPr id="26" name="Imagin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8B00B293-6D00-4CA1-A942-A02835C8356D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57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10E7793A-08C6-45B0-BB8E-D38671FFD63A}"/>
              </a:ext>
            </a:extLst>
          </p:cNvPr>
          <p:cNvSpPr>
            <a:spLocks noGrp="1"/>
          </p:cNvSpPr>
          <p:nvPr/>
        </p:nvSpPr>
        <p:spPr>
          <a:xfrm>
            <a:off x="590550" y="1524000"/>
            <a:ext cx="6191250" cy="257175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7" name="Dreptunghi: colțuri rotunjite 6">
            <a:extLst>
              <a:ext uri="{FF2B5EF4-FFF2-40B4-BE49-F238E27FC236}">
                <a16:creationId xmlns:a16="http://schemas.microsoft.com/office/drawing/2014/main" id="{EADA5F97-84CD-442B-B1FC-1798EF5DD2E6}"/>
              </a:ext>
            </a:extLst>
          </p:cNvPr>
          <p:cNvSpPr>
            <a:spLocks noGrp="1"/>
          </p:cNvSpPr>
          <p:nvPr/>
        </p:nvSpPr>
        <p:spPr>
          <a:xfrm>
            <a:off x="742950" y="16573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8EECE28D-0EA1-4736-A79D-A7E0E287A8ED}"/>
              </a:ext>
            </a:extLst>
          </p:cNvPr>
          <p:cNvSpPr>
            <a:spLocks noGrp="1"/>
          </p:cNvSpPr>
          <p:nvPr/>
        </p:nvSpPr>
        <p:spPr>
          <a:xfrm>
            <a:off x="752475" y="165735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854B40E5-2DAF-4C31-A1BA-C3AB15138B01}"/>
              </a:ext>
            </a:extLst>
          </p:cNvPr>
          <p:cNvSpPr>
            <a:spLocks noGrp="1"/>
          </p:cNvSpPr>
          <p:nvPr/>
        </p:nvSpPr>
        <p:spPr>
          <a:xfrm>
            <a:off x="762000" y="1981200"/>
            <a:ext cx="584835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import math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unghi_grade = 30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unghi_rad = math.radians(unghi_grade)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print(math.sin(unghi_rad))  # 0.5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9B986633-268D-40B2-AE10-CCACE4677714}"/>
              </a:ext>
            </a:extLst>
          </p:cNvPr>
          <p:cNvSpPr>
            <a:spLocks noGrp="1"/>
          </p:cNvSpPr>
          <p:nvPr/>
        </p:nvSpPr>
        <p:spPr>
          <a:xfrm>
            <a:off x="7239000" y="1524000"/>
            <a:ext cx="4095750" cy="1028700"/>
          </a:xfrm>
          <a:prstGeom prst="roundRect">
            <a:avLst>
              <a:gd name="adj" fmla="val 16667"/>
            </a:avLst>
          </a:prstGeom>
          <a:solidFill>
            <a:srgbClr val="EAF3F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1" name="Dreptunghi 10">
            <a:extLst>
              <a:ext uri="{FF2B5EF4-FFF2-40B4-BE49-F238E27FC236}">
                <a16:creationId xmlns:a16="http://schemas.microsoft.com/office/drawing/2014/main" id="{03EDE475-A03A-4959-939D-34EE2A297BD2}"/>
              </a:ext>
            </a:extLst>
          </p:cNvPr>
          <p:cNvSpPr>
            <a:spLocks noGrp="1"/>
          </p:cNvSpPr>
          <p:nvPr/>
        </p:nvSpPr>
        <p:spPr>
          <a:xfrm>
            <a:off x="7239000" y="1524000"/>
            <a:ext cx="76200" cy="10287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C38706D0-A38F-45A2-BFA3-44ACD57A8F67}"/>
              </a:ext>
            </a:extLst>
          </p:cNvPr>
          <p:cNvSpPr>
            <a:spLocks noGrp="1"/>
          </p:cNvSpPr>
          <p:nvPr/>
        </p:nvSpPr>
        <p:spPr>
          <a:xfrm>
            <a:off x="7448550" y="1657350"/>
            <a:ext cx="3752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Conversii</a:t>
            </a:r>
          </a:p>
        </p:txBody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58708373-7869-476C-9684-536F59410145}"/>
              </a:ext>
            </a:extLst>
          </p:cNvPr>
          <p:cNvSpPr>
            <a:spLocks noGrp="1"/>
          </p:cNvSpPr>
          <p:nvPr/>
        </p:nvSpPr>
        <p:spPr>
          <a:xfrm>
            <a:off x="7448550" y="2076450"/>
            <a:ext cx="3752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math.radians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(grade)</a:t>
            </a:r>
          </a:p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math.degrees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(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radiani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14" name="Dreptunghi: colțuri rotunjite 13">
            <a:extLst>
              <a:ext uri="{FF2B5EF4-FFF2-40B4-BE49-F238E27FC236}">
                <a16:creationId xmlns:a16="http://schemas.microsoft.com/office/drawing/2014/main" id="{70385347-D6B9-4C1A-AA46-E6487B255CC7}"/>
              </a:ext>
            </a:extLst>
          </p:cNvPr>
          <p:cNvSpPr>
            <a:spLocks noGrp="1"/>
          </p:cNvSpPr>
          <p:nvPr/>
        </p:nvSpPr>
        <p:spPr>
          <a:xfrm>
            <a:off x="7239000" y="2781300"/>
            <a:ext cx="4095750" cy="1028700"/>
          </a:xfrm>
          <a:prstGeom prst="roundRect">
            <a:avLst>
              <a:gd name="adj" fmla="val 16667"/>
            </a:avLst>
          </a:prstGeom>
          <a:solidFill>
            <a:srgbClr val="E7F8F1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5" name="Dreptunghi 14">
            <a:extLst>
              <a:ext uri="{FF2B5EF4-FFF2-40B4-BE49-F238E27FC236}">
                <a16:creationId xmlns:a16="http://schemas.microsoft.com/office/drawing/2014/main" id="{816E9CD8-C547-4538-8850-85D644AB97CF}"/>
              </a:ext>
            </a:extLst>
          </p:cNvPr>
          <p:cNvSpPr>
            <a:spLocks noGrp="1"/>
          </p:cNvSpPr>
          <p:nvPr/>
        </p:nvSpPr>
        <p:spPr>
          <a:xfrm>
            <a:off x="7239000" y="2781300"/>
            <a:ext cx="76200" cy="1028700"/>
          </a:xfrm>
          <a:prstGeom prst="rect">
            <a:avLst/>
          </a:prstGeom>
          <a:solidFill>
            <a:srgbClr val="2DBE7F"/>
          </a:solidFill>
          <a:ln w="0">
            <a:noFill/>
          </a:ln>
        </p:spPr>
      </p:sp>
      <p:sp>
        <p:nvSpPr>
          <p:cNvPr id="16" name="Dreptunghi 15">
            <a:extLst>
              <a:ext uri="{FF2B5EF4-FFF2-40B4-BE49-F238E27FC236}">
                <a16:creationId xmlns:a16="http://schemas.microsoft.com/office/drawing/2014/main" id="{F4BD2E86-B29B-4EC4-9484-80DAF2D7C7EF}"/>
              </a:ext>
            </a:extLst>
          </p:cNvPr>
          <p:cNvSpPr>
            <a:spLocks noGrp="1"/>
          </p:cNvSpPr>
          <p:nvPr/>
        </p:nvSpPr>
        <p:spPr>
          <a:xfrm>
            <a:off x="7448550" y="2914650"/>
            <a:ext cx="3752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Trigonometrie</a:t>
            </a:r>
          </a:p>
        </p:txBody>
      </p:sp>
      <p:sp>
        <p:nvSpPr>
          <p:cNvPr id="17" name="Dreptunghi 16">
            <a:extLst>
              <a:ext uri="{FF2B5EF4-FFF2-40B4-BE49-F238E27FC236}">
                <a16:creationId xmlns:a16="http://schemas.microsoft.com/office/drawing/2014/main" id="{A5110CB1-A3EF-424F-BE78-07EE3285FAFF}"/>
              </a:ext>
            </a:extLst>
          </p:cNvPr>
          <p:cNvSpPr>
            <a:spLocks noGrp="1"/>
          </p:cNvSpPr>
          <p:nvPr/>
        </p:nvSpPr>
        <p:spPr>
          <a:xfrm>
            <a:off x="7448550" y="3333750"/>
            <a:ext cx="3752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sin, cos, tan</a:t>
            </a:r>
          </a:p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asin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,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acos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,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atan</a:t>
            </a:r>
            <a:endParaRPr sz="1400" b="0" dirty="0">
              <a:solidFill>
                <a:srgbClr val="5865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Dreptunghi: colțuri rotunjite 17">
            <a:extLst>
              <a:ext uri="{FF2B5EF4-FFF2-40B4-BE49-F238E27FC236}">
                <a16:creationId xmlns:a16="http://schemas.microsoft.com/office/drawing/2014/main" id="{75E93633-FBAD-4A1C-833C-72889B1DF3AF}"/>
              </a:ext>
            </a:extLst>
          </p:cNvPr>
          <p:cNvSpPr>
            <a:spLocks noGrp="1"/>
          </p:cNvSpPr>
          <p:nvPr/>
        </p:nvSpPr>
        <p:spPr>
          <a:xfrm>
            <a:off x="7239000" y="4038600"/>
            <a:ext cx="4095750" cy="1028700"/>
          </a:xfrm>
          <a:prstGeom prst="roundRect">
            <a:avLst>
              <a:gd name="adj" fmla="val 16667"/>
            </a:avLst>
          </a:prstGeom>
          <a:solidFill>
            <a:srgbClr val="F0ED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9" name="Dreptunghi 18">
            <a:extLst>
              <a:ext uri="{FF2B5EF4-FFF2-40B4-BE49-F238E27FC236}">
                <a16:creationId xmlns:a16="http://schemas.microsoft.com/office/drawing/2014/main" id="{1A3719DC-39E2-4EBD-B653-CEF5E0D23BD0}"/>
              </a:ext>
            </a:extLst>
          </p:cNvPr>
          <p:cNvSpPr>
            <a:spLocks noGrp="1"/>
          </p:cNvSpPr>
          <p:nvPr/>
        </p:nvSpPr>
        <p:spPr>
          <a:xfrm>
            <a:off x="7239000" y="4038600"/>
            <a:ext cx="76200" cy="1028700"/>
          </a:xfrm>
          <a:prstGeom prst="rect">
            <a:avLst/>
          </a:prstGeom>
          <a:solidFill>
            <a:srgbClr val="8B7CFF"/>
          </a:solidFill>
          <a:ln w="0">
            <a:noFill/>
          </a:ln>
        </p:spPr>
      </p:sp>
      <p:sp>
        <p:nvSpPr>
          <p:cNvPr id="20" name="Dreptunghi 19">
            <a:extLst>
              <a:ext uri="{FF2B5EF4-FFF2-40B4-BE49-F238E27FC236}">
                <a16:creationId xmlns:a16="http://schemas.microsoft.com/office/drawing/2014/main" id="{EFC037BB-8EB6-40F7-915F-076734D37E05}"/>
              </a:ext>
            </a:extLst>
          </p:cNvPr>
          <p:cNvSpPr>
            <a:spLocks noGrp="1"/>
          </p:cNvSpPr>
          <p:nvPr/>
        </p:nvSpPr>
        <p:spPr>
          <a:xfrm>
            <a:off x="7448550" y="4171950"/>
            <a:ext cx="3752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Direcție corectă</a:t>
            </a:r>
          </a:p>
        </p:txBody>
      </p:sp>
      <p:sp>
        <p:nvSpPr>
          <p:cNvPr id="21" name="Dreptunghi 20">
            <a:extLst>
              <a:ext uri="{FF2B5EF4-FFF2-40B4-BE49-F238E27FC236}">
                <a16:creationId xmlns:a16="http://schemas.microsoft.com/office/drawing/2014/main" id="{E4CAD4A5-EAAE-4B77-A019-F56A90A1DF0C}"/>
              </a:ext>
            </a:extLst>
          </p:cNvPr>
          <p:cNvSpPr>
            <a:spLocks noGrp="1"/>
          </p:cNvSpPr>
          <p:nvPr/>
        </p:nvSpPr>
        <p:spPr>
          <a:xfrm>
            <a:off x="7448550" y="4591050"/>
            <a:ext cx="3752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atan2(y, x)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ține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cont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de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cadran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și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evită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împărțirea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directă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y/x.</a:t>
            </a:r>
          </a:p>
        </p:txBody>
      </p:sp>
      <p:sp>
        <p:nvSpPr>
          <p:cNvPr id="22" name="Dreptunghi: colțuri rotunjite 21">
            <a:extLst>
              <a:ext uri="{FF2B5EF4-FFF2-40B4-BE49-F238E27FC236}">
                <a16:creationId xmlns:a16="http://schemas.microsoft.com/office/drawing/2014/main" id="{19E02F61-56D8-43D3-8E13-35310D324918}"/>
              </a:ext>
            </a:extLst>
          </p:cNvPr>
          <p:cNvSpPr>
            <a:spLocks noGrp="1"/>
          </p:cNvSpPr>
          <p:nvPr/>
        </p:nvSpPr>
        <p:spPr>
          <a:xfrm>
            <a:off x="1619250" y="5334000"/>
            <a:ext cx="8572500" cy="514350"/>
          </a:xfrm>
          <a:prstGeom prst="roundRect">
            <a:avLst>
              <a:gd name="adj" fmla="val 33333"/>
            </a:avLst>
          </a:prstGeom>
          <a:solidFill>
            <a:srgbClr val="FFF6CC"/>
          </a:solidFill>
          <a:ln w="9525">
            <a:solidFill>
              <a:srgbClr val="FFD43B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9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math.hypot(x, y) calculează √(x² + y²).</a:t>
            </a:r>
          </a:p>
        </p:txBody>
      </p:sp>
    </p:spTree>
    <p:extLst>
      <p:ext uri="{BB962C8B-B14F-4D97-AF65-F5344CB8AC3E}">
        <p14:creationId xmlns:p14="http://schemas.microsoft.com/office/powerpoint/2010/main" val="328183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reptunghi 15">
            <a:extLst>
              <a:ext uri="{FF2B5EF4-FFF2-40B4-BE49-F238E27FC236}">
                <a16:creationId xmlns:a16="http://schemas.microsoft.com/office/drawing/2014/main" id="{C2B588C8-FEDA-45F5-B924-873F00A6B9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AFFE4127-CD13-414C-8E16-99931C5219C4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EXEMPLU REZOLVAT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43314A98-DB3E-468D-BF23-0B97D860395F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Problemă rezolvată: aria și perimetrul dreptunghiului</a:t>
            </a:r>
          </a:p>
        </p:txBody>
      </p:sp>
      <p:pic>
        <p:nvPicPr>
          <p:cNvPr id="19" name="Imagin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42F58485-F634-4914-A561-A1E2055AF6EA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57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BBA56789-FDAF-4FBB-9276-E28F053B8A5D}"/>
              </a:ext>
            </a:extLst>
          </p:cNvPr>
          <p:cNvSpPr>
            <a:spLocks noGrp="1"/>
          </p:cNvSpPr>
          <p:nvPr/>
        </p:nvSpPr>
        <p:spPr>
          <a:xfrm>
            <a:off x="552450" y="1390650"/>
            <a:ext cx="4095750" cy="1581150"/>
          </a:xfrm>
          <a:prstGeom prst="roundRect">
            <a:avLst>
              <a:gd name="adj" fmla="val 10843"/>
            </a:avLst>
          </a:prstGeom>
          <a:solidFill>
            <a:srgbClr val="EAF3F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56F440CF-959C-441C-8E4C-6C483E3FC510}"/>
              </a:ext>
            </a:extLst>
          </p:cNvPr>
          <p:cNvSpPr>
            <a:spLocks noGrp="1"/>
          </p:cNvSpPr>
          <p:nvPr/>
        </p:nvSpPr>
        <p:spPr>
          <a:xfrm>
            <a:off x="552450" y="1390650"/>
            <a:ext cx="76200" cy="158115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1A7AC549-790E-4450-8020-D553929B56E3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3752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Enunț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97BB41CB-A691-44D9-A105-949385A0942F}"/>
              </a:ext>
            </a:extLst>
          </p:cNvPr>
          <p:cNvSpPr>
            <a:spLocks noGrp="1"/>
          </p:cNvSpPr>
          <p:nvPr/>
        </p:nvSpPr>
        <p:spPr>
          <a:xfrm>
            <a:off x="762000" y="1943100"/>
            <a:ext cx="3752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lnSpcReduction="10000"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Se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citesc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lungimea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și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lățimea</a:t>
            </a:r>
            <a:r>
              <a:rPr lang="ro-RO"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unui dreptunghi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.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Programul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calculează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aria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și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perimetrul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,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apoi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afișează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rezultatele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cu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două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zecimale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30001CBF-894A-4D23-8642-C75FF0334F87}"/>
              </a:ext>
            </a:extLst>
          </p:cNvPr>
          <p:cNvSpPr>
            <a:spLocks noGrp="1"/>
          </p:cNvSpPr>
          <p:nvPr/>
        </p:nvSpPr>
        <p:spPr>
          <a:xfrm>
            <a:off x="876300" y="3390900"/>
            <a:ext cx="3429000" cy="1428750"/>
          </a:xfrm>
          <a:prstGeom prst="roundRect">
            <a:avLst>
              <a:gd name="adj" fmla="val 12000"/>
            </a:avLst>
          </a:prstGeom>
          <a:solidFill>
            <a:srgbClr val="FFF6CC"/>
          </a:solidFill>
          <a:ln w="9525">
            <a:solidFill>
              <a:srgbClr val="FFD43B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21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Formule</a:t>
            </a:r>
          </a:p>
          <a:p>
            <a:pPr algn="ctr">
              <a:defRPr sz="21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 = L · l</a:t>
            </a:r>
          </a:p>
          <a:p>
            <a:pPr algn="ctr">
              <a:defRPr sz="21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 = 2(L + l)</a:t>
            </a:r>
          </a:p>
        </p:txBody>
      </p:sp>
      <p:sp>
        <p:nvSpPr>
          <p:cNvPr id="11" name="Dreptunghi: colțuri rotunjite 10">
            <a:extLst>
              <a:ext uri="{FF2B5EF4-FFF2-40B4-BE49-F238E27FC236}">
                <a16:creationId xmlns:a16="http://schemas.microsoft.com/office/drawing/2014/main" id="{E5CFB7AA-57EA-471C-AD54-0B324A294176}"/>
              </a:ext>
            </a:extLst>
          </p:cNvPr>
          <p:cNvSpPr>
            <a:spLocks noGrp="1"/>
          </p:cNvSpPr>
          <p:nvPr/>
        </p:nvSpPr>
        <p:spPr>
          <a:xfrm>
            <a:off x="5143500" y="1390650"/>
            <a:ext cx="6381750" cy="3733800"/>
          </a:xfrm>
          <a:prstGeom prst="roundRect">
            <a:avLst>
              <a:gd name="adj" fmla="val 4592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12" name="Dreptunghi: colțuri rotunjite 11">
            <a:extLst>
              <a:ext uri="{FF2B5EF4-FFF2-40B4-BE49-F238E27FC236}">
                <a16:creationId xmlns:a16="http://schemas.microsoft.com/office/drawing/2014/main" id="{0D5ACA3E-1393-40AD-ADB1-C07E13652CFC}"/>
              </a:ext>
            </a:extLst>
          </p:cNvPr>
          <p:cNvSpPr>
            <a:spLocks noGrp="1"/>
          </p:cNvSpPr>
          <p:nvPr/>
        </p:nvSpPr>
        <p:spPr>
          <a:xfrm>
            <a:off x="5295900" y="152400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2DBE7F"/>
          </a:solidFill>
          <a:ln w="0">
            <a:noFill/>
          </a:ln>
        </p:spPr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00F96BD6-F2B6-4952-9857-FC2F1B24838E}"/>
              </a:ext>
            </a:extLst>
          </p:cNvPr>
          <p:cNvSpPr>
            <a:spLocks noGrp="1"/>
          </p:cNvSpPr>
          <p:nvPr/>
        </p:nvSpPr>
        <p:spPr>
          <a:xfrm>
            <a:off x="5305425" y="152400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4" name="Dreptunghi 13">
            <a:extLst>
              <a:ext uri="{FF2B5EF4-FFF2-40B4-BE49-F238E27FC236}">
                <a16:creationId xmlns:a16="http://schemas.microsoft.com/office/drawing/2014/main" id="{36470F8B-4485-4FA7-ACDB-88C120EFE318}"/>
              </a:ext>
            </a:extLst>
          </p:cNvPr>
          <p:cNvSpPr>
            <a:spLocks noGrp="1"/>
          </p:cNvSpPr>
          <p:nvPr/>
        </p:nvSpPr>
        <p:spPr>
          <a:xfrm>
            <a:off x="5314950" y="1847850"/>
            <a:ext cx="6038850" cy="3162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lungime = float(input("L = "))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latime = float(input("l = "))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aria = lungime * latime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perimetru = 2 * (lungime + latime)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print(f"A = {aria:.2f}")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print(f"P = {perimetru:.2f}")</a:t>
            </a:r>
          </a:p>
        </p:txBody>
      </p:sp>
      <p:sp>
        <p:nvSpPr>
          <p:cNvPr id="15" name="Dreptunghi 14">
            <a:extLst>
              <a:ext uri="{FF2B5EF4-FFF2-40B4-BE49-F238E27FC236}">
                <a16:creationId xmlns:a16="http://schemas.microsoft.com/office/drawing/2014/main" id="{89199004-2A13-4E06-9E43-F732AA43D32F}"/>
              </a:ext>
            </a:extLst>
          </p:cNvPr>
          <p:cNvSpPr>
            <a:spLocks noGrp="1"/>
          </p:cNvSpPr>
          <p:nvPr/>
        </p:nvSpPr>
        <p:spPr>
          <a:xfrm>
            <a:off x="1752600" y="5467350"/>
            <a:ext cx="8667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ctr">
              <a:defRPr sz="1800" b="1">
                <a:solidFill>
                  <a:srgbClr val="2DBE7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DBE7F"/>
                </a:solidFill>
                <a:latin typeface="Arial"/>
                <a:ea typeface="Arial"/>
                <a:cs typeface="Arial"/>
              </a:rPr>
              <a:t>Pentru L = 5.25 și l = 3.2: A = 16.80, P = 16.90</a:t>
            </a:r>
          </a:p>
        </p:txBody>
      </p:sp>
    </p:spTree>
    <p:extLst>
      <p:ext uri="{BB962C8B-B14F-4D97-AF65-F5344CB8AC3E}">
        <p14:creationId xmlns:p14="http://schemas.microsoft.com/office/powerpoint/2010/main" val="160321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reptunghi 18">
            <a:extLst>
              <a:ext uri="{FF2B5EF4-FFF2-40B4-BE49-F238E27FC236}">
                <a16:creationId xmlns:a16="http://schemas.microsoft.com/office/drawing/2014/main" id="{7176FD09-96BF-4DB7-9CB5-3BEB112501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37699172-BD84-4191-BDDB-348FF52F8343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EXEMPLU REZOLVAT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790C3CAD-D8B1-4C8C-AF8C-21D502F47850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Problemă rezolvată: modulul vitezei</a:t>
            </a:r>
          </a:p>
        </p:txBody>
      </p:sp>
      <p:pic>
        <p:nvPicPr>
          <p:cNvPr id="22" name="Imagin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2717C5F5-0164-44AC-AF6D-054FF71996C1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57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EC6BC5A2-96D4-4863-8CC4-8B826E1ADC26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4095750" cy="1619250"/>
          </a:xfrm>
          <a:prstGeom prst="roundRect">
            <a:avLst>
              <a:gd name="adj" fmla="val 10588"/>
            </a:avLst>
          </a:prstGeom>
          <a:solidFill>
            <a:srgbClr val="EAF3F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96A629AA-41DE-4270-A089-3D81FECE5274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76200" cy="161925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26929DB8-10B9-437C-A44A-754E7666870D}"/>
              </a:ext>
            </a:extLst>
          </p:cNvPr>
          <p:cNvSpPr>
            <a:spLocks noGrp="1"/>
          </p:cNvSpPr>
          <p:nvPr/>
        </p:nvSpPr>
        <p:spPr>
          <a:xfrm>
            <a:off x="762000" y="1562100"/>
            <a:ext cx="3752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Enunț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56B5D31B-A37F-4E64-94FF-03A69B34D895}"/>
              </a:ext>
            </a:extLst>
          </p:cNvPr>
          <p:cNvSpPr>
            <a:spLocks noGrp="1"/>
          </p:cNvSpPr>
          <p:nvPr/>
        </p:nvSpPr>
        <p:spPr>
          <a:xfrm>
            <a:off x="762000" y="1981200"/>
            <a:ext cx="37528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Componentele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vitezei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sunt </a:t>
            </a:r>
            <a:r>
              <a:rPr sz="16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v</a:t>
            </a:r>
            <a:r>
              <a:rPr sz="10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x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= 3 m/s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și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v</a:t>
            </a:r>
            <a:r>
              <a:rPr sz="10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y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= 4 m/s.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Determină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modulul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și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unghiul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față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de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axa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Ox.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0AE0256F-148E-4869-A697-13F4F6409644}"/>
              </a:ext>
            </a:extLst>
          </p:cNvPr>
          <p:cNvSpPr>
            <a:spLocks noGrp="1"/>
          </p:cNvSpPr>
          <p:nvPr/>
        </p:nvSpPr>
        <p:spPr>
          <a:xfrm>
            <a:off x="762000" y="3429000"/>
            <a:ext cx="3714750" cy="1295400"/>
          </a:xfrm>
          <a:prstGeom prst="roundRect">
            <a:avLst>
              <a:gd name="adj" fmla="val 13235"/>
            </a:avLst>
          </a:prstGeom>
          <a:solidFill>
            <a:srgbClr val="FFF6CC"/>
          </a:solidFill>
          <a:ln w="9525">
            <a:solidFill>
              <a:srgbClr val="FFD43B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23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v = √(v</a:t>
            </a:r>
            <a:r>
              <a:rPr sz="100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x</a:t>
            </a:r>
            <a:r>
              <a:rPr sz="23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² + v</a:t>
            </a:r>
            <a:r>
              <a:rPr sz="100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y</a:t>
            </a:r>
            <a:r>
              <a:rPr sz="23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²)</a:t>
            </a:r>
          </a:p>
          <a:p>
            <a:pPr algn="ctr">
              <a:defRPr sz="23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α = atan2(</a:t>
            </a:r>
            <a:r>
              <a:rPr sz="23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</a:t>
            </a:r>
            <a:r>
              <a:rPr sz="1000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y</a:t>
            </a:r>
            <a:r>
              <a:rPr sz="23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, </a:t>
            </a:r>
            <a:r>
              <a:rPr sz="23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</a:t>
            </a:r>
            <a:r>
              <a:rPr sz="1000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x</a:t>
            </a:r>
            <a:r>
              <a:rPr sz="23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11" name="Dreptunghi: colțuri rotunjite 10">
            <a:extLst>
              <a:ext uri="{FF2B5EF4-FFF2-40B4-BE49-F238E27FC236}">
                <a16:creationId xmlns:a16="http://schemas.microsoft.com/office/drawing/2014/main" id="{6E88094F-2527-4730-8765-08F5E7EACF3F}"/>
              </a:ext>
            </a:extLst>
          </p:cNvPr>
          <p:cNvSpPr>
            <a:spLocks noGrp="1"/>
          </p:cNvSpPr>
          <p:nvPr/>
        </p:nvSpPr>
        <p:spPr>
          <a:xfrm>
            <a:off x="5143500" y="1428750"/>
            <a:ext cx="6191250" cy="3048000"/>
          </a:xfrm>
          <a:prstGeom prst="roundRect">
            <a:avLst>
              <a:gd name="adj" fmla="val 5625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12" name="Dreptunghi: colțuri rotunjite 11">
            <a:extLst>
              <a:ext uri="{FF2B5EF4-FFF2-40B4-BE49-F238E27FC236}">
                <a16:creationId xmlns:a16="http://schemas.microsoft.com/office/drawing/2014/main" id="{23C25A90-3F6B-4391-BA64-8C633E27C6A2}"/>
              </a:ext>
            </a:extLst>
          </p:cNvPr>
          <p:cNvSpPr>
            <a:spLocks noGrp="1"/>
          </p:cNvSpPr>
          <p:nvPr/>
        </p:nvSpPr>
        <p:spPr>
          <a:xfrm>
            <a:off x="5295900" y="156210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</a:ln>
        </p:spPr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450FFC99-EE29-4A68-963A-3B6EBB0B362A}"/>
              </a:ext>
            </a:extLst>
          </p:cNvPr>
          <p:cNvSpPr>
            <a:spLocks noGrp="1"/>
          </p:cNvSpPr>
          <p:nvPr/>
        </p:nvSpPr>
        <p:spPr>
          <a:xfrm>
            <a:off x="5305425" y="156210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4" name="Dreptunghi 13">
            <a:extLst>
              <a:ext uri="{FF2B5EF4-FFF2-40B4-BE49-F238E27FC236}">
                <a16:creationId xmlns:a16="http://schemas.microsoft.com/office/drawing/2014/main" id="{94C5555C-1E0E-482B-B618-20DFD2D4034C}"/>
              </a:ext>
            </a:extLst>
          </p:cNvPr>
          <p:cNvSpPr>
            <a:spLocks noGrp="1"/>
          </p:cNvSpPr>
          <p:nvPr/>
        </p:nvSpPr>
        <p:spPr>
          <a:xfrm>
            <a:off x="5314950" y="1885950"/>
            <a:ext cx="5848350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import math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vx, vy = 3, 4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v = math.hypot(vx, vy)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alfa = math.degrees(math.atan2(vy, vx))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print(f"{v:.2f}", f"{alfa:.1f}")</a:t>
            </a:r>
          </a:p>
        </p:txBody>
      </p:sp>
      <p:sp>
        <p:nvSpPr>
          <p:cNvPr id="15" name="Dreptunghi: colțuri rotunjite 14">
            <a:extLst>
              <a:ext uri="{FF2B5EF4-FFF2-40B4-BE49-F238E27FC236}">
                <a16:creationId xmlns:a16="http://schemas.microsoft.com/office/drawing/2014/main" id="{40980F3B-3F23-4DEE-8F16-F3F6BBC2795E}"/>
              </a:ext>
            </a:extLst>
          </p:cNvPr>
          <p:cNvSpPr>
            <a:spLocks noGrp="1"/>
          </p:cNvSpPr>
          <p:nvPr/>
        </p:nvSpPr>
        <p:spPr>
          <a:xfrm>
            <a:off x="5143500" y="4857750"/>
            <a:ext cx="6191250" cy="952500"/>
          </a:xfrm>
          <a:prstGeom prst="roundRect">
            <a:avLst>
              <a:gd name="adj" fmla="val 18000"/>
            </a:avLst>
          </a:prstGeom>
          <a:solidFill>
            <a:srgbClr val="E7F8F1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6" name="Dreptunghi 15">
            <a:extLst>
              <a:ext uri="{FF2B5EF4-FFF2-40B4-BE49-F238E27FC236}">
                <a16:creationId xmlns:a16="http://schemas.microsoft.com/office/drawing/2014/main" id="{644EEC05-4E00-4695-9C13-8BAA16763FEF}"/>
              </a:ext>
            </a:extLst>
          </p:cNvPr>
          <p:cNvSpPr>
            <a:spLocks noGrp="1"/>
          </p:cNvSpPr>
          <p:nvPr/>
        </p:nvSpPr>
        <p:spPr>
          <a:xfrm>
            <a:off x="5143500" y="4857750"/>
            <a:ext cx="76200" cy="952500"/>
          </a:xfrm>
          <a:prstGeom prst="rect">
            <a:avLst/>
          </a:prstGeom>
          <a:solidFill>
            <a:srgbClr val="2DBE7F"/>
          </a:solidFill>
          <a:ln w="0">
            <a:noFill/>
          </a:ln>
        </p:spPr>
      </p:sp>
      <p:sp>
        <p:nvSpPr>
          <p:cNvPr id="17" name="Dreptunghi 16">
            <a:extLst>
              <a:ext uri="{FF2B5EF4-FFF2-40B4-BE49-F238E27FC236}">
                <a16:creationId xmlns:a16="http://schemas.microsoft.com/office/drawing/2014/main" id="{5656C252-5E45-469C-B7CD-7BA051851B37}"/>
              </a:ext>
            </a:extLst>
          </p:cNvPr>
          <p:cNvSpPr>
            <a:spLocks noGrp="1"/>
          </p:cNvSpPr>
          <p:nvPr/>
        </p:nvSpPr>
        <p:spPr>
          <a:xfrm>
            <a:off x="5353050" y="4991100"/>
            <a:ext cx="58483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Rezultat</a:t>
            </a:r>
          </a:p>
        </p:txBody>
      </p:sp>
      <p:sp>
        <p:nvSpPr>
          <p:cNvPr id="18" name="Dreptunghi 17">
            <a:extLst>
              <a:ext uri="{FF2B5EF4-FFF2-40B4-BE49-F238E27FC236}">
                <a16:creationId xmlns:a16="http://schemas.microsoft.com/office/drawing/2014/main" id="{DC5FE8BD-7E31-491A-9B05-CAE8CBBE9D41}"/>
              </a:ext>
            </a:extLst>
          </p:cNvPr>
          <p:cNvSpPr>
            <a:spLocks noGrp="1"/>
          </p:cNvSpPr>
          <p:nvPr/>
        </p:nvSpPr>
        <p:spPr>
          <a:xfrm>
            <a:off x="5353050" y="5410200"/>
            <a:ext cx="5848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v = 5.00 m/s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și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α = 53.1°</a:t>
            </a:r>
          </a:p>
        </p:txBody>
      </p:sp>
    </p:spTree>
    <p:extLst>
      <p:ext uri="{BB962C8B-B14F-4D97-AF65-F5344CB8AC3E}">
        <p14:creationId xmlns:p14="http://schemas.microsoft.com/office/powerpoint/2010/main" val="1307216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reptunghi 15">
            <a:extLst>
              <a:ext uri="{FF2B5EF4-FFF2-40B4-BE49-F238E27FC236}">
                <a16:creationId xmlns:a16="http://schemas.microsoft.com/office/drawing/2014/main" id="{B868FBDD-DCBD-4BB1-A0E6-B93D811615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9975E4E9-0FFD-40DA-893B-9B1553BDA1A2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EXEMPLU REZOLVAT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AED8478E-99DA-4E81-BD6C-97BEBF3DE062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Problemă rezolvată: eroarea relativă</a:t>
            </a:r>
          </a:p>
        </p:txBody>
      </p:sp>
      <p:pic>
        <p:nvPicPr>
          <p:cNvPr id="19" name="Imagin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5F881276-4B98-475A-812A-FCF0969DBCEC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57A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4211D960-32AA-4E44-8A3C-5F057D64B0C6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4000500" cy="1809750"/>
          </a:xfrm>
          <a:prstGeom prst="roundRect">
            <a:avLst>
              <a:gd name="adj" fmla="val 9474"/>
            </a:avLst>
          </a:prstGeom>
          <a:solidFill>
            <a:srgbClr val="EAF3F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A4F33F80-4591-486E-AAC1-DF5E25FBAF7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76200" cy="180975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37E92C48-E6D5-4410-8A9B-339084859309}"/>
              </a:ext>
            </a:extLst>
          </p:cNvPr>
          <p:cNvSpPr>
            <a:spLocks noGrp="1"/>
          </p:cNvSpPr>
          <p:nvPr/>
        </p:nvSpPr>
        <p:spPr>
          <a:xfrm>
            <a:off x="762000" y="1562100"/>
            <a:ext cx="3657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Enunț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AECF5403-BCF2-4D6E-80BE-9533B1FE8365}"/>
              </a:ext>
            </a:extLst>
          </p:cNvPr>
          <p:cNvSpPr>
            <a:spLocks noGrp="1"/>
          </p:cNvSpPr>
          <p:nvPr/>
        </p:nvSpPr>
        <p:spPr>
          <a:xfrm>
            <a:off x="762000" y="1981200"/>
            <a:ext cx="36576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lnSpcReduction="10000"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Valoarea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măsurată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lang="ro-RO"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a accelerației căderii libere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este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lang="ro-RO"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de 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9,78 m/s²,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iar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valoarea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de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referință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este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9,81 m/s².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Calculează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eroarea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absolută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și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eroarea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relativă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procentuală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2BAE4E72-9FAC-4949-AB74-736D9DF32722}"/>
              </a:ext>
            </a:extLst>
          </p:cNvPr>
          <p:cNvSpPr>
            <a:spLocks noGrp="1"/>
          </p:cNvSpPr>
          <p:nvPr/>
        </p:nvSpPr>
        <p:spPr>
          <a:xfrm>
            <a:off x="704850" y="3695700"/>
            <a:ext cx="3714750" cy="1200150"/>
          </a:xfrm>
          <a:prstGeom prst="roundRect">
            <a:avLst>
              <a:gd name="adj" fmla="val 14286"/>
            </a:avLst>
          </a:prstGeom>
          <a:solidFill>
            <a:srgbClr val="FFF6CC"/>
          </a:solidFill>
          <a:ln w="9525">
            <a:solidFill>
              <a:srgbClr val="FFD43B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9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Δ = |</a:t>
            </a:r>
            <a:r>
              <a:rPr lang="ro-RO" sz="195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g_</a:t>
            </a:r>
            <a:r>
              <a:rPr sz="1950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măsurat</a:t>
            </a:r>
            <a:r>
              <a:rPr sz="195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− </a:t>
            </a:r>
            <a:r>
              <a:rPr lang="ro-RO" sz="195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g_</a:t>
            </a:r>
            <a:r>
              <a:rPr sz="1950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referință</a:t>
            </a:r>
            <a:r>
              <a:rPr sz="195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|</a:t>
            </a:r>
          </a:p>
          <a:p>
            <a:pPr algn="ctr">
              <a:defRPr sz="19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ε = Δ / |</a:t>
            </a:r>
            <a:r>
              <a:rPr lang="ro-RO" sz="195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g_</a:t>
            </a:r>
            <a:r>
              <a:rPr sz="1950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referință</a:t>
            </a:r>
            <a:r>
              <a:rPr sz="195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| · 100</a:t>
            </a:r>
          </a:p>
        </p:txBody>
      </p:sp>
      <p:sp>
        <p:nvSpPr>
          <p:cNvPr id="11" name="Dreptunghi: colțuri rotunjite 10">
            <a:extLst>
              <a:ext uri="{FF2B5EF4-FFF2-40B4-BE49-F238E27FC236}">
                <a16:creationId xmlns:a16="http://schemas.microsoft.com/office/drawing/2014/main" id="{5AE15F21-FFF4-46D3-8174-A54609C592F2}"/>
              </a:ext>
            </a:extLst>
          </p:cNvPr>
          <p:cNvSpPr>
            <a:spLocks noGrp="1"/>
          </p:cNvSpPr>
          <p:nvPr/>
        </p:nvSpPr>
        <p:spPr>
          <a:xfrm>
            <a:off x="5143500" y="1428750"/>
            <a:ext cx="6191250" cy="3333750"/>
          </a:xfrm>
          <a:prstGeom prst="roundRect">
            <a:avLst>
              <a:gd name="adj" fmla="val 5143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12" name="Dreptunghi: colțuri rotunjite 11">
            <a:extLst>
              <a:ext uri="{FF2B5EF4-FFF2-40B4-BE49-F238E27FC236}">
                <a16:creationId xmlns:a16="http://schemas.microsoft.com/office/drawing/2014/main" id="{DEBAC975-1149-4C70-AD01-7738EF06D32A}"/>
              </a:ext>
            </a:extLst>
          </p:cNvPr>
          <p:cNvSpPr>
            <a:spLocks noGrp="1"/>
          </p:cNvSpPr>
          <p:nvPr/>
        </p:nvSpPr>
        <p:spPr>
          <a:xfrm>
            <a:off x="5295900" y="156210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2DBE7F"/>
          </a:solidFill>
          <a:ln w="0">
            <a:noFill/>
          </a:ln>
        </p:spPr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1AD29898-7F58-49DB-9BDB-A6A6169DE50C}"/>
              </a:ext>
            </a:extLst>
          </p:cNvPr>
          <p:cNvSpPr>
            <a:spLocks noGrp="1"/>
          </p:cNvSpPr>
          <p:nvPr/>
        </p:nvSpPr>
        <p:spPr>
          <a:xfrm>
            <a:off x="5305425" y="156210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4" name="Dreptunghi 13">
            <a:extLst>
              <a:ext uri="{FF2B5EF4-FFF2-40B4-BE49-F238E27FC236}">
                <a16:creationId xmlns:a16="http://schemas.microsoft.com/office/drawing/2014/main" id="{9CFA624B-7CA1-4C59-BBD1-859577126908}"/>
              </a:ext>
            </a:extLst>
          </p:cNvPr>
          <p:cNvSpPr>
            <a:spLocks noGrp="1"/>
          </p:cNvSpPr>
          <p:nvPr/>
        </p:nvSpPr>
        <p:spPr>
          <a:xfrm>
            <a:off x="5314950" y="1885950"/>
            <a:ext cx="5848350" cy="2762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lang="ro-RO" sz="150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g</a:t>
            </a:r>
            <a:r>
              <a:rPr lang="ro-RO" sz="1500" b="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_</a:t>
            </a:r>
            <a:r>
              <a:rPr sz="1500" b="0" dirty="0" err="1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masurat</a:t>
            </a:r>
            <a:r>
              <a:rPr sz="1500" b="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 = 9.78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lang="ro-RO" sz="150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g</a:t>
            </a:r>
            <a:r>
              <a:rPr lang="ro-RO" sz="1500" b="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_</a:t>
            </a:r>
            <a:r>
              <a:rPr sz="1500" b="0" dirty="0" err="1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referinta</a:t>
            </a:r>
            <a:r>
              <a:rPr sz="1500" b="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 = 9.81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 err="1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eroare_abs</a:t>
            </a:r>
            <a:r>
              <a:rPr sz="1500" b="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 = abs(</a:t>
            </a:r>
            <a:r>
              <a:rPr lang="ro-RO" sz="1500" b="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g_</a:t>
            </a:r>
            <a:r>
              <a:rPr sz="1500" b="0" dirty="0" err="1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masurat</a:t>
            </a:r>
            <a:r>
              <a:rPr sz="1500" b="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ro-RO" sz="1500" b="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–</a:t>
            </a:r>
            <a:r>
              <a:rPr sz="1500" b="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ro-RO" sz="1500" b="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g_</a:t>
            </a:r>
            <a:r>
              <a:rPr sz="1500" b="0" dirty="0" err="1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referinta</a:t>
            </a:r>
            <a:r>
              <a:rPr sz="1500" b="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 err="1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eroare_rel</a:t>
            </a:r>
            <a:r>
              <a:rPr sz="1500" b="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1500" b="0" dirty="0" err="1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eroare_abs</a:t>
            </a:r>
            <a:r>
              <a:rPr sz="1500" b="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 / abs(</a:t>
            </a:r>
            <a:r>
              <a:rPr lang="ro-RO" sz="1500" b="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g_</a:t>
            </a:r>
            <a:r>
              <a:rPr sz="1500" b="0" dirty="0" err="1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referinta</a:t>
            </a:r>
            <a:r>
              <a:rPr sz="1500" b="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) * 100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print(round(</a:t>
            </a:r>
            <a:r>
              <a:rPr sz="1500" b="0" dirty="0" err="1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eroare_abs</a:t>
            </a:r>
            <a:r>
              <a:rPr sz="1500" b="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, 3))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print(round(</a:t>
            </a:r>
            <a:r>
              <a:rPr sz="1500" b="0" dirty="0" err="1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eroare_rel</a:t>
            </a:r>
            <a:r>
              <a:rPr sz="1500" b="0" dirty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, 2), "%")</a:t>
            </a:r>
          </a:p>
        </p:txBody>
      </p:sp>
      <p:sp>
        <p:nvSpPr>
          <p:cNvPr id="15" name="Dreptunghi 14">
            <a:extLst>
              <a:ext uri="{FF2B5EF4-FFF2-40B4-BE49-F238E27FC236}">
                <a16:creationId xmlns:a16="http://schemas.microsoft.com/office/drawing/2014/main" id="{283D2A91-EA00-4C8D-9E4D-BA7B6A4A232C}"/>
              </a:ext>
            </a:extLst>
          </p:cNvPr>
          <p:cNvSpPr>
            <a:spLocks noGrp="1"/>
          </p:cNvSpPr>
          <p:nvPr/>
        </p:nvSpPr>
        <p:spPr>
          <a:xfrm>
            <a:off x="1657350" y="5372100"/>
            <a:ext cx="8763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ctr">
              <a:defRPr sz="1875" b="1">
                <a:solidFill>
                  <a:srgbClr val="2DBE7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DBE7F"/>
                </a:solidFill>
                <a:latin typeface="Arial"/>
                <a:ea typeface="Arial"/>
                <a:cs typeface="Arial"/>
              </a:rPr>
              <a:t>Rezultat: Δ = 0,03 m/s² și ε = 0,31%</a:t>
            </a:r>
          </a:p>
        </p:txBody>
      </p:sp>
    </p:spTree>
    <p:extLst>
      <p:ext uri="{BB962C8B-B14F-4D97-AF65-F5344CB8AC3E}">
        <p14:creationId xmlns:p14="http://schemas.microsoft.com/office/powerpoint/2010/main" val="1473179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reptunghi 22">
            <a:extLst>
              <a:ext uri="{FF2B5EF4-FFF2-40B4-BE49-F238E27FC236}">
                <a16:creationId xmlns:a16="http://schemas.microsoft.com/office/drawing/2014/main" id="{B7C714B4-5B68-4E1A-A6EA-EA3282C473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72609769-50B9-4E1F-8D77-F56EE84B2143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LECȚIA 5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4F0884DA-B6F1-417C-B1F0-E025E336988E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Erori frecvente și remedierea lor</a:t>
            </a:r>
          </a:p>
        </p:txBody>
      </p:sp>
      <p:pic>
        <p:nvPicPr>
          <p:cNvPr id="26" name="Imagin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A52ED599-A033-46BC-8EAB-1A4DE925190D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2</a:t>
            </a:r>
            <a:r>
              <a:rPr lang="ro-RO" sz="975" b="1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2</a:t>
            </a:r>
            <a:endParaRPr sz="975" b="1" dirty="0">
              <a:solidFill>
                <a:srgbClr val="5865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E66C3384-2F57-4C69-A161-6AA4D86DFF2A}"/>
              </a:ext>
            </a:extLst>
          </p:cNvPr>
          <p:cNvSpPr>
            <a:spLocks noGrp="1"/>
          </p:cNvSpPr>
          <p:nvPr/>
        </p:nvSpPr>
        <p:spPr>
          <a:xfrm>
            <a:off x="476250" y="1390650"/>
            <a:ext cx="3429000" cy="1066800"/>
          </a:xfrm>
          <a:prstGeom prst="roundRect">
            <a:avLst>
              <a:gd name="adj" fmla="val 16071"/>
            </a:avLst>
          </a:prstGeom>
          <a:solidFill>
            <a:srgbClr val="FFECE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13E564B9-79A3-4E46-A552-0B86FD9D43C4}"/>
              </a:ext>
            </a:extLst>
          </p:cNvPr>
          <p:cNvSpPr>
            <a:spLocks noGrp="1"/>
          </p:cNvSpPr>
          <p:nvPr/>
        </p:nvSpPr>
        <p:spPr>
          <a:xfrm>
            <a:off x="476250" y="1390650"/>
            <a:ext cx="76200" cy="1066800"/>
          </a:xfrm>
          <a:prstGeom prst="rect">
            <a:avLst/>
          </a:prstGeom>
          <a:solidFill>
            <a:srgbClr val="FF6B7A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BE8EE1FF-4B18-475E-A595-EA6FB75C958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3086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NameError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67F4A306-24D5-4EAF-83DB-B77004866CB6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3086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Numele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nu a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fost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definit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sau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a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fost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șters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cu del.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DAE96EF8-332F-4D44-BFB1-D22C4CF421C9}"/>
              </a:ext>
            </a:extLst>
          </p:cNvPr>
          <p:cNvSpPr>
            <a:spLocks noGrp="1"/>
          </p:cNvSpPr>
          <p:nvPr/>
        </p:nvSpPr>
        <p:spPr>
          <a:xfrm>
            <a:off x="4381500" y="1390650"/>
            <a:ext cx="3429000" cy="1066800"/>
          </a:xfrm>
          <a:prstGeom prst="roundRect">
            <a:avLst>
              <a:gd name="adj" fmla="val 16071"/>
            </a:avLst>
          </a:prstGeom>
          <a:solidFill>
            <a:srgbClr val="FFECE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1" name="Dreptunghi 10">
            <a:extLst>
              <a:ext uri="{FF2B5EF4-FFF2-40B4-BE49-F238E27FC236}">
                <a16:creationId xmlns:a16="http://schemas.microsoft.com/office/drawing/2014/main" id="{C0210F31-C687-4028-A132-CA8BFAD07315}"/>
              </a:ext>
            </a:extLst>
          </p:cNvPr>
          <p:cNvSpPr>
            <a:spLocks noGrp="1"/>
          </p:cNvSpPr>
          <p:nvPr/>
        </p:nvSpPr>
        <p:spPr>
          <a:xfrm>
            <a:off x="4381500" y="1390650"/>
            <a:ext cx="76200" cy="1066800"/>
          </a:xfrm>
          <a:prstGeom prst="rect">
            <a:avLst/>
          </a:prstGeom>
          <a:solidFill>
            <a:srgbClr val="FF6B7A"/>
          </a:solidFill>
          <a:ln w="0">
            <a:noFill/>
          </a:ln>
        </p:spPr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989284D0-9CE0-47E5-AF7D-224C3C67F826}"/>
              </a:ext>
            </a:extLst>
          </p:cNvPr>
          <p:cNvSpPr>
            <a:spLocks noGrp="1"/>
          </p:cNvSpPr>
          <p:nvPr/>
        </p:nvSpPr>
        <p:spPr>
          <a:xfrm>
            <a:off x="4591050" y="1524000"/>
            <a:ext cx="3086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TypeError</a:t>
            </a:r>
          </a:p>
        </p:txBody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45B1E76F-28B4-4AB6-BEEB-7F3B03A290F2}"/>
              </a:ext>
            </a:extLst>
          </p:cNvPr>
          <p:cNvSpPr>
            <a:spLocks noGrp="1"/>
          </p:cNvSpPr>
          <p:nvPr/>
        </p:nvSpPr>
        <p:spPr>
          <a:xfrm>
            <a:off x="4591050" y="1943100"/>
            <a:ext cx="3086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Operația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combină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tipuri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incompatibile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, de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exemplu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"10" + 2.</a:t>
            </a:r>
          </a:p>
        </p:txBody>
      </p:sp>
      <p:sp>
        <p:nvSpPr>
          <p:cNvPr id="14" name="Dreptunghi: colțuri rotunjite 13">
            <a:extLst>
              <a:ext uri="{FF2B5EF4-FFF2-40B4-BE49-F238E27FC236}">
                <a16:creationId xmlns:a16="http://schemas.microsoft.com/office/drawing/2014/main" id="{FC175520-4C38-4102-B484-87A2CCF3804C}"/>
              </a:ext>
            </a:extLst>
          </p:cNvPr>
          <p:cNvSpPr>
            <a:spLocks noGrp="1"/>
          </p:cNvSpPr>
          <p:nvPr/>
        </p:nvSpPr>
        <p:spPr>
          <a:xfrm>
            <a:off x="8286750" y="1390650"/>
            <a:ext cx="3429000" cy="1066800"/>
          </a:xfrm>
          <a:prstGeom prst="roundRect">
            <a:avLst>
              <a:gd name="adj" fmla="val 16071"/>
            </a:avLst>
          </a:prstGeom>
          <a:solidFill>
            <a:srgbClr val="FFECE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5" name="Dreptunghi 14">
            <a:extLst>
              <a:ext uri="{FF2B5EF4-FFF2-40B4-BE49-F238E27FC236}">
                <a16:creationId xmlns:a16="http://schemas.microsoft.com/office/drawing/2014/main" id="{0CBEE87D-D938-4555-BF3A-49A860A556D9}"/>
              </a:ext>
            </a:extLst>
          </p:cNvPr>
          <p:cNvSpPr>
            <a:spLocks noGrp="1"/>
          </p:cNvSpPr>
          <p:nvPr/>
        </p:nvSpPr>
        <p:spPr>
          <a:xfrm>
            <a:off x="8286750" y="1390650"/>
            <a:ext cx="76200" cy="1066800"/>
          </a:xfrm>
          <a:prstGeom prst="rect">
            <a:avLst/>
          </a:prstGeom>
          <a:solidFill>
            <a:srgbClr val="FF6B7A"/>
          </a:solidFill>
          <a:ln w="0">
            <a:noFill/>
          </a:ln>
        </p:spPr>
      </p:sp>
      <p:sp>
        <p:nvSpPr>
          <p:cNvPr id="16" name="Dreptunghi 15">
            <a:extLst>
              <a:ext uri="{FF2B5EF4-FFF2-40B4-BE49-F238E27FC236}">
                <a16:creationId xmlns:a16="http://schemas.microsoft.com/office/drawing/2014/main" id="{62AB6290-673B-4328-9E54-01ED0CF49230}"/>
              </a:ext>
            </a:extLst>
          </p:cNvPr>
          <p:cNvSpPr>
            <a:spLocks noGrp="1"/>
          </p:cNvSpPr>
          <p:nvPr/>
        </p:nvSpPr>
        <p:spPr>
          <a:xfrm>
            <a:off x="8496300" y="1524000"/>
            <a:ext cx="3086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ValueError</a:t>
            </a:r>
          </a:p>
        </p:txBody>
      </p:sp>
      <p:sp>
        <p:nvSpPr>
          <p:cNvPr id="17" name="Dreptunghi 16">
            <a:extLst>
              <a:ext uri="{FF2B5EF4-FFF2-40B4-BE49-F238E27FC236}">
                <a16:creationId xmlns:a16="http://schemas.microsoft.com/office/drawing/2014/main" id="{6B8BD4A8-0044-4FCB-A026-068EC295B82B}"/>
              </a:ext>
            </a:extLst>
          </p:cNvPr>
          <p:cNvSpPr>
            <a:spLocks noGrp="1"/>
          </p:cNvSpPr>
          <p:nvPr/>
        </p:nvSpPr>
        <p:spPr>
          <a:xfrm>
            <a:off x="8496300" y="1943100"/>
            <a:ext cx="3086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Conversia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nu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poate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interpreta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textul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, de 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exemplu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int("</a:t>
            </a:r>
            <a:r>
              <a:rPr sz="1400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zece</a:t>
            </a:r>
            <a:r>
              <a:rPr sz="1400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").</a:t>
            </a:r>
          </a:p>
        </p:txBody>
      </p:sp>
      <p:sp>
        <p:nvSpPr>
          <p:cNvPr id="18" name="Dreptunghi: colțuri rotunjite 17">
            <a:extLst>
              <a:ext uri="{FF2B5EF4-FFF2-40B4-BE49-F238E27FC236}">
                <a16:creationId xmlns:a16="http://schemas.microsoft.com/office/drawing/2014/main" id="{357FEAB0-92A7-4261-BD75-0B082A7E12E2}"/>
              </a:ext>
            </a:extLst>
          </p:cNvPr>
          <p:cNvSpPr>
            <a:spLocks noGrp="1"/>
          </p:cNvSpPr>
          <p:nvPr/>
        </p:nvSpPr>
        <p:spPr>
          <a:xfrm>
            <a:off x="1905000" y="3143250"/>
            <a:ext cx="8382000" cy="2190750"/>
          </a:xfrm>
          <a:prstGeom prst="roundRect">
            <a:avLst>
              <a:gd name="adj" fmla="val 7826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19" name="Dreptunghi: colțuri rotunjite 18">
            <a:extLst>
              <a:ext uri="{FF2B5EF4-FFF2-40B4-BE49-F238E27FC236}">
                <a16:creationId xmlns:a16="http://schemas.microsoft.com/office/drawing/2014/main" id="{B75AE5B4-A859-4312-B1EF-08013240E6C9}"/>
              </a:ext>
            </a:extLst>
          </p:cNvPr>
          <p:cNvSpPr>
            <a:spLocks noGrp="1"/>
          </p:cNvSpPr>
          <p:nvPr/>
        </p:nvSpPr>
        <p:spPr>
          <a:xfrm>
            <a:off x="2057400" y="327660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</a:ln>
        </p:spPr>
      </p:sp>
      <p:sp>
        <p:nvSpPr>
          <p:cNvPr id="20" name="Dreptunghi 19">
            <a:extLst>
              <a:ext uri="{FF2B5EF4-FFF2-40B4-BE49-F238E27FC236}">
                <a16:creationId xmlns:a16="http://schemas.microsoft.com/office/drawing/2014/main" id="{23406336-544F-4851-AEDC-91F6A8452D47}"/>
              </a:ext>
            </a:extLst>
          </p:cNvPr>
          <p:cNvSpPr>
            <a:spLocks noGrp="1"/>
          </p:cNvSpPr>
          <p:nvPr/>
        </p:nvSpPr>
        <p:spPr>
          <a:xfrm>
            <a:off x="2066925" y="327660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83889" lnSpcReduction="20000"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STRATEGIE DE DEPANARE</a:t>
            </a:r>
          </a:p>
        </p:txBody>
      </p:sp>
      <p:sp>
        <p:nvSpPr>
          <p:cNvPr id="21" name="Dreptunghi 20">
            <a:extLst>
              <a:ext uri="{FF2B5EF4-FFF2-40B4-BE49-F238E27FC236}">
                <a16:creationId xmlns:a16="http://schemas.microsoft.com/office/drawing/2014/main" id="{9B41EA54-58DD-4619-8847-0BD62FC10118}"/>
              </a:ext>
            </a:extLst>
          </p:cNvPr>
          <p:cNvSpPr>
            <a:spLocks noGrp="1"/>
          </p:cNvSpPr>
          <p:nvPr/>
        </p:nvSpPr>
        <p:spPr>
          <a:xfrm>
            <a:off x="2076450" y="3600450"/>
            <a:ext cx="803910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# 1. Citește mesajul erorii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# 2. Identifică linia indicată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# 3. Verifică numele și tipurile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# 4. Testează cu o valoare simplă</a:t>
            </a:r>
          </a:p>
        </p:txBody>
      </p:sp>
      <p:sp>
        <p:nvSpPr>
          <p:cNvPr id="22" name="Dreptunghi 21">
            <a:extLst>
              <a:ext uri="{FF2B5EF4-FFF2-40B4-BE49-F238E27FC236}">
                <a16:creationId xmlns:a16="http://schemas.microsoft.com/office/drawing/2014/main" id="{05AFA685-002D-4F5E-8268-180E7A87D817}"/>
              </a:ext>
            </a:extLst>
          </p:cNvPr>
          <p:cNvSpPr>
            <a:spLocks noGrp="1"/>
          </p:cNvSpPr>
          <p:nvPr/>
        </p:nvSpPr>
        <p:spPr>
          <a:xfrm>
            <a:off x="1666875" y="5715000"/>
            <a:ext cx="885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0259"/>
          </a:bodyPr>
          <a:lstStyle/>
          <a:p>
            <a:pPr algn="ctr">
              <a:defRPr sz="1725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O eroare oferă informații despre cauză. Folosește mesajul pentru a localiza problema.</a:t>
            </a:r>
          </a:p>
        </p:txBody>
      </p:sp>
    </p:spTree>
    <p:extLst>
      <p:ext uri="{BB962C8B-B14F-4D97-AF65-F5344CB8AC3E}">
        <p14:creationId xmlns:p14="http://schemas.microsoft.com/office/powerpoint/2010/main" val="1802345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reptunghi 23">
            <a:extLst>
              <a:ext uri="{FF2B5EF4-FFF2-40B4-BE49-F238E27FC236}">
                <a16:creationId xmlns:a16="http://schemas.microsoft.com/office/drawing/2014/main" id="{23A59532-2D17-4B10-BAD9-92569DF504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2EB9B383-EE90-49B1-A3EA-603F9DB64C06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3776AB"/>
                </a:solidFill>
                <a:latin typeface="Arial"/>
                <a:ea typeface="Arial"/>
                <a:cs typeface="Arial"/>
              </a:rPr>
              <a:t>PRACTICĂ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DBF4831F-384B-4945-B89D-50A54B08E9FC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Sarcini</a:t>
            </a:r>
            <a:r>
              <a:rPr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practice: </a:t>
            </a: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variabile</a:t>
            </a:r>
            <a:r>
              <a:rPr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și</a:t>
            </a:r>
            <a:r>
              <a:rPr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tipuri</a:t>
            </a:r>
            <a:endParaRPr sz="2625" b="1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7" name="Imagin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CDD24BCC-CEA2-4972-966D-CBBEA2641B51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2</a:t>
            </a:r>
            <a:r>
              <a:rPr lang="ro-RO" sz="975" b="1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3</a:t>
            </a:r>
            <a:endParaRPr sz="975" b="1" dirty="0">
              <a:solidFill>
                <a:srgbClr val="5865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2C24868A-0136-4AF2-B8C0-7B9CD2570734}"/>
              </a:ext>
            </a:extLst>
          </p:cNvPr>
          <p:cNvSpPr>
            <a:spLocks noGrp="1"/>
          </p:cNvSpPr>
          <p:nvPr/>
        </p:nvSpPr>
        <p:spPr>
          <a:xfrm>
            <a:off x="514350" y="1333500"/>
            <a:ext cx="5334000" cy="1409700"/>
          </a:xfrm>
          <a:prstGeom prst="roundRect">
            <a:avLst>
              <a:gd name="adj" fmla="val 12162"/>
            </a:avLst>
          </a:prstGeom>
          <a:solidFill>
            <a:srgbClr val="EAF3F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609C241E-9BED-469D-A627-C9269F8D5D9A}"/>
              </a:ext>
            </a:extLst>
          </p:cNvPr>
          <p:cNvSpPr>
            <a:spLocks noGrp="1"/>
          </p:cNvSpPr>
          <p:nvPr/>
        </p:nvSpPr>
        <p:spPr>
          <a:xfrm>
            <a:off x="514350" y="1333500"/>
            <a:ext cx="76200" cy="14097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A9F02186-424D-4B32-8654-E38CFB25747B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4991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1 • Urmărirea valorilor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71303266-2029-4F4D-A47E-D432B336CC16}"/>
              </a:ext>
            </a:extLst>
          </p:cNvPr>
          <p:cNvSpPr>
            <a:spLocks noGrp="1"/>
          </p:cNvSpPr>
          <p:nvPr/>
        </p:nvSpPr>
        <p:spPr>
          <a:xfrm>
            <a:off x="723900" y="1885950"/>
            <a:ext cx="49911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6491" lnSpcReduction="10000"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Anticipează valorile finale ale variabilelor x și y. Explică de ce modificarea lui x nu schimbă automat valoarea lui y, apoi verifică prin rulare.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01061450-9806-4666-914D-29BF9F6E5141}"/>
              </a:ext>
            </a:extLst>
          </p:cNvPr>
          <p:cNvSpPr>
            <a:spLocks noGrp="1"/>
          </p:cNvSpPr>
          <p:nvPr/>
        </p:nvSpPr>
        <p:spPr>
          <a:xfrm>
            <a:off x="514350" y="2990850"/>
            <a:ext cx="5334000" cy="2381250"/>
          </a:xfrm>
          <a:prstGeom prst="roundRect">
            <a:avLst>
              <a:gd name="adj" fmla="val 7200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11" name="Dreptunghi: colțuri rotunjite 10">
            <a:extLst>
              <a:ext uri="{FF2B5EF4-FFF2-40B4-BE49-F238E27FC236}">
                <a16:creationId xmlns:a16="http://schemas.microsoft.com/office/drawing/2014/main" id="{33F2A53A-850A-42C7-99E5-E395CEDB9D93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0">
            <a:noFill/>
          </a:ln>
        </p:spPr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06F811D4-40ED-4138-AB08-33D2133FAA6F}"/>
              </a:ext>
            </a:extLst>
          </p:cNvPr>
          <p:cNvSpPr>
            <a:spLocks noGrp="1"/>
          </p:cNvSpPr>
          <p:nvPr/>
        </p:nvSpPr>
        <p:spPr>
          <a:xfrm>
            <a:off x="676275" y="312420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ANALIZEAZĂ</a:t>
            </a:r>
          </a:p>
        </p:txBody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2C639CEE-4C8E-4938-AB09-B664A931ABCD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49911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x = 8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y = x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x = x + 5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y = y * 2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print(x, y)</a:t>
            </a:r>
          </a:p>
        </p:txBody>
      </p:sp>
      <p:sp>
        <p:nvSpPr>
          <p:cNvPr id="14" name="Dreptunghi 13">
            <a:extLst>
              <a:ext uri="{FF2B5EF4-FFF2-40B4-BE49-F238E27FC236}">
                <a16:creationId xmlns:a16="http://schemas.microsoft.com/office/drawing/2014/main" id="{C44F30A5-FEA4-4761-A01A-0BADA627AE2D}"/>
              </a:ext>
            </a:extLst>
          </p:cNvPr>
          <p:cNvSpPr>
            <a:spLocks noGrp="1"/>
          </p:cNvSpPr>
          <p:nvPr/>
        </p:nvSpPr>
        <p:spPr>
          <a:xfrm>
            <a:off x="628650" y="5581650"/>
            <a:ext cx="51054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9605" lnSpcReduction="10000"/>
          </a:bodyPr>
          <a:lstStyle/>
          <a:p>
            <a:pPr algn="ctr">
              <a:defRPr sz="1425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Răspunsul va conține valorile finale și o explicație de 1–2 propoziții.</a:t>
            </a:r>
          </a:p>
        </p:txBody>
      </p:sp>
      <p:sp>
        <p:nvSpPr>
          <p:cNvPr id="15" name="Dreptunghi: colțuri rotunjite 14">
            <a:extLst>
              <a:ext uri="{FF2B5EF4-FFF2-40B4-BE49-F238E27FC236}">
                <a16:creationId xmlns:a16="http://schemas.microsoft.com/office/drawing/2014/main" id="{624FF388-2A60-4A42-A931-6EA7D0696690}"/>
              </a:ext>
            </a:extLst>
          </p:cNvPr>
          <p:cNvSpPr>
            <a:spLocks noGrp="1"/>
          </p:cNvSpPr>
          <p:nvPr/>
        </p:nvSpPr>
        <p:spPr>
          <a:xfrm>
            <a:off x="6343650" y="1333500"/>
            <a:ext cx="5334000" cy="1409700"/>
          </a:xfrm>
          <a:prstGeom prst="roundRect">
            <a:avLst>
              <a:gd name="adj" fmla="val 12162"/>
            </a:avLst>
          </a:prstGeom>
          <a:solidFill>
            <a:srgbClr val="E7F8F1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6" name="Dreptunghi 15">
            <a:extLst>
              <a:ext uri="{FF2B5EF4-FFF2-40B4-BE49-F238E27FC236}">
                <a16:creationId xmlns:a16="http://schemas.microsoft.com/office/drawing/2014/main" id="{F53691D0-A9A1-4323-8847-F94E6841FAD9}"/>
              </a:ext>
            </a:extLst>
          </p:cNvPr>
          <p:cNvSpPr>
            <a:spLocks noGrp="1"/>
          </p:cNvSpPr>
          <p:nvPr/>
        </p:nvSpPr>
        <p:spPr>
          <a:xfrm>
            <a:off x="6343650" y="1333500"/>
            <a:ext cx="76200" cy="1409700"/>
          </a:xfrm>
          <a:prstGeom prst="rect">
            <a:avLst/>
          </a:prstGeom>
          <a:solidFill>
            <a:srgbClr val="2DBE7F"/>
          </a:solidFill>
          <a:ln w="0">
            <a:noFill/>
          </a:ln>
        </p:spPr>
      </p:sp>
      <p:sp>
        <p:nvSpPr>
          <p:cNvPr id="17" name="Dreptunghi 16">
            <a:extLst>
              <a:ext uri="{FF2B5EF4-FFF2-40B4-BE49-F238E27FC236}">
                <a16:creationId xmlns:a16="http://schemas.microsoft.com/office/drawing/2014/main" id="{953116C5-E397-497D-8BA6-45AC1C18F421}"/>
              </a:ext>
            </a:extLst>
          </p:cNvPr>
          <p:cNvSpPr>
            <a:spLocks noGrp="1"/>
          </p:cNvSpPr>
          <p:nvPr/>
        </p:nvSpPr>
        <p:spPr>
          <a:xfrm>
            <a:off x="6553200" y="1466850"/>
            <a:ext cx="4991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2 • Costul cumpărăturii</a:t>
            </a:r>
          </a:p>
        </p:txBody>
      </p:sp>
      <p:sp>
        <p:nvSpPr>
          <p:cNvPr id="18" name="Dreptunghi 17">
            <a:extLst>
              <a:ext uri="{FF2B5EF4-FFF2-40B4-BE49-F238E27FC236}">
                <a16:creationId xmlns:a16="http://schemas.microsoft.com/office/drawing/2014/main" id="{A7A0D1EF-056D-45ED-A1C0-956C082AC6C2}"/>
              </a:ext>
            </a:extLst>
          </p:cNvPr>
          <p:cNvSpPr>
            <a:spLocks noGrp="1"/>
          </p:cNvSpPr>
          <p:nvPr/>
        </p:nvSpPr>
        <p:spPr>
          <a:xfrm>
            <a:off x="6553200" y="1885950"/>
            <a:ext cx="49911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6491" lnSpcReduction="10000"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Citește prețul și numărul produselor. Calculează costul total și afișează-l cu două zecimale. Verifică tipurile variabilelor cu type().</a:t>
            </a:r>
          </a:p>
        </p:txBody>
      </p:sp>
      <p:sp>
        <p:nvSpPr>
          <p:cNvPr id="19" name="Dreptunghi: colțuri rotunjite 18">
            <a:extLst>
              <a:ext uri="{FF2B5EF4-FFF2-40B4-BE49-F238E27FC236}">
                <a16:creationId xmlns:a16="http://schemas.microsoft.com/office/drawing/2014/main" id="{98A5EEB6-8E74-4AB8-8AED-1A0934664E64}"/>
              </a:ext>
            </a:extLst>
          </p:cNvPr>
          <p:cNvSpPr>
            <a:spLocks noGrp="1"/>
          </p:cNvSpPr>
          <p:nvPr/>
        </p:nvSpPr>
        <p:spPr>
          <a:xfrm>
            <a:off x="6343650" y="2990850"/>
            <a:ext cx="5334000" cy="2381250"/>
          </a:xfrm>
          <a:prstGeom prst="roundRect">
            <a:avLst>
              <a:gd name="adj" fmla="val 7200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20" name="Dreptunghi: colțuri rotunjite 19">
            <a:extLst>
              <a:ext uri="{FF2B5EF4-FFF2-40B4-BE49-F238E27FC236}">
                <a16:creationId xmlns:a16="http://schemas.microsoft.com/office/drawing/2014/main" id="{C688B913-B07B-49B5-9A09-11A814234AFB}"/>
              </a:ext>
            </a:extLst>
          </p:cNvPr>
          <p:cNvSpPr>
            <a:spLocks noGrp="1"/>
          </p:cNvSpPr>
          <p:nvPr/>
        </p:nvSpPr>
        <p:spPr>
          <a:xfrm>
            <a:off x="6496050" y="312420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2DBE7F"/>
          </a:solidFill>
          <a:ln w="0">
            <a:noFill/>
          </a:ln>
        </p:spPr>
      </p:sp>
      <p:sp>
        <p:nvSpPr>
          <p:cNvPr id="21" name="Dreptunghi 20">
            <a:extLst>
              <a:ext uri="{FF2B5EF4-FFF2-40B4-BE49-F238E27FC236}">
                <a16:creationId xmlns:a16="http://schemas.microsoft.com/office/drawing/2014/main" id="{A6AD6C3C-E967-4D8F-B66D-60C59D2CE018}"/>
              </a:ext>
            </a:extLst>
          </p:cNvPr>
          <p:cNvSpPr>
            <a:spLocks noGrp="1"/>
          </p:cNvSpPr>
          <p:nvPr/>
        </p:nvSpPr>
        <p:spPr>
          <a:xfrm>
            <a:off x="6505575" y="312420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83889" lnSpcReduction="20000"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COMPLETEAZĂ ȘI TESTEAZĂ</a:t>
            </a:r>
          </a:p>
        </p:txBody>
      </p:sp>
      <p:sp>
        <p:nvSpPr>
          <p:cNvPr id="22" name="Dreptunghi 21">
            <a:extLst>
              <a:ext uri="{FF2B5EF4-FFF2-40B4-BE49-F238E27FC236}">
                <a16:creationId xmlns:a16="http://schemas.microsoft.com/office/drawing/2014/main" id="{2A889021-1585-4554-946C-8DACAACA0A25}"/>
              </a:ext>
            </a:extLst>
          </p:cNvPr>
          <p:cNvSpPr>
            <a:spLocks noGrp="1"/>
          </p:cNvSpPr>
          <p:nvPr/>
        </p:nvSpPr>
        <p:spPr>
          <a:xfrm>
            <a:off x="6515100" y="3448050"/>
            <a:ext cx="49911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pret = float(input("Preț = "))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numar_produse = int(input("Număr = "))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cost_total = pret * numar_produse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print(f"Total: {cost_total:.2f} lei")</a:t>
            </a:r>
          </a:p>
        </p:txBody>
      </p:sp>
      <p:sp>
        <p:nvSpPr>
          <p:cNvPr id="23" name="Dreptunghi 22">
            <a:extLst>
              <a:ext uri="{FF2B5EF4-FFF2-40B4-BE49-F238E27FC236}">
                <a16:creationId xmlns:a16="http://schemas.microsoft.com/office/drawing/2014/main" id="{5217B86C-EF13-4C0A-85B1-096DD08A8A39}"/>
              </a:ext>
            </a:extLst>
          </p:cNvPr>
          <p:cNvSpPr>
            <a:spLocks noGrp="1"/>
          </p:cNvSpPr>
          <p:nvPr/>
        </p:nvSpPr>
        <p:spPr>
          <a:xfrm>
            <a:off x="6457950" y="5581650"/>
            <a:ext cx="51054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ctr">
              <a:defRPr sz="1425" b="1">
                <a:solidFill>
                  <a:srgbClr val="2DBE7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BE7F"/>
                </a:solidFill>
                <a:latin typeface="Arial"/>
                <a:ea typeface="Arial"/>
                <a:cs typeface="Arial"/>
              </a:rPr>
              <a:t>Test: pret = 24.75, numar_produse = 4. Rezultat: 99.00 lei.</a:t>
            </a:r>
          </a:p>
        </p:txBody>
      </p:sp>
    </p:spTree>
    <p:extLst>
      <p:ext uri="{BB962C8B-B14F-4D97-AF65-F5344CB8AC3E}">
        <p14:creationId xmlns:p14="http://schemas.microsoft.com/office/powerpoint/2010/main" val="1897784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reptunghi 24">
            <a:extLst>
              <a:ext uri="{FF2B5EF4-FFF2-40B4-BE49-F238E27FC236}">
                <a16:creationId xmlns:a16="http://schemas.microsoft.com/office/drawing/2014/main" id="{D8AD8228-C62D-4E87-8DAC-018644AA52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DE711AC9-3A00-49D6-9FDB-1CB37659585F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3776AB"/>
                </a:solidFill>
                <a:latin typeface="Arial"/>
                <a:ea typeface="Arial"/>
                <a:cs typeface="Arial"/>
              </a:rPr>
              <a:t>PRACTICĂ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5BC40621-E072-4D4C-853D-E18EF50A5BF3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Sarcini</a:t>
            </a:r>
            <a:r>
              <a:rPr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practice: </a:t>
            </a: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identificatori</a:t>
            </a:r>
            <a:r>
              <a:rPr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și</a:t>
            </a:r>
            <a:r>
              <a:rPr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aplicare</a:t>
            </a:r>
            <a:endParaRPr sz="2625" b="1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8" name="Imagin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DB65A0F3-E49B-44B7-B653-AC59EAD1DE92}"/>
              </a:ext>
            </a:extLst>
          </p:cNvPr>
          <p:cNvSpPr>
            <a:spLocks noGrp="1"/>
          </p:cNvSpPr>
          <p:nvPr/>
        </p:nvSpPr>
        <p:spPr>
          <a:xfrm>
            <a:off x="514350" y="1333500"/>
            <a:ext cx="5334000" cy="1409700"/>
          </a:xfrm>
          <a:prstGeom prst="roundRect">
            <a:avLst>
              <a:gd name="adj" fmla="val 12162"/>
            </a:avLst>
          </a:prstGeom>
          <a:solidFill>
            <a:srgbClr val="FFECE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C46EF144-A84C-4F4F-8247-2737EB239977}"/>
              </a:ext>
            </a:extLst>
          </p:cNvPr>
          <p:cNvSpPr>
            <a:spLocks noGrp="1"/>
          </p:cNvSpPr>
          <p:nvPr/>
        </p:nvSpPr>
        <p:spPr>
          <a:xfrm>
            <a:off x="514350" y="1333500"/>
            <a:ext cx="76200" cy="1409700"/>
          </a:xfrm>
          <a:prstGeom prst="rect">
            <a:avLst/>
          </a:prstGeom>
          <a:solidFill>
            <a:srgbClr val="FF6B7A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6F336372-3A5B-457B-8B37-79524F84820F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4991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3 • Corectarea identificatorilor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7DFC4EB8-2527-4B88-AB60-4580425B5934}"/>
              </a:ext>
            </a:extLst>
          </p:cNvPr>
          <p:cNvSpPr>
            <a:spLocks noGrp="1"/>
          </p:cNvSpPr>
          <p:nvPr/>
        </p:nvSpPr>
        <p:spPr>
          <a:xfrm>
            <a:off x="723900" y="1885950"/>
            <a:ext cx="49911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6491" lnSpcReduction="10000"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Identifică numele nevalide, explică regula încălcată și rescrie programul cu identificatori clari. Afișează un mesaj despre clasă.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57140CFD-73CF-4A69-A7BE-7CAC6DE466A8}"/>
              </a:ext>
            </a:extLst>
          </p:cNvPr>
          <p:cNvSpPr>
            <a:spLocks noGrp="1"/>
          </p:cNvSpPr>
          <p:nvPr/>
        </p:nvSpPr>
        <p:spPr>
          <a:xfrm>
            <a:off x="514350" y="2990850"/>
            <a:ext cx="5334000" cy="2381250"/>
          </a:xfrm>
          <a:prstGeom prst="roundRect">
            <a:avLst>
              <a:gd name="adj" fmla="val 7200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11" name="Dreptunghi: colțuri rotunjite 10">
            <a:extLst>
              <a:ext uri="{FF2B5EF4-FFF2-40B4-BE49-F238E27FC236}">
                <a16:creationId xmlns:a16="http://schemas.microsoft.com/office/drawing/2014/main" id="{D2BD6CDD-A29D-4C85-AE17-1B0298477537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FF6B7A"/>
          </a:solidFill>
          <a:ln w="0">
            <a:noFill/>
          </a:ln>
        </p:spPr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B0ED5343-2F30-47D4-B8FC-5147C9D1C442}"/>
              </a:ext>
            </a:extLst>
          </p:cNvPr>
          <p:cNvSpPr>
            <a:spLocks noGrp="1"/>
          </p:cNvSpPr>
          <p:nvPr/>
        </p:nvSpPr>
        <p:spPr>
          <a:xfrm>
            <a:off x="676275" y="312420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1462"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CORECTEAZĂ</a:t>
            </a:r>
          </a:p>
        </p:txBody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47143A8E-1E87-4D0F-9BC9-8E18D9F4446E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49911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2elevi = 28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nota-medie = 8.75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class = "a X-a"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x = 18</a:t>
            </a:r>
          </a:p>
        </p:txBody>
      </p:sp>
      <p:sp>
        <p:nvSpPr>
          <p:cNvPr id="14" name="Dreptunghi 13">
            <a:extLst>
              <a:ext uri="{FF2B5EF4-FFF2-40B4-BE49-F238E27FC236}">
                <a16:creationId xmlns:a16="http://schemas.microsoft.com/office/drawing/2014/main" id="{4AEDBD5D-C8C1-4A28-9B85-189CE70BC81A}"/>
              </a:ext>
            </a:extLst>
          </p:cNvPr>
          <p:cNvSpPr>
            <a:spLocks noGrp="1"/>
          </p:cNvSpPr>
          <p:nvPr/>
        </p:nvSpPr>
        <p:spPr>
          <a:xfrm>
            <a:off x="628650" y="5581650"/>
            <a:ext cx="51054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9605" lnSpcReduction="10000"/>
          </a:bodyPr>
          <a:lstStyle/>
          <a:p>
            <a:pPr algn="ctr">
              <a:defRPr sz="1425" b="1">
                <a:solidFill>
                  <a:srgbClr val="FF6B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6B7A"/>
                </a:solidFill>
                <a:latin typeface="Arial"/>
                <a:ea typeface="Arial"/>
                <a:cs typeface="Arial"/>
              </a:rPr>
              <a:t>Sugestii: numar_elevi, nota_medie, clasa_elevilor, varsta_medie.</a:t>
            </a:r>
          </a:p>
        </p:txBody>
      </p:sp>
      <p:sp>
        <p:nvSpPr>
          <p:cNvPr id="15" name="Dreptunghi: colțuri rotunjite 14">
            <a:extLst>
              <a:ext uri="{FF2B5EF4-FFF2-40B4-BE49-F238E27FC236}">
                <a16:creationId xmlns:a16="http://schemas.microsoft.com/office/drawing/2014/main" id="{DE7BE5DE-FA4E-4AA8-BC4D-E727615D4647}"/>
              </a:ext>
            </a:extLst>
          </p:cNvPr>
          <p:cNvSpPr>
            <a:spLocks noGrp="1"/>
          </p:cNvSpPr>
          <p:nvPr/>
        </p:nvSpPr>
        <p:spPr>
          <a:xfrm>
            <a:off x="6343650" y="1333500"/>
            <a:ext cx="5334000" cy="1409700"/>
          </a:xfrm>
          <a:prstGeom prst="roundRect">
            <a:avLst>
              <a:gd name="adj" fmla="val 12162"/>
            </a:avLst>
          </a:prstGeom>
          <a:solidFill>
            <a:srgbClr val="F0ED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6" name="Dreptunghi 15">
            <a:extLst>
              <a:ext uri="{FF2B5EF4-FFF2-40B4-BE49-F238E27FC236}">
                <a16:creationId xmlns:a16="http://schemas.microsoft.com/office/drawing/2014/main" id="{E13DEF24-13ED-4651-A920-CFEBF1EB1724}"/>
              </a:ext>
            </a:extLst>
          </p:cNvPr>
          <p:cNvSpPr>
            <a:spLocks noGrp="1"/>
          </p:cNvSpPr>
          <p:nvPr/>
        </p:nvSpPr>
        <p:spPr>
          <a:xfrm>
            <a:off x="6343650" y="1333500"/>
            <a:ext cx="76200" cy="1409700"/>
          </a:xfrm>
          <a:prstGeom prst="rect">
            <a:avLst/>
          </a:prstGeom>
          <a:solidFill>
            <a:srgbClr val="8B7CFF"/>
          </a:solidFill>
          <a:ln w="0">
            <a:noFill/>
          </a:ln>
        </p:spPr>
      </p:sp>
      <p:sp>
        <p:nvSpPr>
          <p:cNvPr id="17" name="Dreptunghi 16">
            <a:extLst>
              <a:ext uri="{FF2B5EF4-FFF2-40B4-BE49-F238E27FC236}">
                <a16:creationId xmlns:a16="http://schemas.microsoft.com/office/drawing/2014/main" id="{B8B8E647-7CA8-4F08-B316-FD9987523F24}"/>
              </a:ext>
            </a:extLst>
          </p:cNvPr>
          <p:cNvSpPr>
            <a:spLocks noGrp="1"/>
          </p:cNvSpPr>
          <p:nvPr/>
        </p:nvSpPr>
        <p:spPr>
          <a:xfrm>
            <a:off x="6553200" y="1466850"/>
            <a:ext cx="4991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4 • Energia cinetică</a:t>
            </a:r>
          </a:p>
        </p:txBody>
      </p:sp>
      <p:sp>
        <p:nvSpPr>
          <p:cNvPr id="18" name="Dreptunghi 17">
            <a:extLst>
              <a:ext uri="{FF2B5EF4-FFF2-40B4-BE49-F238E27FC236}">
                <a16:creationId xmlns:a16="http://schemas.microsoft.com/office/drawing/2014/main" id="{2D3B29A2-1D1B-4B3B-866E-D3C166297D73}"/>
              </a:ext>
            </a:extLst>
          </p:cNvPr>
          <p:cNvSpPr>
            <a:spLocks noGrp="1"/>
          </p:cNvSpPr>
          <p:nvPr/>
        </p:nvSpPr>
        <p:spPr>
          <a:xfrm>
            <a:off x="6553200" y="1885950"/>
            <a:ext cx="49911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6491" lnSpcReduction="10000"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Citește masa și viteza, apoi calculează energia cinetică. Afișează rezultatul cu două zecimale și adaugă un comentariu despre formulă.</a:t>
            </a:r>
          </a:p>
        </p:txBody>
      </p:sp>
      <p:sp>
        <p:nvSpPr>
          <p:cNvPr id="19" name="Dreptunghi: colțuri rotunjite 18">
            <a:extLst>
              <a:ext uri="{FF2B5EF4-FFF2-40B4-BE49-F238E27FC236}">
                <a16:creationId xmlns:a16="http://schemas.microsoft.com/office/drawing/2014/main" id="{04D7473A-63E1-4707-9640-97EEE7B05608}"/>
              </a:ext>
            </a:extLst>
          </p:cNvPr>
          <p:cNvSpPr>
            <a:spLocks noGrp="1"/>
          </p:cNvSpPr>
          <p:nvPr/>
        </p:nvSpPr>
        <p:spPr>
          <a:xfrm>
            <a:off x="6667500" y="3009900"/>
            <a:ext cx="4686300" cy="666750"/>
          </a:xfrm>
          <a:prstGeom prst="roundRect">
            <a:avLst>
              <a:gd name="adj" fmla="val 22857"/>
            </a:avLst>
          </a:prstGeom>
          <a:solidFill>
            <a:srgbClr val="FFF6CC"/>
          </a:solidFill>
          <a:ln w="9525">
            <a:solidFill>
              <a:srgbClr val="FFD43B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24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Ec = m · v² / 2</a:t>
            </a:r>
          </a:p>
        </p:txBody>
      </p:sp>
      <p:sp>
        <p:nvSpPr>
          <p:cNvPr id="20" name="Dreptunghi: colțuri rotunjite 19">
            <a:extLst>
              <a:ext uri="{FF2B5EF4-FFF2-40B4-BE49-F238E27FC236}">
                <a16:creationId xmlns:a16="http://schemas.microsoft.com/office/drawing/2014/main" id="{B8A03127-715A-4752-A47C-9C02D395AC6C}"/>
              </a:ext>
            </a:extLst>
          </p:cNvPr>
          <p:cNvSpPr>
            <a:spLocks noGrp="1"/>
          </p:cNvSpPr>
          <p:nvPr/>
        </p:nvSpPr>
        <p:spPr>
          <a:xfrm>
            <a:off x="6343650" y="3905250"/>
            <a:ext cx="5334000" cy="188595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21" name="Dreptunghi: colțuri rotunjite 20">
            <a:extLst>
              <a:ext uri="{FF2B5EF4-FFF2-40B4-BE49-F238E27FC236}">
                <a16:creationId xmlns:a16="http://schemas.microsoft.com/office/drawing/2014/main" id="{5754AD08-23DC-4214-92CE-26B1F72BCF14}"/>
              </a:ext>
            </a:extLst>
          </p:cNvPr>
          <p:cNvSpPr>
            <a:spLocks noGrp="1"/>
          </p:cNvSpPr>
          <p:nvPr/>
        </p:nvSpPr>
        <p:spPr>
          <a:xfrm>
            <a:off x="6496050" y="403860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8B7CFF"/>
          </a:solidFill>
          <a:ln w="0">
            <a:noFill/>
          </a:ln>
        </p:spPr>
      </p:sp>
      <p:sp>
        <p:nvSpPr>
          <p:cNvPr id="22" name="Dreptunghi 21">
            <a:extLst>
              <a:ext uri="{FF2B5EF4-FFF2-40B4-BE49-F238E27FC236}">
                <a16:creationId xmlns:a16="http://schemas.microsoft.com/office/drawing/2014/main" id="{4529F983-6D00-410F-B8D3-72E7D252DF86}"/>
              </a:ext>
            </a:extLst>
          </p:cNvPr>
          <p:cNvSpPr>
            <a:spLocks noGrp="1"/>
          </p:cNvSpPr>
          <p:nvPr/>
        </p:nvSpPr>
        <p:spPr>
          <a:xfrm>
            <a:off x="6460749" y="4038600"/>
            <a:ext cx="917201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3437"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0B1020"/>
                </a:solidFill>
                <a:latin typeface="Arial"/>
                <a:ea typeface="Arial"/>
                <a:cs typeface="Arial"/>
              </a:rPr>
              <a:t>PROGRAMEAZĂ</a:t>
            </a:r>
          </a:p>
        </p:txBody>
      </p:sp>
      <p:sp>
        <p:nvSpPr>
          <p:cNvPr id="23" name="Dreptunghi 22">
            <a:extLst>
              <a:ext uri="{FF2B5EF4-FFF2-40B4-BE49-F238E27FC236}">
                <a16:creationId xmlns:a16="http://schemas.microsoft.com/office/drawing/2014/main" id="{F6D6A8A3-0643-49DB-BBF0-2803203095FF}"/>
              </a:ext>
            </a:extLst>
          </p:cNvPr>
          <p:cNvSpPr>
            <a:spLocks noGrp="1"/>
          </p:cNvSpPr>
          <p:nvPr/>
        </p:nvSpPr>
        <p:spPr>
          <a:xfrm>
            <a:off x="6515100" y="4362450"/>
            <a:ext cx="499110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masa = float(input("m = "))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viteza = float(input("v = "))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energia_cinetica = masa * viteza ** 2 / 2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print(f"Ec = {energia_cinetica:.2f} J")</a:t>
            </a:r>
          </a:p>
        </p:txBody>
      </p:sp>
      <p:sp>
        <p:nvSpPr>
          <p:cNvPr id="24" name="Dreptunghi 23">
            <a:extLst>
              <a:ext uri="{FF2B5EF4-FFF2-40B4-BE49-F238E27FC236}">
                <a16:creationId xmlns:a16="http://schemas.microsoft.com/office/drawing/2014/main" id="{0B39894D-635F-404F-9EDC-207B3E3AFB18}"/>
              </a:ext>
            </a:extLst>
          </p:cNvPr>
          <p:cNvSpPr>
            <a:spLocks noGrp="1"/>
          </p:cNvSpPr>
          <p:nvPr/>
        </p:nvSpPr>
        <p:spPr>
          <a:xfrm>
            <a:off x="6457950" y="5867400"/>
            <a:ext cx="5105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ctr">
              <a:defRPr sz="1350" b="1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7CFF"/>
                </a:solidFill>
                <a:latin typeface="Arial"/>
                <a:ea typeface="Arial"/>
                <a:cs typeface="Arial"/>
              </a:rPr>
              <a:t>Test: masa = 2.5 kg, viteza = 6 m/s. Rezultat: 45.00 J.</a:t>
            </a:r>
          </a:p>
        </p:txBody>
      </p:sp>
    </p:spTree>
    <p:extLst>
      <p:ext uri="{BB962C8B-B14F-4D97-AF65-F5344CB8AC3E}">
        <p14:creationId xmlns:p14="http://schemas.microsoft.com/office/powerpoint/2010/main" val="17791496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reptunghi 21">
            <a:extLst>
              <a:ext uri="{FF2B5EF4-FFF2-40B4-BE49-F238E27FC236}">
                <a16:creationId xmlns:a16="http://schemas.microsoft.com/office/drawing/2014/main" id="{AB9D9D49-A4E2-4E1B-B799-2A8A5A4663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AC1CA2FB-5CFC-4EA0-B872-26158BBFCA23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3776AB"/>
                </a:solidFill>
                <a:latin typeface="Arial"/>
                <a:ea typeface="Arial"/>
                <a:cs typeface="Arial"/>
              </a:rPr>
              <a:t>PRACTICĂ 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40BD63AB-EA2B-4079-9A2F-CBC36C1867FD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Lecția</a:t>
            </a:r>
            <a:r>
              <a:rPr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practică</a:t>
            </a:r>
            <a:r>
              <a:rPr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: </a:t>
            </a: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funcții</a:t>
            </a:r>
            <a:r>
              <a:rPr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matematice</a:t>
            </a:r>
            <a:endParaRPr sz="2625" b="1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5" name="Imagin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41077CB4-794B-428E-920D-9CB2B6C9DE6C}"/>
              </a:ext>
            </a:extLst>
          </p:cNvPr>
          <p:cNvSpPr>
            <a:spLocks noGrp="1"/>
          </p:cNvSpPr>
          <p:nvPr/>
        </p:nvSpPr>
        <p:spPr>
          <a:xfrm>
            <a:off x="568138" y="2438400"/>
            <a:ext cx="3333750" cy="1657350"/>
          </a:xfrm>
          <a:prstGeom prst="roundRect">
            <a:avLst>
              <a:gd name="adj" fmla="val 10345"/>
            </a:avLst>
          </a:prstGeom>
          <a:solidFill>
            <a:srgbClr val="EAF3F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84236F43-8A4B-46F1-B77A-D462C16048C3}"/>
              </a:ext>
            </a:extLst>
          </p:cNvPr>
          <p:cNvSpPr>
            <a:spLocks noGrp="1"/>
          </p:cNvSpPr>
          <p:nvPr/>
        </p:nvSpPr>
        <p:spPr>
          <a:xfrm>
            <a:off x="568138" y="2438400"/>
            <a:ext cx="76200" cy="165735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4E620B1E-8795-40A1-A882-10211C202A51}"/>
              </a:ext>
            </a:extLst>
          </p:cNvPr>
          <p:cNvSpPr>
            <a:spLocks noGrp="1"/>
          </p:cNvSpPr>
          <p:nvPr/>
        </p:nvSpPr>
        <p:spPr>
          <a:xfrm>
            <a:off x="777688" y="2571750"/>
            <a:ext cx="2990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Nivel de bază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FE8B01BB-FB3E-4E54-AE1D-9E9C9F9D3802}"/>
              </a:ext>
            </a:extLst>
          </p:cNvPr>
          <p:cNvSpPr>
            <a:spLocks noGrp="1"/>
          </p:cNvSpPr>
          <p:nvPr/>
        </p:nvSpPr>
        <p:spPr>
          <a:xfrm>
            <a:off x="777688" y="2990850"/>
            <a:ext cx="29908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Citește trei valori și afișează minimul, maximul și valoarea absolută a diferenței dintre primele două.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EFBD7391-A07B-4609-AB5D-51824085C7B2}"/>
              </a:ext>
            </a:extLst>
          </p:cNvPr>
          <p:cNvSpPr>
            <a:spLocks noGrp="1"/>
          </p:cNvSpPr>
          <p:nvPr/>
        </p:nvSpPr>
        <p:spPr>
          <a:xfrm>
            <a:off x="4482913" y="2438400"/>
            <a:ext cx="3333750" cy="1657350"/>
          </a:xfrm>
          <a:prstGeom prst="roundRect">
            <a:avLst>
              <a:gd name="adj" fmla="val 10345"/>
            </a:avLst>
          </a:prstGeom>
          <a:solidFill>
            <a:srgbClr val="E7F8F1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1" name="Dreptunghi 10">
            <a:extLst>
              <a:ext uri="{FF2B5EF4-FFF2-40B4-BE49-F238E27FC236}">
                <a16:creationId xmlns:a16="http://schemas.microsoft.com/office/drawing/2014/main" id="{AF576AEE-06E4-484E-9855-45119DDE7080}"/>
              </a:ext>
            </a:extLst>
          </p:cNvPr>
          <p:cNvSpPr>
            <a:spLocks noGrp="1"/>
          </p:cNvSpPr>
          <p:nvPr/>
        </p:nvSpPr>
        <p:spPr>
          <a:xfrm>
            <a:off x="4482913" y="2438400"/>
            <a:ext cx="76200" cy="1657350"/>
          </a:xfrm>
          <a:prstGeom prst="rect">
            <a:avLst/>
          </a:prstGeom>
          <a:solidFill>
            <a:srgbClr val="2DBE7F"/>
          </a:solidFill>
          <a:ln w="0">
            <a:noFill/>
          </a:ln>
        </p:spPr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99FA63F6-46C0-45ED-A85E-D04B28A49D6F}"/>
              </a:ext>
            </a:extLst>
          </p:cNvPr>
          <p:cNvSpPr>
            <a:spLocks noGrp="1"/>
          </p:cNvSpPr>
          <p:nvPr/>
        </p:nvSpPr>
        <p:spPr>
          <a:xfrm>
            <a:off x="4692463" y="2571750"/>
            <a:ext cx="2990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Nivel mediu</a:t>
            </a:r>
          </a:p>
        </p:txBody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DE9DADAC-0236-49AB-92D7-AC56911314B5}"/>
              </a:ext>
            </a:extLst>
          </p:cNvPr>
          <p:cNvSpPr>
            <a:spLocks noGrp="1"/>
          </p:cNvSpPr>
          <p:nvPr/>
        </p:nvSpPr>
        <p:spPr>
          <a:xfrm>
            <a:off x="4692463" y="2990850"/>
            <a:ext cx="29908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Calculează diagonala unui dreptunghi folosind math.hypot(). Afișează rezultatul cu două zecimale.</a:t>
            </a:r>
          </a:p>
        </p:txBody>
      </p:sp>
      <p:sp>
        <p:nvSpPr>
          <p:cNvPr id="14" name="Dreptunghi: colțuri rotunjite 13">
            <a:extLst>
              <a:ext uri="{FF2B5EF4-FFF2-40B4-BE49-F238E27FC236}">
                <a16:creationId xmlns:a16="http://schemas.microsoft.com/office/drawing/2014/main" id="{9706A560-DAC4-4852-A961-782CDF5EE451}"/>
              </a:ext>
            </a:extLst>
          </p:cNvPr>
          <p:cNvSpPr>
            <a:spLocks noGrp="1"/>
          </p:cNvSpPr>
          <p:nvPr/>
        </p:nvSpPr>
        <p:spPr>
          <a:xfrm>
            <a:off x="8397688" y="2438400"/>
            <a:ext cx="3333750" cy="1657350"/>
          </a:xfrm>
          <a:prstGeom prst="roundRect">
            <a:avLst>
              <a:gd name="adj" fmla="val 10345"/>
            </a:avLst>
          </a:prstGeom>
          <a:solidFill>
            <a:srgbClr val="F0ED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5" name="Dreptunghi 14">
            <a:extLst>
              <a:ext uri="{FF2B5EF4-FFF2-40B4-BE49-F238E27FC236}">
                <a16:creationId xmlns:a16="http://schemas.microsoft.com/office/drawing/2014/main" id="{6AD4A61B-7A3C-487C-8786-1FF7ECC23701}"/>
              </a:ext>
            </a:extLst>
          </p:cNvPr>
          <p:cNvSpPr>
            <a:spLocks noGrp="1"/>
          </p:cNvSpPr>
          <p:nvPr/>
        </p:nvSpPr>
        <p:spPr>
          <a:xfrm>
            <a:off x="8397688" y="2438400"/>
            <a:ext cx="76200" cy="1657350"/>
          </a:xfrm>
          <a:prstGeom prst="rect">
            <a:avLst/>
          </a:prstGeom>
          <a:solidFill>
            <a:srgbClr val="8B7CFF"/>
          </a:solidFill>
          <a:ln w="0">
            <a:noFill/>
          </a:ln>
        </p:spPr>
      </p:sp>
      <p:sp>
        <p:nvSpPr>
          <p:cNvPr id="16" name="Dreptunghi 15">
            <a:extLst>
              <a:ext uri="{FF2B5EF4-FFF2-40B4-BE49-F238E27FC236}">
                <a16:creationId xmlns:a16="http://schemas.microsoft.com/office/drawing/2014/main" id="{537EF564-9D5E-46B3-96A5-F9E8F1E1BE9E}"/>
              </a:ext>
            </a:extLst>
          </p:cNvPr>
          <p:cNvSpPr>
            <a:spLocks noGrp="1"/>
          </p:cNvSpPr>
          <p:nvPr/>
        </p:nvSpPr>
        <p:spPr>
          <a:xfrm>
            <a:off x="8607238" y="2571750"/>
            <a:ext cx="2990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Nivel avansat</a:t>
            </a:r>
          </a:p>
        </p:txBody>
      </p:sp>
      <p:sp>
        <p:nvSpPr>
          <p:cNvPr id="17" name="Dreptunghi 16">
            <a:extLst>
              <a:ext uri="{FF2B5EF4-FFF2-40B4-BE49-F238E27FC236}">
                <a16:creationId xmlns:a16="http://schemas.microsoft.com/office/drawing/2014/main" id="{EA17F0D0-42E0-4D10-8CB7-178DAF220ED0}"/>
              </a:ext>
            </a:extLst>
          </p:cNvPr>
          <p:cNvSpPr>
            <a:spLocks noGrp="1"/>
          </p:cNvSpPr>
          <p:nvPr/>
        </p:nvSpPr>
        <p:spPr>
          <a:xfrm>
            <a:off x="8607238" y="2990850"/>
            <a:ext cx="29908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Determină distanța dintre două puncte A(x₁,y₁) și B(x₂,y₂).</a:t>
            </a:r>
          </a:p>
        </p:txBody>
      </p:sp>
      <p:sp>
        <p:nvSpPr>
          <p:cNvPr id="21" name="Dreptunghi 20">
            <a:extLst>
              <a:ext uri="{FF2B5EF4-FFF2-40B4-BE49-F238E27FC236}">
                <a16:creationId xmlns:a16="http://schemas.microsoft.com/office/drawing/2014/main" id="{BC8161C6-26A9-4370-8664-DE92EE1E823F}"/>
              </a:ext>
            </a:extLst>
          </p:cNvPr>
          <p:cNvSpPr>
            <a:spLocks noGrp="1"/>
          </p:cNvSpPr>
          <p:nvPr/>
        </p:nvSpPr>
        <p:spPr>
          <a:xfrm>
            <a:off x="2476500" y="4880161"/>
            <a:ext cx="7239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ctr">
              <a:defRPr sz="150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3776AB"/>
                </a:solidFill>
                <a:latin typeface="Arial"/>
                <a:ea typeface="Arial"/>
                <a:cs typeface="Arial"/>
              </a:rPr>
              <a:t>Produs</a:t>
            </a:r>
            <a:r>
              <a:rPr sz="1500" b="1" dirty="0">
                <a:solidFill>
                  <a:srgbClr val="3776AB"/>
                </a:solidFill>
                <a:latin typeface="Arial"/>
                <a:ea typeface="Arial"/>
                <a:cs typeface="Arial"/>
              </a:rPr>
              <a:t> final: cod + </a:t>
            </a:r>
            <a:r>
              <a:rPr sz="1500" b="1" dirty="0" err="1">
                <a:solidFill>
                  <a:srgbClr val="3776AB"/>
                </a:solidFill>
                <a:latin typeface="Arial"/>
                <a:ea typeface="Arial"/>
                <a:cs typeface="Arial"/>
              </a:rPr>
              <a:t>două</a:t>
            </a:r>
            <a:r>
              <a:rPr sz="1500" b="1" dirty="0">
                <a:solidFill>
                  <a:srgbClr val="3776AB"/>
                </a:solidFill>
                <a:latin typeface="Arial"/>
                <a:ea typeface="Arial"/>
                <a:cs typeface="Arial"/>
              </a:rPr>
              <a:t> teste + </a:t>
            </a:r>
            <a:r>
              <a:rPr sz="1500" b="1" dirty="0" err="1">
                <a:solidFill>
                  <a:srgbClr val="3776AB"/>
                </a:solidFill>
                <a:latin typeface="Arial"/>
                <a:ea typeface="Arial"/>
                <a:cs typeface="Arial"/>
              </a:rPr>
              <a:t>explicație</a:t>
            </a:r>
            <a:r>
              <a:rPr sz="1500" b="1" dirty="0">
                <a:solidFill>
                  <a:srgbClr val="3776AB"/>
                </a:solidFill>
                <a:latin typeface="Arial"/>
                <a:ea typeface="Arial"/>
                <a:cs typeface="Arial"/>
              </a:rPr>
              <a:t> de 3–4 </a:t>
            </a:r>
            <a:r>
              <a:rPr sz="1500" b="1" dirty="0" err="1">
                <a:solidFill>
                  <a:srgbClr val="3776AB"/>
                </a:solidFill>
                <a:latin typeface="Arial"/>
                <a:ea typeface="Arial"/>
                <a:cs typeface="Arial"/>
              </a:rPr>
              <a:t>propoziții</a:t>
            </a:r>
            <a:r>
              <a:rPr lang="ro-RO" sz="1500" b="1" dirty="0">
                <a:solidFill>
                  <a:srgbClr val="3776AB"/>
                </a:solidFill>
                <a:latin typeface="Arial"/>
                <a:ea typeface="Arial"/>
                <a:cs typeface="Arial"/>
              </a:rPr>
              <a:t> (comentarii)</a:t>
            </a:r>
            <a:endParaRPr sz="1500" b="1" dirty="0">
              <a:solidFill>
                <a:srgbClr val="3776A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20012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reptunghi 17">
            <a:extLst>
              <a:ext uri="{FF2B5EF4-FFF2-40B4-BE49-F238E27FC236}">
                <a16:creationId xmlns:a16="http://schemas.microsoft.com/office/drawing/2014/main" id="{32789E82-B7C5-4DBA-A4C8-F4E68A287F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8419AC5E-9860-444F-AFB1-2C4D5DAACC09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PRACTICĂ • SOLUȚII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D0178E24-95AC-4274-9CE9-AC4C6F1BAF19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Soluții</a:t>
            </a:r>
            <a:r>
              <a:rPr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orientative</a:t>
            </a:r>
            <a:r>
              <a:rPr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pentru</a:t>
            </a:r>
            <a:r>
              <a:rPr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lecția</a:t>
            </a:r>
            <a:r>
              <a:rPr sz="262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practică</a:t>
            </a:r>
            <a:endParaRPr sz="2625" b="1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1" name="Imagin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9D0C6989-5530-4402-AA60-B8A12536ADCF}"/>
              </a:ext>
            </a:extLst>
          </p:cNvPr>
          <p:cNvSpPr>
            <a:spLocks noGrp="1"/>
          </p:cNvSpPr>
          <p:nvPr/>
        </p:nvSpPr>
        <p:spPr>
          <a:xfrm>
            <a:off x="495300" y="1409700"/>
            <a:ext cx="5334000" cy="2762250"/>
          </a:xfrm>
          <a:prstGeom prst="roundRect">
            <a:avLst>
              <a:gd name="adj" fmla="val 6207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7" name="Dreptunghi: colțuri rotunjite 6">
            <a:extLst>
              <a:ext uri="{FF2B5EF4-FFF2-40B4-BE49-F238E27FC236}">
                <a16:creationId xmlns:a16="http://schemas.microsoft.com/office/drawing/2014/main" id="{057A8A28-31A6-4D69-B21B-D98BBBCF680E}"/>
              </a:ext>
            </a:extLst>
          </p:cNvPr>
          <p:cNvSpPr>
            <a:spLocks noGrp="1"/>
          </p:cNvSpPr>
          <p:nvPr/>
        </p:nvSpPr>
        <p:spPr>
          <a:xfrm>
            <a:off x="647700" y="15430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2DBE7F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D3414D41-FA48-4939-9CB1-182D22D45A7A}"/>
              </a:ext>
            </a:extLst>
          </p:cNvPr>
          <p:cNvSpPr>
            <a:spLocks noGrp="1"/>
          </p:cNvSpPr>
          <p:nvPr/>
        </p:nvSpPr>
        <p:spPr>
          <a:xfrm>
            <a:off x="657225" y="154305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DIAGONALĂ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9DE2A1D6-6228-4593-9136-A8DF0F2D820F}"/>
              </a:ext>
            </a:extLst>
          </p:cNvPr>
          <p:cNvSpPr>
            <a:spLocks noGrp="1"/>
          </p:cNvSpPr>
          <p:nvPr/>
        </p:nvSpPr>
        <p:spPr>
          <a:xfrm>
            <a:off x="666750" y="1866900"/>
            <a:ext cx="499110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import math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L = float(input("L = "))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l = float(input("l = "))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diagonala = math.hypot(L, l)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print(round(diagonala, 2))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41F51238-F37E-468C-905A-30F90CC3737B}"/>
              </a:ext>
            </a:extLst>
          </p:cNvPr>
          <p:cNvSpPr>
            <a:spLocks noGrp="1"/>
          </p:cNvSpPr>
          <p:nvPr/>
        </p:nvSpPr>
        <p:spPr>
          <a:xfrm>
            <a:off x="6362700" y="1409700"/>
            <a:ext cx="5334000" cy="2762250"/>
          </a:xfrm>
          <a:prstGeom prst="roundRect">
            <a:avLst>
              <a:gd name="adj" fmla="val 6207"/>
            </a:avLst>
          </a:prstGeom>
          <a:solidFill>
            <a:srgbClr val="111827"/>
          </a:solidFill>
          <a:ln w="0">
            <a:noFill/>
          </a:ln>
        </p:spPr>
      </p:sp>
      <p:sp>
        <p:nvSpPr>
          <p:cNvPr id="11" name="Dreptunghi: colțuri rotunjite 10">
            <a:extLst>
              <a:ext uri="{FF2B5EF4-FFF2-40B4-BE49-F238E27FC236}">
                <a16:creationId xmlns:a16="http://schemas.microsoft.com/office/drawing/2014/main" id="{16F8C3A0-8F8F-4B57-A387-674BCB7209E4}"/>
              </a:ext>
            </a:extLst>
          </p:cNvPr>
          <p:cNvSpPr>
            <a:spLocks noGrp="1"/>
          </p:cNvSpPr>
          <p:nvPr/>
        </p:nvSpPr>
        <p:spPr>
          <a:xfrm>
            <a:off x="6515100" y="15430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2DBE7F"/>
          </a:solidFill>
          <a:ln w="0">
            <a:noFill/>
          </a:ln>
        </p:spPr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FDDE205B-46D3-4540-B742-FE4F20B08D6C}"/>
              </a:ext>
            </a:extLst>
          </p:cNvPr>
          <p:cNvSpPr>
            <a:spLocks noGrp="1"/>
          </p:cNvSpPr>
          <p:nvPr/>
        </p:nvSpPr>
        <p:spPr>
          <a:xfrm>
            <a:off x="6524625" y="154305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defRPr sz="900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DISTANȚĂ</a:t>
            </a:r>
          </a:p>
        </p:txBody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20E1B0D5-241A-4335-8A9E-70931A1AB5A9}"/>
              </a:ext>
            </a:extLst>
          </p:cNvPr>
          <p:cNvSpPr>
            <a:spLocks noGrp="1"/>
          </p:cNvSpPr>
          <p:nvPr/>
        </p:nvSpPr>
        <p:spPr>
          <a:xfrm>
            <a:off x="6534150" y="1866900"/>
            <a:ext cx="499110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import math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x1, y1 = 1, 2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x2, y2 = 5, 5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d = math.hypot(x2 - x1, y2 - y1)</a:t>
            </a:r>
          </a:p>
          <a:p>
            <a:pPr algn="l">
              <a:def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6EDF3"/>
                </a:solidFill>
                <a:latin typeface="Courier New"/>
                <a:ea typeface="Courier New"/>
                <a:cs typeface="Courier New"/>
              </a:rPr>
              <a:t>print(round(d, 2))  # 5.0</a:t>
            </a:r>
          </a:p>
        </p:txBody>
      </p:sp>
    </p:spTree>
    <p:extLst>
      <p:ext uri="{BB962C8B-B14F-4D97-AF65-F5344CB8AC3E}">
        <p14:creationId xmlns:p14="http://schemas.microsoft.com/office/powerpoint/2010/main" val="153809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reptunghi 21">
            <a:extLst>
              <a:ext uri="{FF2B5EF4-FFF2-40B4-BE49-F238E27FC236}">
                <a16:creationId xmlns:a16="http://schemas.microsoft.com/office/drawing/2014/main" id="{66464F45-813E-470B-8C66-96BBA008C7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A6CA20BA-EC83-4FAE-95D7-646F8B09B8CB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CONSOLIDARE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E457F3CD-EE98-434B-89C1-88E494094CD0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0" rIns="38100" bIns="0" anchor="t">
            <a:normAutofit/>
          </a:bodyPr>
          <a:lstStyle/>
          <a:p>
            <a:pPr algn="l">
              <a:defRPr sz="26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Tema pentru acasă</a:t>
            </a:r>
          </a:p>
        </p:txBody>
      </p:sp>
      <p:pic>
        <p:nvPicPr>
          <p:cNvPr id="25" name="Imagin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8550" y="268224"/>
            <a:ext cx="457200" cy="45415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64825DC9-3003-4ABF-929F-4E404572C3F1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19050" rIns="0" bIns="0" anchor="t">
            <a:normAutofit/>
          </a:bodyPr>
          <a:lstStyle/>
          <a:p>
            <a:pPr algn="r">
              <a:defRPr sz="975" b="1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2</a:t>
            </a:r>
            <a:r>
              <a:rPr lang="ro-RO" sz="975" b="1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6</a:t>
            </a:r>
            <a:endParaRPr sz="975" b="1" dirty="0">
              <a:solidFill>
                <a:srgbClr val="5865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Dreptunghi: colțuri rotunjite 5">
            <a:extLst>
              <a:ext uri="{FF2B5EF4-FFF2-40B4-BE49-F238E27FC236}">
                <a16:creationId xmlns:a16="http://schemas.microsoft.com/office/drawing/2014/main" id="{D6659EBE-C190-4E0E-992B-BA44AC505A2C}"/>
              </a:ext>
            </a:extLst>
          </p:cNvPr>
          <p:cNvSpPr>
            <a:spLocks noGrp="1"/>
          </p:cNvSpPr>
          <p:nvPr/>
        </p:nvSpPr>
        <p:spPr>
          <a:xfrm>
            <a:off x="495300" y="1352550"/>
            <a:ext cx="3524250" cy="1676400"/>
          </a:xfrm>
          <a:prstGeom prst="roundRect">
            <a:avLst>
              <a:gd name="adj" fmla="val 10227"/>
            </a:avLst>
          </a:prstGeom>
          <a:solidFill>
            <a:srgbClr val="EAF3FC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2D4751C0-7AAA-42BD-9080-7471B22068A1}"/>
              </a:ext>
            </a:extLst>
          </p:cNvPr>
          <p:cNvSpPr>
            <a:spLocks noGrp="1"/>
          </p:cNvSpPr>
          <p:nvPr/>
        </p:nvSpPr>
        <p:spPr>
          <a:xfrm>
            <a:off x="495300" y="1352550"/>
            <a:ext cx="76200" cy="1676400"/>
          </a:xfrm>
          <a:prstGeom prst="rect">
            <a:avLst/>
          </a:prstGeom>
          <a:solidFill>
            <a:srgbClr val="3776AB"/>
          </a:solidFill>
          <a:ln w="0">
            <a:noFill/>
          </a:ln>
        </p:spPr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F28B6D81-7BB1-4C2E-AA49-8468BAD39835}"/>
              </a:ext>
            </a:extLst>
          </p:cNvPr>
          <p:cNvSpPr>
            <a:spLocks noGrp="1"/>
          </p:cNvSpPr>
          <p:nvPr/>
        </p:nvSpPr>
        <p:spPr>
          <a:xfrm>
            <a:off x="704850" y="1485900"/>
            <a:ext cx="31813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Obligatoriu 1</a:t>
            </a:r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21C3BF0C-791B-4B2B-9385-2B4FB0969A41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318135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Scrie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câte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două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exemple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corecte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pentru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int, float, bool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și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str.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Verifică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fiecare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tip cu type().</a:t>
            </a:r>
          </a:p>
        </p:txBody>
      </p:sp>
      <p:sp>
        <p:nvSpPr>
          <p:cNvPr id="10" name="Dreptunghi: colțuri rotunjite 9">
            <a:extLst>
              <a:ext uri="{FF2B5EF4-FFF2-40B4-BE49-F238E27FC236}">
                <a16:creationId xmlns:a16="http://schemas.microsoft.com/office/drawing/2014/main" id="{E5AFDDD2-F33E-4229-BA77-EAF6A2B0D209}"/>
              </a:ext>
            </a:extLst>
          </p:cNvPr>
          <p:cNvSpPr>
            <a:spLocks noGrp="1"/>
          </p:cNvSpPr>
          <p:nvPr/>
        </p:nvSpPr>
        <p:spPr>
          <a:xfrm>
            <a:off x="4333875" y="1352550"/>
            <a:ext cx="3524250" cy="1676400"/>
          </a:xfrm>
          <a:prstGeom prst="roundRect">
            <a:avLst>
              <a:gd name="adj" fmla="val 10227"/>
            </a:avLst>
          </a:prstGeom>
          <a:solidFill>
            <a:srgbClr val="E7F8F1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1" name="Dreptunghi 10">
            <a:extLst>
              <a:ext uri="{FF2B5EF4-FFF2-40B4-BE49-F238E27FC236}">
                <a16:creationId xmlns:a16="http://schemas.microsoft.com/office/drawing/2014/main" id="{24D76B3C-B300-46E9-8901-DD8CF9E8D5FF}"/>
              </a:ext>
            </a:extLst>
          </p:cNvPr>
          <p:cNvSpPr>
            <a:spLocks noGrp="1"/>
          </p:cNvSpPr>
          <p:nvPr/>
        </p:nvSpPr>
        <p:spPr>
          <a:xfrm>
            <a:off x="4333875" y="1352550"/>
            <a:ext cx="76200" cy="1676400"/>
          </a:xfrm>
          <a:prstGeom prst="rect">
            <a:avLst/>
          </a:prstGeom>
          <a:solidFill>
            <a:srgbClr val="2DBE7F"/>
          </a:solidFill>
          <a:ln w="0">
            <a:noFill/>
          </a:ln>
        </p:spPr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9356744C-334E-4226-AB7A-0EF6D4F95007}"/>
              </a:ext>
            </a:extLst>
          </p:cNvPr>
          <p:cNvSpPr>
            <a:spLocks noGrp="1"/>
          </p:cNvSpPr>
          <p:nvPr/>
        </p:nvSpPr>
        <p:spPr>
          <a:xfrm>
            <a:off x="4543425" y="1485900"/>
            <a:ext cx="31813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Obligatoriu 2</a:t>
            </a:r>
          </a:p>
        </p:txBody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A662FCCC-B8DE-4661-AB2D-155C44D6F482}"/>
              </a:ext>
            </a:extLst>
          </p:cNvPr>
          <p:cNvSpPr>
            <a:spLocks noGrp="1"/>
          </p:cNvSpPr>
          <p:nvPr/>
        </p:nvSpPr>
        <p:spPr>
          <a:xfrm>
            <a:off x="4543425" y="1905000"/>
            <a:ext cx="318135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57A"/>
                </a:solidFill>
                <a:latin typeface="Arial"/>
                <a:ea typeface="Arial"/>
                <a:cs typeface="Arial"/>
              </a:rPr>
              <a:t>Program: citește masa și viteza, apoi calculează energia cinetică Ec = m·v²/2.</a:t>
            </a:r>
          </a:p>
        </p:txBody>
      </p:sp>
      <p:sp>
        <p:nvSpPr>
          <p:cNvPr id="14" name="Dreptunghi: colțuri rotunjite 13">
            <a:extLst>
              <a:ext uri="{FF2B5EF4-FFF2-40B4-BE49-F238E27FC236}">
                <a16:creationId xmlns:a16="http://schemas.microsoft.com/office/drawing/2014/main" id="{8C92BEFD-D067-4AE5-8190-356DF3C8EE01}"/>
              </a:ext>
            </a:extLst>
          </p:cNvPr>
          <p:cNvSpPr>
            <a:spLocks noGrp="1"/>
          </p:cNvSpPr>
          <p:nvPr/>
        </p:nvSpPr>
        <p:spPr>
          <a:xfrm>
            <a:off x="8172450" y="1352550"/>
            <a:ext cx="3524250" cy="1676400"/>
          </a:xfrm>
          <a:prstGeom prst="roundRect">
            <a:avLst>
              <a:gd name="adj" fmla="val 10227"/>
            </a:avLst>
          </a:prstGeom>
          <a:solidFill>
            <a:srgbClr val="F0ED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5" name="Dreptunghi 14">
            <a:extLst>
              <a:ext uri="{FF2B5EF4-FFF2-40B4-BE49-F238E27FC236}">
                <a16:creationId xmlns:a16="http://schemas.microsoft.com/office/drawing/2014/main" id="{667ECDDD-5E20-40AF-AD1C-3BFD65271CD6}"/>
              </a:ext>
            </a:extLst>
          </p:cNvPr>
          <p:cNvSpPr>
            <a:spLocks noGrp="1"/>
          </p:cNvSpPr>
          <p:nvPr/>
        </p:nvSpPr>
        <p:spPr>
          <a:xfrm>
            <a:off x="8172450" y="1352550"/>
            <a:ext cx="76200" cy="1676400"/>
          </a:xfrm>
          <a:prstGeom prst="rect">
            <a:avLst/>
          </a:prstGeom>
          <a:solidFill>
            <a:srgbClr val="8B7CFF"/>
          </a:solidFill>
          <a:ln w="0">
            <a:noFill/>
          </a:ln>
        </p:spPr>
      </p:sp>
      <p:sp>
        <p:nvSpPr>
          <p:cNvPr id="16" name="Dreptunghi 15">
            <a:extLst>
              <a:ext uri="{FF2B5EF4-FFF2-40B4-BE49-F238E27FC236}">
                <a16:creationId xmlns:a16="http://schemas.microsoft.com/office/drawing/2014/main" id="{3F117765-4E5D-4B10-923D-E1320DE74EB0}"/>
              </a:ext>
            </a:extLst>
          </p:cNvPr>
          <p:cNvSpPr>
            <a:spLocks noGrp="1"/>
          </p:cNvSpPr>
          <p:nvPr/>
        </p:nvSpPr>
        <p:spPr>
          <a:xfrm>
            <a:off x="8382000" y="1485900"/>
            <a:ext cx="31813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4203"/>
          </a:bodyPr>
          <a:lstStyle/>
          <a:p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Obligatoriu 3</a:t>
            </a:r>
          </a:p>
        </p:txBody>
      </p:sp>
      <p:sp>
        <p:nvSpPr>
          <p:cNvPr id="17" name="Dreptunghi 16">
            <a:extLst>
              <a:ext uri="{FF2B5EF4-FFF2-40B4-BE49-F238E27FC236}">
                <a16:creationId xmlns:a16="http://schemas.microsoft.com/office/drawing/2014/main" id="{7DCD4731-6F05-4459-A796-10849FB25B41}"/>
              </a:ext>
            </a:extLst>
          </p:cNvPr>
          <p:cNvSpPr>
            <a:spLocks noGrp="1"/>
          </p:cNvSpPr>
          <p:nvPr/>
        </p:nvSpPr>
        <p:spPr>
          <a:xfrm>
            <a:off x="8382000" y="1905000"/>
            <a:ext cx="318135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/>
          </a:bodyPr>
          <a:lstStyle/>
          <a:p>
            <a:pPr algn="l">
              <a:defRPr sz="1425" b="0">
                <a:solidFill>
                  <a:srgbClr val="58657A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Program: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citește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un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număr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real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și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afișează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abs(x), floor(x), ceil(x) </a:t>
            </a:r>
            <a:r>
              <a:rPr sz="1425" b="0" dirty="0" err="1">
                <a:solidFill>
                  <a:srgbClr val="58657A"/>
                </a:solidFill>
                <a:latin typeface="Arial"/>
                <a:ea typeface="Arial"/>
                <a:cs typeface="Arial"/>
              </a:rPr>
              <a:t>și</a:t>
            </a:r>
            <a:r>
              <a:rPr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round(x, 2).</a:t>
            </a:r>
            <a:r>
              <a:rPr lang="ro-RO" sz="1425" b="0" dirty="0">
                <a:solidFill>
                  <a:srgbClr val="58657A"/>
                </a:solidFill>
                <a:latin typeface="Arial"/>
                <a:ea typeface="Arial"/>
                <a:cs typeface="Arial"/>
              </a:rPr>
              <a:t> Adaugă câte un comentariu pentru fiecare funcție.</a:t>
            </a:r>
            <a:endParaRPr sz="1425" b="0" dirty="0">
              <a:solidFill>
                <a:srgbClr val="5865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Dreptunghi: colțuri rotunjite 17">
            <a:extLst>
              <a:ext uri="{FF2B5EF4-FFF2-40B4-BE49-F238E27FC236}">
                <a16:creationId xmlns:a16="http://schemas.microsoft.com/office/drawing/2014/main" id="{53D2CAA9-AB4D-4B0A-BD0B-1C9DFE35FF6D}"/>
              </a:ext>
            </a:extLst>
          </p:cNvPr>
          <p:cNvSpPr>
            <a:spLocks noGrp="1"/>
          </p:cNvSpPr>
          <p:nvPr/>
        </p:nvSpPr>
        <p:spPr>
          <a:xfrm>
            <a:off x="800100" y="3543300"/>
            <a:ext cx="10591800" cy="1809750"/>
          </a:xfrm>
          <a:prstGeom prst="roundRect">
            <a:avLst>
              <a:gd name="adj" fmla="val 11579"/>
            </a:avLst>
          </a:prstGeom>
          <a:solidFill>
            <a:srgbClr val="151C32"/>
          </a:solidFill>
          <a:ln w="0">
            <a:noFill/>
          </a:ln>
        </p:spPr>
      </p:sp>
      <p:sp>
        <p:nvSpPr>
          <p:cNvPr id="19" name="Dreptunghi 18">
            <a:extLst>
              <a:ext uri="{FF2B5EF4-FFF2-40B4-BE49-F238E27FC236}">
                <a16:creationId xmlns:a16="http://schemas.microsoft.com/office/drawing/2014/main" id="{F784C09D-F541-4B85-ACEB-D68F599C8339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2381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7701"/>
          </a:bodyPr>
          <a:lstStyle/>
          <a:p>
            <a:pPr algn="l">
              <a:defRPr sz="2175" b="1">
                <a:solidFill>
                  <a:srgbClr val="FFD4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D43B"/>
                </a:solidFill>
                <a:latin typeface="Arial"/>
                <a:ea typeface="Arial"/>
                <a:cs typeface="Arial"/>
              </a:rPr>
              <a:t>Provocare</a:t>
            </a:r>
          </a:p>
        </p:txBody>
      </p:sp>
      <p:sp>
        <p:nvSpPr>
          <p:cNvPr id="20" name="Dreptunghi 19">
            <a:extLst>
              <a:ext uri="{FF2B5EF4-FFF2-40B4-BE49-F238E27FC236}">
                <a16:creationId xmlns:a16="http://schemas.microsoft.com/office/drawing/2014/main" id="{D47CE713-F350-4FF6-AF58-C812401F7A0A}"/>
              </a:ext>
            </a:extLst>
          </p:cNvPr>
          <p:cNvSpPr>
            <a:spLocks noGrp="1"/>
          </p:cNvSpPr>
          <p:nvPr/>
        </p:nvSpPr>
        <p:spPr>
          <a:xfrm>
            <a:off x="1123950" y="4362450"/>
            <a:ext cx="976312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ctr">
            <a:norm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Creează un „calculator de triunghi dreptunghic” care citește catetele, calculează ipotenuza și cele două unghiuri ascuțite. Folosește math.hypot(), math.atan2() și math.degrees().</a:t>
            </a:r>
          </a:p>
        </p:txBody>
      </p:sp>
      <p:sp>
        <p:nvSpPr>
          <p:cNvPr id="21" name="Dreptunghi 20">
            <a:extLst>
              <a:ext uri="{FF2B5EF4-FFF2-40B4-BE49-F238E27FC236}">
                <a16:creationId xmlns:a16="http://schemas.microsoft.com/office/drawing/2014/main" id="{039C59C3-A6E8-4DBD-8BF9-BA5D8345DF81}"/>
              </a:ext>
            </a:extLst>
          </p:cNvPr>
          <p:cNvSpPr>
            <a:spLocks noGrp="1"/>
          </p:cNvSpPr>
          <p:nvPr/>
        </p:nvSpPr>
        <p:spPr>
          <a:xfrm>
            <a:off x="2076450" y="5810250"/>
            <a:ext cx="8096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57150" rIns="76200" bIns="57150" anchor="t">
            <a:normAutofit fontScale="95238"/>
          </a:bodyPr>
          <a:lstStyle/>
          <a:p>
            <a:pPr algn="ctr">
              <a:defRPr sz="1575" b="1">
                <a:solidFill>
                  <a:srgbClr val="3776A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776AB"/>
                </a:solidFill>
                <a:latin typeface="Arial"/>
                <a:ea typeface="Arial"/>
                <a:cs typeface="Arial"/>
              </a:rPr>
              <a:t>Predare: fișier .py + captură cu două teste + explicație scurtă</a:t>
            </a:r>
          </a:p>
        </p:txBody>
      </p:sp>
    </p:spTree>
    <p:extLst>
      <p:ext uri="{BB962C8B-B14F-4D97-AF65-F5344CB8AC3E}">
        <p14:creationId xmlns:p14="http://schemas.microsoft.com/office/powerpoint/2010/main" val="2269872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3378</Words>
  <Application>Microsoft Office PowerPoint</Application>
  <DocSecurity>0</DocSecurity>
  <PresentationFormat>Ecran lat</PresentationFormat>
  <Paragraphs>447</Paragraphs>
  <Slides>28</Slides>
  <Notes>28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28</vt:i4>
      </vt:variant>
    </vt:vector>
  </HeadingPairs>
  <TitlesOfParts>
    <vt:vector size="32" baseType="lpstr">
      <vt:lpstr>Arial</vt:lpstr>
      <vt:lpstr>Calibri</vt:lpstr>
      <vt:lpstr>Courier New</vt:lpstr>
      <vt:lpstr>ChatGPT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Betisor_Vadim</cp:lastModifiedBy>
  <cp:revision>10</cp:revision>
  <dcterms:created xsi:type="dcterms:W3CDTF">2026-09-18T05:21:30Z</dcterms:created>
  <dcterms:modified xsi:type="dcterms:W3CDTF">2026-09-21T06:21:34Z</dcterms:modified>
</cp:coreProperties>
</file>